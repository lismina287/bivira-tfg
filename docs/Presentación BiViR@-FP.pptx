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0693400" cy="7562850"/>
  <p:notesSz cx="10693400" cy="75628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ección predeterminada" id="{004F3486-EFFE-4BE0-BBB8-89FAC691644F}">
          <p14:sldIdLst>
            <p14:sldId id="256"/>
          </p14:sldIdLst>
        </p14:section>
        <p14:section name="El problema y la solución" id="{24B4EDBD-44D1-45A4-B0D6-4208386178B9}">
          <p14:sldIdLst>
            <p14:sldId id="258"/>
            <p14:sldId id="259"/>
          </p14:sldIdLst>
        </p14:section>
        <p14:section name="Arquitectura y tecnología" id="{B8BDF21D-5210-41EC-89B8-4781F4BAA82F}">
          <p14:sldIdLst>
            <p14:sldId id="260"/>
            <p14:sldId id="261"/>
          </p14:sldIdLst>
        </p14:section>
        <p14:section name="Desarrollo del proyecto" id="{05A12F7E-8550-40C2-9403-C2BFC29C6F71}">
          <p14:sldIdLst>
            <p14:sldId id="262"/>
            <p14:sldId id="263"/>
            <p14:sldId id="264"/>
          </p14:sldIdLst>
        </p14:section>
        <p14:section name="Seguridad y pruebas" id="{FDB430AB-CF50-4FD6-AFFA-52B9188EFDF5}">
          <p14:sldIdLst>
            <p14:sldId id="265"/>
            <p14:sldId id="266"/>
            <p14:sldId id="267"/>
          </p14:sldIdLst>
        </p14:section>
        <p14:section name="Viabilidad y comparativa" id="{39676757-C5C2-483B-8B94-4B4BFEBC72E5}">
          <p14:sldIdLst>
            <p14:sldId id="268"/>
            <p14:sldId id="269"/>
          </p14:sldIdLst>
        </p14:section>
        <p14:section name="Futuro y conclusiones" id="{183DEB89-E016-4442-97D7-E9F8C5586583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1FAF2-3A71-4A16-994F-577AD23AB5D2}" v="3" dt="2026-05-12T22:01:09.4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602" y="9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ucena Beltrán Arrebola" userId="318d2fde-da52-42ff-952e-59d66901bdd3" providerId="ADAL" clId="{9A11C7FE-96B4-42D4-834D-BD889121EEFA}"/>
    <pc:docChg chg="undo custSel delSld modSld modMainMaster modSection">
      <pc:chgData name="Azucena Beltrán Arrebola" userId="318d2fde-da52-42ff-952e-59d66901bdd3" providerId="ADAL" clId="{9A11C7FE-96B4-42D4-834D-BD889121EEFA}" dt="2026-05-12T22:02:03.111" v="521" actId="2085"/>
      <pc:docMkLst>
        <pc:docMk/>
      </pc:docMkLst>
      <pc:sldChg chg="addSp delSp modSp mod setBg">
        <pc:chgData name="Azucena Beltrán Arrebola" userId="318d2fde-da52-42ff-952e-59d66901bdd3" providerId="ADAL" clId="{9A11C7FE-96B4-42D4-834D-BD889121EEFA}" dt="2026-05-11T08:10:10.128" v="253"/>
        <pc:sldMkLst>
          <pc:docMk/>
          <pc:sldMk cId="0" sldId="256"/>
        </pc:sldMkLst>
        <pc:graphicFrameChg chg="add mod modGraphic">
          <ac:chgData name="Azucena Beltrán Arrebola" userId="318d2fde-da52-42ff-952e-59d66901bdd3" providerId="ADAL" clId="{9A11C7FE-96B4-42D4-834D-BD889121EEFA}" dt="2026-05-11T07:59:08.242" v="27" actId="1076"/>
          <ac:graphicFrameMkLst>
            <pc:docMk/>
            <pc:sldMk cId="0" sldId="256"/>
            <ac:graphicFrameMk id="12" creationId="{B1D3FDFD-4EE0-C3ED-463A-60C6A9E2564C}"/>
          </ac:graphicFrameMkLst>
        </pc:graphicFrameChg>
        <pc:graphicFrameChg chg="add del mod modGraphic">
          <ac:chgData name="Azucena Beltrán Arrebola" userId="318d2fde-da52-42ff-952e-59d66901bdd3" providerId="ADAL" clId="{9A11C7FE-96B4-42D4-834D-BD889121EEFA}" dt="2026-05-11T07:55:46.428" v="12" actId="478"/>
          <ac:graphicFrameMkLst>
            <pc:docMk/>
            <pc:sldMk cId="0" sldId="256"/>
            <ac:graphicFrameMk id="158" creationId="{19B24DBF-790E-618D-F57B-C1029EBE255C}"/>
          </ac:graphicFrameMkLst>
        </pc:graphicFrameChg>
      </pc:sldChg>
      <pc:sldChg chg="delSp modSp del mod">
        <pc:chgData name="Azucena Beltrán Arrebola" userId="318d2fde-da52-42ff-952e-59d66901bdd3" providerId="ADAL" clId="{9A11C7FE-96B4-42D4-834D-BD889121EEFA}" dt="2026-05-11T07:56:35.942" v="22" actId="2696"/>
        <pc:sldMkLst>
          <pc:docMk/>
          <pc:sldMk cId="0" sldId="257"/>
        </pc:sldMkLst>
        <pc:graphicFrameChg chg="del mod">
          <ac:chgData name="Azucena Beltrán Arrebola" userId="318d2fde-da52-42ff-952e-59d66901bdd3" providerId="ADAL" clId="{9A11C7FE-96B4-42D4-834D-BD889121EEFA}" dt="2026-05-11T07:54:42.531" v="1" actId="21"/>
          <ac:graphicFrameMkLst>
            <pc:docMk/>
            <pc:sldMk cId="0" sldId="257"/>
            <ac:graphicFrameMk id="158" creationId="{19B24DBF-790E-618D-F57B-C1029EBE255C}"/>
          </ac:graphicFrameMkLst>
        </pc:graphicFrameChg>
      </pc:sldChg>
      <pc:sldChg chg="modSp mod setBg">
        <pc:chgData name="Azucena Beltrán Arrebola" userId="318d2fde-da52-42ff-952e-59d66901bdd3" providerId="ADAL" clId="{9A11C7FE-96B4-42D4-834D-BD889121EEFA}" dt="2026-05-11T08:08:39.736" v="249"/>
        <pc:sldMkLst>
          <pc:docMk/>
          <pc:sldMk cId="0" sldId="258"/>
        </pc:sldMkLst>
        <pc:graphicFrameChg chg="modGraphic">
          <ac:chgData name="Azucena Beltrán Arrebola" userId="318d2fde-da52-42ff-952e-59d66901bdd3" providerId="ADAL" clId="{9A11C7FE-96B4-42D4-834D-BD889121EEFA}" dt="2026-05-11T07:57:40.970" v="25" actId="27297"/>
          <ac:graphicFrameMkLst>
            <pc:docMk/>
            <pc:sldMk cId="0" sldId="258"/>
            <ac:graphicFrameMk id="160" creationId="{7CE0AD53-9BCB-1A1F-682E-AD232954B5AD}"/>
          </ac:graphicFrameMkLst>
        </pc:graphicFrameChg>
      </pc:sldChg>
      <pc:sldChg chg="modSp mod">
        <pc:chgData name="Azucena Beltrán Arrebola" userId="318d2fde-da52-42ff-952e-59d66901bdd3" providerId="ADAL" clId="{9A11C7FE-96B4-42D4-834D-BD889121EEFA}" dt="2026-05-12T18:49:53.938" v="434" actId="207"/>
        <pc:sldMkLst>
          <pc:docMk/>
          <pc:sldMk cId="0" sldId="260"/>
        </pc:sldMkLst>
        <pc:spChg chg="mod">
          <ac:chgData name="Azucena Beltrán Arrebola" userId="318d2fde-da52-42ff-952e-59d66901bdd3" providerId="ADAL" clId="{9A11C7FE-96B4-42D4-834D-BD889121EEFA}" dt="2026-05-12T18:49:49.017" v="433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48:13.737" v="429" actId="20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49:53.938" v="434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48:16.728" v="430" actId="208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Azucena Beltrán Arrebola" userId="318d2fde-da52-42ff-952e-59d66901bdd3" providerId="ADAL" clId="{9A11C7FE-96B4-42D4-834D-BD889121EEFA}" dt="2026-05-12T18:50:48.090" v="438" actId="1076"/>
        <pc:sldMkLst>
          <pc:docMk/>
          <pc:sldMk cId="0" sldId="262"/>
        </pc:sldMkLst>
        <pc:graphicFrameChg chg="mod modGraphic">
          <ac:chgData name="Azucena Beltrán Arrebola" userId="318d2fde-da52-42ff-952e-59d66901bdd3" providerId="ADAL" clId="{9A11C7FE-96B4-42D4-834D-BD889121EEFA}" dt="2026-05-12T18:50:48.090" v="438" actId="1076"/>
          <ac:graphicFrameMkLst>
            <pc:docMk/>
            <pc:sldMk cId="0" sldId="262"/>
            <ac:graphicFrameMk id="54" creationId="{BF0C20D7-6355-A079-C57E-2B5AF4D7C9EA}"/>
          </ac:graphicFrameMkLst>
        </pc:graphicFrameChg>
      </pc:sldChg>
      <pc:sldChg chg="modSp mod">
        <pc:chgData name="Azucena Beltrán Arrebola" userId="318d2fde-da52-42ff-952e-59d66901bdd3" providerId="ADAL" clId="{9A11C7FE-96B4-42D4-834D-BD889121EEFA}" dt="2026-05-12T18:53:16.975" v="443" actId="207"/>
        <pc:sldMkLst>
          <pc:docMk/>
          <pc:sldMk cId="0" sldId="263"/>
        </pc:sldMkLst>
        <pc:spChg chg="mod">
          <ac:chgData name="Azucena Beltrán Arrebola" userId="318d2fde-da52-42ff-952e-59d66901bdd3" providerId="ADAL" clId="{9A11C7FE-96B4-42D4-834D-BD889121EEFA}" dt="2026-05-12T18:51:06.826" v="439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3:16.975" v="443" actId="207"/>
          <ac:spMkLst>
            <pc:docMk/>
            <pc:sldMk cId="0" sldId="263"/>
            <ac:spMk id="9" creationId="{00000000-0000-0000-0000-000000000000}"/>
          </ac:spMkLst>
        </pc:spChg>
        <pc:graphicFrameChg chg="modGraphic">
          <ac:chgData name="Azucena Beltrán Arrebola" userId="318d2fde-da52-42ff-952e-59d66901bdd3" providerId="ADAL" clId="{9A11C7FE-96B4-42D4-834D-BD889121EEFA}" dt="2026-05-11T08:01:37.653" v="38" actId="27297"/>
          <ac:graphicFrameMkLst>
            <pc:docMk/>
            <pc:sldMk cId="0" sldId="263"/>
            <ac:graphicFrameMk id="15" creationId="{7A9A5E96-519D-4919-0BE9-13F14DEFA079}"/>
          </ac:graphicFrameMkLst>
        </pc:graphicFrameChg>
      </pc:sldChg>
      <pc:sldChg chg="modSp mod">
        <pc:chgData name="Azucena Beltrán Arrebola" userId="318d2fde-da52-42ff-952e-59d66901bdd3" providerId="ADAL" clId="{9A11C7FE-96B4-42D4-834D-BD889121EEFA}" dt="2026-05-11T08:04:23.973" v="40" actId="207"/>
        <pc:sldMkLst>
          <pc:docMk/>
          <pc:sldMk cId="0" sldId="264"/>
        </pc:sldMkLst>
        <pc:spChg chg="mod">
          <ac:chgData name="Azucena Beltrán Arrebola" userId="318d2fde-da52-42ff-952e-59d66901bdd3" providerId="ADAL" clId="{9A11C7FE-96B4-42D4-834D-BD889121EEFA}" dt="2026-05-11T08:04:14.506" v="39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1T08:04:23.973" v="40" actId="207"/>
          <ac:spMkLst>
            <pc:docMk/>
            <pc:sldMk cId="0" sldId="264"/>
            <ac:spMk id="35" creationId="{00000000-0000-0000-0000-000000000000}"/>
          </ac:spMkLst>
        </pc:spChg>
      </pc:sldChg>
      <pc:sldChg chg="modSp mod">
        <pc:chgData name="Azucena Beltrán Arrebola" userId="318d2fde-da52-42ff-952e-59d66901bdd3" providerId="ADAL" clId="{9A11C7FE-96B4-42D4-834D-BD889121EEFA}" dt="2026-05-12T18:56:38.576" v="457" actId="1076"/>
        <pc:sldMkLst>
          <pc:docMk/>
          <pc:sldMk cId="0" sldId="265"/>
        </pc:sldMkLst>
        <pc:spChg chg="mod">
          <ac:chgData name="Azucena Beltrán Arrebola" userId="318d2fde-da52-42ff-952e-59d66901bdd3" providerId="ADAL" clId="{9A11C7FE-96B4-42D4-834D-BD889121EEFA}" dt="2026-05-12T18:55:26.537" v="455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4:32.633" v="451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4:20.409" v="448" actId="207"/>
          <ac:spMkLst>
            <pc:docMk/>
            <pc:sldMk cId="0" sldId="265"/>
            <ac:spMk id="33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Azucena Beltrán Arrebola" userId="318d2fde-da52-42ff-952e-59d66901bdd3" providerId="ADAL" clId="{9A11C7FE-96B4-42D4-834D-BD889121EEFA}" dt="2026-05-12T18:56:30.825" v="456" actId="1076"/>
          <ac:spMkLst>
            <pc:docMk/>
            <pc:sldMk cId="0" sldId="265"/>
            <ac:spMk id="41" creationId="{00000000-0000-0000-0000-000000000000}"/>
          </ac:spMkLst>
        </pc:spChg>
        <pc:grpChg chg="mod">
          <ac:chgData name="Azucena Beltrán Arrebola" userId="318d2fde-da52-42ff-952e-59d66901bdd3" providerId="ADAL" clId="{9A11C7FE-96B4-42D4-834D-BD889121EEFA}" dt="2026-05-12T18:54:29.640" v="450" actId="1076"/>
          <ac:grpSpMkLst>
            <pc:docMk/>
            <pc:sldMk cId="0" sldId="265"/>
            <ac:grpSpMk id="5" creationId="{00000000-0000-0000-0000-000000000000}"/>
          </ac:grpSpMkLst>
        </pc:grpChg>
        <pc:graphicFrameChg chg="mod modGraphic">
          <ac:chgData name="Azucena Beltrán Arrebola" userId="318d2fde-da52-42ff-952e-59d66901bdd3" providerId="ADAL" clId="{9A11C7FE-96B4-42D4-834D-BD889121EEFA}" dt="2026-05-12T18:56:38.576" v="457" actId="1076"/>
          <ac:graphicFrameMkLst>
            <pc:docMk/>
            <pc:sldMk cId="0" sldId="265"/>
            <ac:graphicFrameMk id="46" creationId="{41589F1E-BE9A-6EAD-2846-B7EDB10DB225}"/>
          </ac:graphicFrameMkLst>
        </pc:graphicFrameChg>
        <pc:picChg chg="mod">
          <ac:chgData name="Azucena Beltrán Arrebola" userId="318d2fde-da52-42ff-952e-59d66901bdd3" providerId="ADAL" clId="{9A11C7FE-96B4-42D4-834D-BD889121EEFA}" dt="2026-05-12T18:55:08.184" v="454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 mod">
        <pc:chgData name="Azucena Beltrán Arrebola" userId="318d2fde-da52-42ff-952e-59d66901bdd3" providerId="ADAL" clId="{9A11C7FE-96B4-42D4-834D-BD889121EEFA}" dt="2026-05-11T10:58:43.585" v="426" actId="33524"/>
        <pc:sldMkLst>
          <pc:docMk/>
          <pc:sldMk cId="0" sldId="266"/>
        </pc:sldMkLst>
        <pc:graphicFrameChg chg="modGraphic">
          <ac:chgData name="Azucena Beltrán Arrebola" userId="318d2fde-da52-42ff-952e-59d66901bdd3" providerId="ADAL" clId="{9A11C7FE-96B4-42D4-834D-BD889121EEFA}" dt="2026-05-11T10:58:43.585" v="426" actId="33524"/>
          <ac:graphicFrameMkLst>
            <pc:docMk/>
            <pc:sldMk cId="0" sldId="266"/>
            <ac:graphicFrameMk id="24" creationId="{00000000-0000-0000-0000-000000000000}"/>
          </ac:graphicFrameMkLst>
        </pc:graphicFrameChg>
      </pc:sldChg>
      <pc:sldChg chg="modSp mod">
        <pc:chgData name="Azucena Beltrán Arrebola" userId="318d2fde-da52-42ff-952e-59d66901bdd3" providerId="ADAL" clId="{9A11C7FE-96B4-42D4-834D-BD889121EEFA}" dt="2026-05-12T09:04:25.220" v="427" actId="2085"/>
        <pc:sldMkLst>
          <pc:docMk/>
          <pc:sldMk cId="0" sldId="267"/>
        </pc:sldMkLst>
        <pc:graphicFrameChg chg="modGraphic">
          <ac:chgData name="Azucena Beltrán Arrebola" userId="318d2fde-da52-42ff-952e-59d66901bdd3" providerId="ADAL" clId="{9A11C7FE-96B4-42D4-834D-BD889121EEFA}" dt="2026-05-12T09:04:25.220" v="427" actId="2085"/>
          <ac:graphicFrameMkLst>
            <pc:docMk/>
            <pc:sldMk cId="0" sldId="267"/>
            <ac:graphicFrameMk id="38" creationId="{0E5EE6F0-F391-7052-0B6A-1DBCDDD185FE}"/>
          </ac:graphicFrameMkLst>
        </pc:graphicFrameChg>
      </pc:sldChg>
      <pc:sldChg chg="addSp delSp modSp mod">
        <pc:chgData name="Azucena Beltrán Arrebola" userId="318d2fde-da52-42ff-952e-59d66901bdd3" providerId="ADAL" clId="{9A11C7FE-96B4-42D4-834D-BD889121EEFA}" dt="2026-05-11T08:27:02.882" v="358" actId="21"/>
        <pc:sldMkLst>
          <pc:docMk/>
          <pc:sldMk cId="0" sldId="270"/>
        </pc:sldMkLst>
        <pc:spChg chg="add del mod">
          <ac:chgData name="Azucena Beltrán Arrebola" userId="318d2fde-da52-42ff-952e-59d66901bdd3" providerId="ADAL" clId="{9A11C7FE-96B4-42D4-834D-BD889121EEFA}" dt="2026-05-11T08:27:02.882" v="358" actId="21"/>
          <ac:spMkLst>
            <pc:docMk/>
            <pc:sldMk cId="0" sldId="270"/>
            <ac:spMk id="35" creationId="{DBD3BE13-4234-DE88-5B90-B335720FD14E}"/>
          </ac:spMkLst>
        </pc:spChg>
        <pc:graphicFrameChg chg="mod modGraphic">
          <ac:chgData name="Azucena Beltrán Arrebola" userId="318d2fde-da52-42ff-952e-59d66901bdd3" providerId="ADAL" clId="{9A11C7FE-96B4-42D4-834D-BD889121EEFA}" dt="2026-05-11T08:26:02.081" v="353" actId="27297"/>
          <ac:graphicFrameMkLst>
            <pc:docMk/>
            <pc:sldMk cId="0" sldId="270"/>
            <ac:graphicFrameMk id="42" creationId="{F93DC37A-3B3D-1D27-1983-2CFE8DBADD73}"/>
          </ac:graphicFrameMkLst>
        </pc:graphicFrameChg>
      </pc:sldChg>
      <pc:sldChg chg="setBg">
        <pc:chgData name="Azucena Beltrán Arrebola" userId="318d2fde-da52-42ff-952e-59d66901bdd3" providerId="ADAL" clId="{9A11C7FE-96B4-42D4-834D-BD889121EEFA}" dt="2026-05-11T08:10:10.128" v="253"/>
        <pc:sldMkLst>
          <pc:docMk/>
          <pc:sldMk cId="0" sldId="271"/>
        </pc:sldMkLst>
      </pc:sldChg>
      <pc:sldChg chg="addSp delSp modSp mod setBg delAnim modAnim">
        <pc:chgData name="Azucena Beltrán Arrebola" userId="318d2fde-da52-42ff-952e-59d66901bdd3" providerId="ADAL" clId="{9A11C7FE-96B4-42D4-834D-BD889121EEFA}" dt="2026-05-12T22:02:03.111" v="521" actId="2085"/>
        <pc:sldMkLst>
          <pc:docMk/>
          <pc:sldMk cId="1207935619" sldId="272"/>
        </pc:sldMkLst>
        <pc:spChg chg="mod">
          <ac:chgData name="Azucena Beltrán Arrebola" userId="318d2fde-da52-42ff-952e-59d66901bdd3" providerId="ADAL" clId="{9A11C7FE-96B4-42D4-834D-BD889121EEFA}" dt="2026-05-11T08:12:41.416" v="299" actId="1076"/>
          <ac:spMkLst>
            <pc:docMk/>
            <pc:sldMk cId="1207935619" sldId="272"/>
            <ac:spMk id="7" creationId="{207BAD26-D3FA-DBB5-D8E9-6CAF777126E7}"/>
          </ac:spMkLst>
        </pc:spChg>
        <pc:spChg chg="mod">
          <ac:chgData name="Azucena Beltrán Arrebola" userId="318d2fde-da52-42ff-952e-59d66901bdd3" providerId="ADAL" clId="{9A11C7FE-96B4-42D4-834D-BD889121EEFA}" dt="2026-05-11T08:12:45.801" v="300" actId="1076"/>
          <ac:spMkLst>
            <pc:docMk/>
            <pc:sldMk cId="1207935619" sldId="272"/>
            <ac:spMk id="8" creationId="{FC4F4B67-9B0B-371E-6C8E-5EC87EC4652E}"/>
          </ac:spMkLst>
        </pc:spChg>
        <pc:spChg chg="add del mod ord">
          <ac:chgData name="Azucena Beltrán Arrebola" userId="318d2fde-da52-42ff-952e-59d66901bdd3" providerId="ADAL" clId="{9A11C7FE-96B4-42D4-834D-BD889121EEFA}" dt="2026-05-11T08:30:11.190" v="382" actId="478"/>
          <ac:spMkLst>
            <pc:docMk/>
            <pc:sldMk cId="1207935619" sldId="272"/>
            <ac:spMk id="15" creationId="{D8081136-6DEA-84B2-2324-6214A8341A7A}"/>
          </ac:spMkLst>
        </pc:spChg>
        <pc:spChg chg="add del mod">
          <ac:chgData name="Azucena Beltrán Arrebola" userId="318d2fde-da52-42ff-952e-59d66901bdd3" providerId="ADAL" clId="{9A11C7FE-96B4-42D4-834D-BD889121EEFA}" dt="2026-05-11T08:27:35.097" v="361" actId="478"/>
          <ac:spMkLst>
            <pc:docMk/>
            <pc:sldMk cId="1207935619" sldId="272"/>
            <ac:spMk id="35" creationId="{DBD3BE13-4234-DE88-5B90-B335720FD14E}"/>
          </ac:spMkLst>
        </pc:spChg>
        <pc:grpChg chg="mod">
          <ac:chgData name="Azucena Beltrán Arrebola" userId="318d2fde-da52-42ff-952e-59d66901bdd3" providerId="ADAL" clId="{9A11C7FE-96B4-42D4-834D-BD889121EEFA}" dt="2026-05-11T08:12:50.706" v="301" actId="1076"/>
          <ac:grpSpMkLst>
            <pc:docMk/>
            <pc:sldMk cId="1207935619" sldId="272"/>
            <ac:grpSpMk id="2" creationId="{2E6AE8EE-C1B7-1BA3-2CDD-059D2D6E73C6}"/>
          </ac:grpSpMkLst>
        </pc:grpChg>
        <pc:grpChg chg="mod">
          <ac:chgData name="Azucena Beltrán Arrebola" userId="318d2fde-da52-42ff-952e-59d66901bdd3" providerId="ADAL" clId="{9A11C7FE-96B4-42D4-834D-BD889121EEFA}" dt="2026-05-11T08:29:45.657" v="376"/>
          <ac:grpSpMkLst>
            <pc:docMk/>
            <pc:sldMk cId="1207935619" sldId="272"/>
            <ac:grpSpMk id="21" creationId="{EF6F7BBB-9B9C-F949-EBC1-B0763E27E5D5}"/>
          </ac:grpSpMkLst>
        </pc:grpChg>
        <pc:graphicFrameChg chg="add mod ord modGraphic">
          <ac:chgData name="Azucena Beltrán Arrebola" userId="318d2fde-da52-42ff-952e-59d66901bdd3" providerId="ADAL" clId="{9A11C7FE-96B4-42D4-834D-BD889121EEFA}" dt="2026-05-12T22:02:03.111" v="521" actId="2085"/>
          <ac:graphicFrameMkLst>
            <pc:docMk/>
            <pc:sldMk cId="1207935619" sldId="272"/>
            <ac:graphicFrameMk id="10" creationId="{C1205F00-74AA-70E5-0668-A2C433450D8D}"/>
          </ac:graphicFrameMkLst>
        </pc:graphicFrameChg>
        <pc:picChg chg="del">
          <ac:chgData name="Azucena Beltrán Arrebola" userId="318d2fde-da52-42ff-952e-59d66901bdd3" providerId="ADAL" clId="{9A11C7FE-96B4-42D4-834D-BD889121EEFA}" dt="2026-05-12T18:58:39.041" v="462" actId="478"/>
          <ac:picMkLst>
            <pc:docMk/>
            <pc:sldMk cId="1207935619" sldId="272"/>
            <ac:picMk id="5" creationId="{903FE30E-F096-91E1-CE5F-D5ACAADE53DC}"/>
          </ac:picMkLst>
        </pc:picChg>
        <pc:picChg chg="add del mod modCrop">
          <ac:chgData name="Azucena Beltrán Arrebola" userId="318d2fde-da52-42ff-952e-59d66901bdd3" providerId="ADAL" clId="{9A11C7FE-96B4-42D4-834D-BD889121EEFA}" dt="2026-05-11T08:11:43.902" v="271" actId="478"/>
          <ac:picMkLst>
            <pc:docMk/>
            <pc:sldMk cId="1207935619" sldId="272"/>
            <ac:picMk id="10" creationId="{F9276ABE-0746-A5F0-391F-9AACF2CA26CB}"/>
          </ac:picMkLst>
        </pc:picChg>
        <pc:picChg chg="add del mod">
          <ac:chgData name="Azucena Beltrán Arrebola" userId="318d2fde-da52-42ff-952e-59d66901bdd3" providerId="ADAL" clId="{9A11C7FE-96B4-42D4-834D-BD889121EEFA}" dt="2026-05-11T08:22:25.865" v="320" actId="21"/>
          <ac:picMkLst>
            <pc:docMk/>
            <pc:sldMk cId="1207935619" sldId="272"/>
            <ac:picMk id="11" creationId="{03AB9027-0869-6968-0C77-D010A18426E6}"/>
          </ac:picMkLst>
        </pc:picChg>
        <pc:picChg chg="add mod">
          <ac:chgData name="Azucena Beltrán Arrebola" userId="318d2fde-da52-42ff-952e-59d66901bdd3" providerId="ADAL" clId="{9A11C7FE-96B4-42D4-834D-BD889121EEFA}" dt="2026-05-12T21:48:40.825" v="505" actId="1037"/>
          <ac:picMkLst>
            <pc:docMk/>
            <pc:sldMk cId="1207935619" sldId="272"/>
            <ac:picMk id="11" creationId="{5EB00AC2-3521-6C1C-640A-9E9E7210FC5A}"/>
          </ac:picMkLst>
        </pc:picChg>
        <pc:picChg chg="add mod">
          <ac:chgData name="Azucena Beltrán Arrebola" userId="318d2fde-da52-42ff-952e-59d66901bdd3" providerId="ADAL" clId="{9A11C7FE-96B4-42D4-834D-BD889121EEFA}" dt="2026-05-12T22:01:14.170" v="519" actId="1076"/>
          <ac:picMkLst>
            <pc:docMk/>
            <pc:sldMk cId="1207935619" sldId="272"/>
            <ac:picMk id="12" creationId="{515CCF63-0D62-5368-C86F-70322D6C5F7A}"/>
          </ac:picMkLst>
        </pc:picChg>
        <pc:picChg chg="add del mod modCrop">
          <ac:chgData name="Azucena Beltrán Arrebola" userId="318d2fde-da52-42ff-952e-59d66901bdd3" providerId="ADAL" clId="{9A11C7FE-96B4-42D4-834D-BD889121EEFA}" dt="2026-05-11T08:23:57.018" v="337" actId="478"/>
          <ac:picMkLst>
            <pc:docMk/>
            <pc:sldMk cId="1207935619" sldId="272"/>
            <ac:picMk id="13" creationId="{25FB3B98-CB64-FB73-7437-1A4675F4D149}"/>
          </ac:picMkLst>
        </pc:picChg>
        <pc:picChg chg="add del mod ord">
          <ac:chgData name="Azucena Beltrán Arrebola" userId="318d2fde-da52-42ff-952e-59d66901bdd3" providerId="ADAL" clId="{9A11C7FE-96B4-42D4-834D-BD889121EEFA}" dt="2026-05-12T09:08:39.866" v="428" actId="478"/>
          <ac:picMkLst>
            <pc:docMk/>
            <pc:sldMk cId="1207935619" sldId="272"/>
            <ac:picMk id="14" creationId="{03AB9027-0869-6968-0C77-D010A18426E6}"/>
          </ac:picMkLst>
        </pc:picChg>
        <pc:picChg chg="add del mod">
          <ac:chgData name="Azucena Beltrán Arrebola" userId="318d2fde-da52-42ff-952e-59d66901bdd3" providerId="ADAL" clId="{9A11C7FE-96B4-42D4-834D-BD889121EEFA}" dt="2026-05-11T08:31:18.360" v="393" actId="478"/>
          <ac:picMkLst>
            <pc:docMk/>
            <pc:sldMk cId="1207935619" sldId="272"/>
            <ac:picMk id="23" creationId="{B4757E84-F14C-7414-5E6B-E7354A179660}"/>
          </ac:picMkLst>
        </pc:picChg>
        <pc:picChg chg="add mod modCrop">
          <ac:chgData name="Azucena Beltrán Arrebola" userId="318d2fde-da52-42ff-952e-59d66901bdd3" providerId="ADAL" clId="{9A11C7FE-96B4-42D4-834D-BD889121EEFA}" dt="2026-05-12T21:46:58.233" v="490" actId="14100"/>
          <ac:picMkLst>
            <pc:docMk/>
            <pc:sldMk cId="1207935619" sldId="272"/>
            <ac:picMk id="25" creationId="{E8956046-8DA7-FAB3-0355-D79C2D767E24}"/>
          </ac:picMkLst>
        </pc:picChg>
        <pc:inkChg chg="add del">
          <ac:chgData name="Azucena Beltrán Arrebola" userId="318d2fde-da52-42ff-952e-59d66901bdd3" providerId="ADAL" clId="{9A11C7FE-96B4-42D4-834D-BD889121EEFA}" dt="2026-05-11T08:29:47.330" v="380" actId="9405"/>
          <ac:inkMkLst>
            <pc:docMk/>
            <pc:sldMk cId="1207935619" sldId="272"/>
            <ac:inkMk id="16" creationId="{B65EA2F4-F7EA-696E-76C5-8A1220144AC1}"/>
          </ac:inkMkLst>
        </pc:inkChg>
        <pc:inkChg chg="add del">
          <ac:chgData name="Azucena Beltrán Arrebola" userId="318d2fde-da52-42ff-952e-59d66901bdd3" providerId="ADAL" clId="{9A11C7FE-96B4-42D4-834D-BD889121EEFA}" dt="2026-05-11T08:29:46.674" v="379" actId="9405"/>
          <ac:inkMkLst>
            <pc:docMk/>
            <pc:sldMk cId="1207935619" sldId="272"/>
            <ac:inkMk id="17" creationId="{94C33499-55A5-B9FB-10C0-DF65771C8850}"/>
          </ac:inkMkLst>
        </pc:inkChg>
        <pc:inkChg chg="add del mod">
          <ac:chgData name="Azucena Beltrán Arrebola" userId="318d2fde-da52-42ff-952e-59d66901bdd3" providerId="ADAL" clId="{9A11C7FE-96B4-42D4-834D-BD889121EEFA}" dt="2026-05-11T08:29:46.308" v="378" actId="9405"/>
          <ac:inkMkLst>
            <pc:docMk/>
            <pc:sldMk cId="1207935619" sldId="272"/>
            <ac:inkMk id="18" creationId="{52CFEDE0-7BB5-84F6-BB91-A279F5F15025}"/>
          </ac:inkMkLst>
        </pc:inkChg>
        <pc:inkChg chg="add del mod">
          <ac:chgData name="Azucena Beltrán Arrebola" userId="318d2fde-da52-42ff-952e-59d66901bdd3" providerId="ADAL" clId="{9A11C7FE-96B4-42D4-834D-BD889121EEFA}" dt="2026-05-11T08:29:45.975" v="377" actId="9405"/>
          <ac:inkMkLst>
            <pc:docMk/>
            <pc:sldMk cId="1207935619" sldId="272"/>
            <ac:inkMk id="19" creationId="{10A1ACEA-1FC2-5A65-80FC-C359281C72A2}"/>
          </ac:inkMkLst>
        </pc:inkChg>
        <pc:inkChg chg="add del mod">
          <ac:chgData name="Azucena Beltrán Arrebola" userId="318d2fde-da52-42ff-952e-59d66901bdd3" providerId="ADAL" clId="{9A11C7FE-96B4-42D4-834D-BD889121EEFA}" dt="2026-05-11T08:29:45.657" v="376"/>
          <ac:inkMkLst>
            <pc:docMk/>
            <pc:sldMk cId="1207935619" sldId="272"/>
            <ac:inkMk id="20" creationId="{3A946C48-C634-EC5A-FBFD-3292FB97C9D0}"/>
          </ac:inkMkLst>
        </pc:inkChg>
      </pc:sldChg>
      <pc:sldMasterChg chg="setBg modSldLayout">
        <pc:chgData name="Azucena Beltrán Arrebola" userId="318d2fde-da52-42ff-952e-59d66901bdd3" providerId="ADAL" clId="{9A11C7FE-96B4-42D4-834D-BD889121EEFA}" dt="2026-05-11T08:10:10.128" v="253"/>
        <pc:sldMasterMkLst>
          <pc:docMk/>
          <pc:sldMasterMk cId="0" sldId="2147483648"/>
        </pc:sldMasterMkLst>
        <pc:sldLayoutChg chg="setBg">
          <pc:chgData name="Azucena Beltrán Arrebola" userId="318d2fde-da52-42ff-952e-59d66901bdd3" providerId="ADAL" clId="{9A11C7FE-96B4-42D4-834D-BD889121EEFA}" dt="2026-05-11T08:10:10.128" v="253"/>
          <pc:sldLayoutMkLst>
            <pc:docMk/>
            <pc:sldMasterMk cId="0" sldId="2147483648"/>
            <pc:sldLayoutMk cId="0" sldId="2147483661"/>
          </pc:sldLayoutMkLst>
        </pc:sldLayoutChg>
        <pc:sldLayoutChg chg="setBg">
          <pc:chgData name="Azucena Beltrán Arrebola" userId="318d2fde-da52-42ff-952e-59d66901bdd3" providerId="ADAL" clId="{9A11C7FE-96B4-42D4-834D-BD889121EEFA}" dt="2026-05-11T08:10:10.128" v="253"/>
          <pc:sldLayoutMkLst>
            <pc:docMk/>
            <pc:sldMasterMk cId="0" sldId="2147483648"/>
            <pc:sldLayoutMk cId="0" sldId="2147483662"/>
          </pc:sldLayoutMkLst>
        </pc:sldLayoutChg>
        <pc:sldLayoutChg chg="setBg">
          <pc:chgData name="Azucena Beltrán Arrebola" userId="318d2fde-da52-42ff-952e-59d66901bdd3" providerId="ADAL" clId="{9A11C7FE-96B4-42D4-834D-BD889121EEFA}" dt="2026-05-11T08:10:10.128" v="253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Azucena Beltrán Arrebola" userId="318d2fde-da52-42ff-952e-59d66901bdd3" providerId="ADAL" clId="{9A11C7FE-96B4-42D4-834D-BD889121EEFA}" dt="2026-05-11T08:10:10.128" v="253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Azucena Beltrán Arrebola" userId="318d2fde-da52-42ff-952e-59d66901bdd3" providerId="ADAL" clId="{9A11C7FE-96B4-42D4-834D-BD889121EEFA}" dt="2026-05-11T08:10:10.128" v="253"/>
          <pc:sldLayoutMkLst>
            <pc:docMk/>
            <pc:sldMasterMk cId="0" sldId="2147483648"/>
            <pc:sldLayoutMk cId="0" sldId="21474836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81836" y="615442"/>
            <a:ext cx="8529726" cy="1110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49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9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9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9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9170" y="578866"/>
            <a:ext cx="619505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49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6436" y="3045587"/>
            <a:ext cx="8985250" cy="2437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70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77.png"/><Relationship Id="rId5" Type="http://schemas.openxmlformats.org/officeDocument/2006/relationships/image" Target="../media/image3.png"/><Relationship Id="rId10" Type="http://schemas.openxmlformats.org/officeDocument/2006/relationships/slide" Target="slide5.xml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17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16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8.png"/><Relationship Id="rId3" Type="http://schemas.openxmlformats.org/officeDocument/2006/relationships/image" Target="../media/image17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image" Target="../media/image16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3.png"/><Relationship Id="rId9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36.png"/><Relationship Id="rId3" Type="http://schemas.openxmlformats.org/officeDocument/2006/relationships/image" Target="../media/image17.png"/><Relationship Id="rId7" Type="http://schemas.openxmlformats.org/officeDocument/2006/relationships/image" Target="../media/image88.png"/><Relationship Id="rId12" Type="http://schemas.openxmlformats.org/officeDocument/2006/relationships/slide" Target="slide9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00.png"/><Relationship Id="rId3" Type="http://schemas.openxmlformats.org/officeDocument/2006/relationships/image" Target="../media/image17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3.png"/><Relationship Id="rId9" Type="http://schemas.openxmlformats.org/officeDocument/2006/relationships/image" Target="../media/image9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10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11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3.png"/><Relationship Id="rId7" Type="http://schemas.openxmlformats.org/officeDocument/2006/relationships/slide" Target="slide14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79.png"/><Relationship Id="rId16" Type="http://schemas.openxmlformats.org/officeDocument/2006/relationships/image" Target="../media/image129.png"/><Relationship Id="rId20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hyperlink" Target="https://github.com/Lismina287/bivira-tfg.gi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9696" y="2016364"/>
            <a:ext cx="4199600" cy="4670668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543559" y="383794"/>
            <a:ext cx="9585325" cy="11106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378075" marR="5080" indent="-2366010">
              <a:lnSpc>
                <a:spcPts val="4220"/>
              </a:lnSpc>
              <a:spcBef>
                <a:spcPts val="300"/>
              </a:spcBef>
            </a:pPr>
            <a:r>
              <a:rPr sz="3600" spc="285" dirty="0">
                <a:solidFill>
                  <a:srgbClr val="01495E"/>
                </a:solidFill>
                <a:latin typeface="Cambria"/>
                <a:cs typeface="Cambria"/>
              </a:rPr>
              <a:t>BiViR@</a:t>
            </a:r>
            <a:r>
              <a:rPr sz="3600" spc="685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1495E"/>
                </a:solidFill>
                <a:latin typeface="Symbol"/>
                <a:cs typeface="Symbol"/>
              </a:rPr>
              <a:t></a:t>
            </a:r>
            <a:r>
              <a:rPr sz="3600" spc="570" dirty="0">
                <a:solidFill>
                  <a:srgbClr val="01495E"/>
                </a:solidFill>
                <a:latin typeface="Times New Roman"/>
                <a:cs typeface="Times New Roman"/>
              </a:rPr>
              <a:t> </a:t>
            </a:r>
            <a:r>
              <a:rPr sz="3600" spc="315" dirty="0">
                <a:solidFill>
                  <a:srgbClr val="01495E"/>
                </a:solidFill>
                <a:latin typeface="Cambria"/>
                <a:cs typeface="Cambria"/>
              </a:rPr>
              <a:t>Biblioteca</a:t>
            </a:r>
            <a:r>
              <a:rPr sz="3600" spc="660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spc="335" dirty="0">
                <a:solidFill>
                  <a:srgbClr val="01495E"/>
                </a:solidFill>
                <a:latin typeface="Cambria"/>
                <a:cs typeface="Cambria"/>
              </a:rPr>
              <a:t>Virtual</a:t>
            </a:r>
            <a:r>
              <a:rPr sz="3600" spc="655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1495E"/>
                </a:solidFill>
                <a:latin typeface="Cambria"/>
                <a:cs typeface="Cambria"/>
              </a:rPr>
              <a:t>y</a:t>
            </a:r>
            <a:r>
              <a:rPr sz="3600" spc="645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spc="365" dirty="0">
                <a:solidFill>
                  <a:srgbClr val="01495E"/>
                </a:solidFill>
                <a:latin typeface="Cambria"/>
                <a:cs typeface="Cambria"/>
              </a:rPr>
              <a:t>Recursos </a:t>
            </a:r>
            <a:r>
              <a:rPr sz="3600" spc="350" dirty="0">
                <a:solidFill>
                  <a:srgbClr val="01495E"/>
                </a:solidFill>
                <a:latin typeface="Cambria"/>
                <a:cs typeface="Cambria"/>
              </a:rPr>
              <a:t>Académicos</a:t>
            </a:r>
            <a:r>
              <a:rPr sz="3600" spc="650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spc="345" dirty="0">
                <a:solidFill>
                  <a:srgbClr val="01495E"/>
                </a:solidFill>
                <a:latin typeface="Cambria"/>
                <a:cs typeface="Cambria"/>
              </a:rPr>
              <a:t>para</a:t>
            </a:r>
            <a:r>
              <a:rPr sz="3600" spc="660" dirty="0">
                <a:solidFill>
                  <a:srgbClr val="01495E"/>
                </a:solidFill>
                <a:latin typeface="Cambria"/>
                <a:cs typeface="Cambria"/>
              </a:rPr>
              <a:t> </a:t>
            </a:r>
            <a:r>
              <a:rPr sz="3600" spc="305" dirty="0">
                <a:solidFill>
                  <a:srgbClr val="01495E"/>
                </a:solidFill>
                <a:latin typeface="Cambria"/>
                <a:cs typeface="Cambria"/>
              </a:rPr>
              <a:t>FP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283464"/>
            <a:ext cx="9641205" cy="9525"/>
          </a:xfrm>
          <a:custGeom>
            <a:avLst/>
            <a:gdLst/>
            <a:ahLst/>
            <a:cxnLst/>
            <a:rect l="l" t="t" r="r" b="b"/>
            <a:pathLst>
              <a:path w="9641205" h="9525">
                <a:moveTo>
                  <a:pt x="9640824" y="0"/>
                </a:moveTo>
                <a:lnTo>
                  <a:pt x="0" y="0"/>
                </a:lnTo>
                <a:lnTo>
                  <a:pt x="0" y="9144"/>
                </a:lnTo>
                <a:lnTo>
                  <a:pt x="9640824" y="9144"/>
                </a:lnTo>
                <a:lnTo>
                  <a:pt x="9640824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33400" y="858393"/>
            <a:ext cx="9641205" cy="746760"/>
            <a:chOff x="533400" y="858393"/>
            <a:chExt cx="9641205" cy="746760"/>
          </a:xfrm>
        </p:grpSpPr>
        <p:sp>
          <p:nvSpPr>
            <p:cNvPr id="6" name="object 6"/>
            <p:cNvSpPr/>
            <p:nvPr/>
          </p:nvSpPr>
          <p:spPr>
            <a:xfrm>
              <a:off x="533400" y="1595882"/>
              <a:ext cx="9641205" cy="9525"/>
            </a:xfrm>
            <a:custGeom>
              <a:avLst/>
              <a:gdLst/>
              <a:ahLst/>
              <a:cxnLst/>
              <a:rect l="l" t="t" r="r" b="b"/>
              <a:pathLst>
                <a:path w="9641205" h="9525">
                  <a:moveTo>
                    <a:pt x="964082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40824" y="9144"/>
                  </a:lnTo>
                  <a:lnTo>
                    <a:pt x="9640824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20" y="858393"/>
              <a:ext cx="671195" cy="7385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3065" y="931545"/>
              <a:ext cx="820420" cy="5683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26219" y="6687032"/>
            <a:ext cx="518655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Azucena</a:t>
            </a:r>
            <a:r>
              <a:rPr sz="2000" spc="9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Beltrán</a:t>
            </a:r>
            <a:r>
              <a:rPr sz="2000" spc="10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8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Arrebola </a:t>
            </a:r>
            <a:r>
              <a:rPr sz="200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–</a:t>
            </a:r>
            <a:r>
              <a:rPr sz="2000" spc="10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9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Mayo</a:t>
            </a:r>
            <a:r>
              <a:rPr sz="2000" spc="10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-2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2026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9314" y="1721866"/>
            <a:ext cx="613638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Proyecto</a:t>
            </a:r>
            <a:r>
              <a:rPr sz="2000" spc="204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Integrador</a:t>
            </a:r>
            <a:r>
              <a:rPr sz="2000" spc="2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16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ASIR</a:t>
            </a:r>
            <a:r>
              <a:rPr sz="2000" spc="2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–</a:t>
            </a:r>
            <a:r>
              <a:rPr sz="2000" spc="21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IES</a:t>
            </a:r>
            <a:r>
              <a:rPr sz="2000" spc="2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1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Dr.</a:t>
            </a:r>
            <a:r>
              <a:rPr sz="2000" spc="18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spc="11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Fleming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Vista general de diapositiva 11">
                <a:extLst>
                  <a:ext uri="{FF2B5EF4-FFF2-40B4-BE49-F238E27FC236}">
                    <a16:creationId xmlns:a16="http://schemas.microsoft.com/office/drawing/2014/main" id="{B1D3FDFD-4EE0-C3ED-463A-60C6A9E256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89098337"/>
                  </p:ext>
                </p:extLst>
              </p:nvPr>
            </p:nvGraphicFramePr>
            <p:xfrm>
              <a:off x="4356100" y="3324225"/>
              <a:ext cx="64644" cy="45719"/>
            </p:xfrm>
            <a:graphic>
              <a:graphicData uri="http://schemas.microsoft.com/office/powerpoint/2016/slidezoom">
                <pslz:sldZm>
                  <pslz:sldZmObj sldId="258" cId="0">
                    <pslz:zmPr id="{2C6AAEBF-5936-49D9-9118-85C5D359B722}" returnToParent="0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644" cy="45719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Vista general de diapositiva 11">
                <a:extLst>
                  <a:ext uri="{FF2B5EF4-FFF2-40B4-BE49-F238E27FC236}">
                    <a16:creationId xmlns:a16="http://schemas.microsoft.com/office/drawing/2014/main" id="{B1D3FDFD-4EE0-C3ED-463A-60C6A9E256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56100" y="3324225"/>
                <a:ext cx="64644" cy="45719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329940"/>
            <a:ext cx="216534" cy="2025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733800"/>
            <a:ext cx="216534" cy="2025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136390"/>
            <a:ext cx="216534" cy="2025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538345"/>
            <a:ext cx="216534" cy="2025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1700" y="3162427"/>
            <a:ext cx="6704176" cy="1593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0075">
              <a:lnSpc>
                <a:spcPct val="147200"/>
              </a:lnSpc>
              <a:spcBef>
                <a:spcPts val="100"/>
              </a:spcBef>
            </a:pPr>
            <a:r>
              <a:rPr sz="1800" dirty="0">
                <a:latin typeface="Rockwell" panose="02060603020205020403" pitchFamily="18" charset="0"/>
                <a:cs typeface="Cambria"/>
              </a:rPr>
              <a:t>Sin</a:t>
            </a:r>
            <a:r>
              <a:rPr sz="1800" spc="12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85" dirty="0">
                <a:latin typeface="Rockwell" panose="02060603020205020403" pitchFamily="18" charset="0"/>
                <a:cs typeface="Cambria"/>
              </a:rPr>
              <a:t>espacio</a:t>
            </a:r>
            <a:r>
              <a:rPr sz="1800" spc="114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55" dirty="0">
                <a:latin typeface="Rockwell" panose="02060603020205020403" pitchFamily="18" charset="0"/>
                <a:cs typeface="Cambria"/>
              </a:rPr>
              <a:t>común</a:t>
            </a:r>
            <a:r>
              <a:rPr sz="1800" spc="12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gratuito</a:t>
            </a:r>
            <a:r>
              <a:rPr sz="1800" spc="13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60" dirty="0">
                <a:latin typeface="Rockwell" panose="02060603020205020403" pitchFamily="18" charset="0"/>
                <a:cs typeface="Cambria"/>
              </a:rPr>
              <a:t>para</a:t>
            </a:r>
            <a:r>
              <a:rPr sz="1800" spc="12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FP</a:t>
            </a:r>
            <a:r>
              <a:rPr sz="1800" spc="12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-10" dirty="0">
                <a:latin typeface="Rockwell" panose="02060603020205020403" pitchFamily="18" charset="0"/>
                <a:cs typeface="Cambria"/>
              </a:rPr>
              <a:t>asturiana</a:t>
            </a:r>
            <a:r>
              <a:rPr sz="1800" spc="50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50" dirty="0">
                <a:latin typeface="Rockwell" panose="02060603020205020403" pitchFamily="18" charset="0"/>
                <a:cs typeface="Cambria"/>
              </a:rPr>
              <a:t>Recursos</a:t>
            </a:r>
            <a:r>
              <a:rPr sz="1800" spc="8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65" dirty="0">
                <a:latin typeface="Rockwell" panose="02060603020205020403" pitchFamily="18" charset="0"/>
                <a:cs typeface="Cambria"/>
              </a:rPr>
              <a:t>desactualizados,</a:t>
            </a:r>
            <a:r>
              <a:rPr sz="1800" spc="8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125" dirty="0">
                <a:latin typeface="Rockwell" panose="02060603020205020403" pitchFamily="18" charset="0"/>
                <a:cs typeface="Cambria"/>
              </a:rPr>
              <a:t>de</a:t>
            </a:r>
            <a:r>
              <a:rPr sz="1800" spc="9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otras</a:t>
            </a:r>
            <a:r>
              <a:rPr sz="1800" spc="7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200" dirty="0">
                <a:latin typeface="Rockwell" panose="02060603020205020403" pitchFamily="18" charset="0"/>
                <a:cs typeface="Cambria"/>
              </a:rPr>
              <a:t>CC.AA.</a:t>
            </a:r>
            <a:r>
              <a:rPr sz="1800" spc="10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75" dirty="0">
                <a:latin typeface="Rockwell" panose="02060603020205020403" pitchFamily="18" charset="0"/>
                <a:cs typeface="Cambria"/>
              </a:rPr>
              <a:t>o</a:t>
            </a:r>
            <a:r>
              <a:rPr sz="1800" spc="9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135" dirty="0">
                <a:latin typeface="Rockwell" panose="02060603020205020403" pitchFamily="18" charset="0"/>
                <a:cs typeface="Cambria"/>
              </a:rPr>
              <a:t>de</a:t>
            </a:r>
            <a:r>
              <a:rPr sz="1800" spc="7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105" dirty="0">
                <a:latin typeface="Rockwell" panose="02060603020205020403" pitchFamily="18" charset="0"/>
                <a:cs typeface="Cambria"/>
              </a:rPr>
              <a:t>pago</a:t>
            </a:r>
            <a:endParaRPr sz="1800" dirty="0">
              <a:latin typeface="Rockwell" panose="02060603020205020403" pitchFamily="18" charset="0"/>
              <a:cs typeface="Cambria"/>
            </a:endParaRPr>
          </a:p>
          <a:p>
            <a:pPr marL="12700" marR="5080">
              <a:lnSpc>
                <a:spcPct val="146700"/>
              </a:lnSpc>
            </a:pPr>
            <a:r>
              <a:rPr sz="1800" spc="90" dirty="0">
                <a:latin typeface="Rockwell" panose="02060603020205020403" pitchFamily="18" charset="0"/>
                <a:cs typeface="Cambria"/>
              </a:rPr>
              <a:t>Moodle</a:t>
            </a:r>
            <a:r>
              <a:rPr sz="180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institucional:</a:t>
            </a:r>
            <a:r>
              <a:rPr sz="18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50" dirty="0">
                <a:latin typeface="Rockwell" panose="02060603020205020403" pitchFamily="18" charset="0"/>
                <a:cs typeface="Cambria"/>
              </a:rPr>
              <a:t>solo</a:t>
            </a:r>
            <a:r>
              <a:rPr sz="1800" spc="16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95" dirty="0">
                <a:latin typeface="Rockwell" panose="02060603020205020403" pitchFamily="18" charset="0"/>
                <a:cs typeface="Cambria"/>
              </a:rPr>
              <a:t>acceso</a:t>
            </a:r>
            <a:r>
              <a:rPr sz="1800" spc="17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si</a:t>
            </a:r>
            <a:r>
              <a:rPr sz="18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te</a:t>
            </a:r>
            <a:r>
              <a:rPr sz="1800" spc="16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matricula</a:t>
            </a:r>
            <a:r>
              <a:rPr sz="180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un</a:t>
            </a:r>
            <a:r>
              <a:rPr sz="18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65" dirty="0">
                <a:latin typeface="Rockwell" panose="02060603020205020403" pitchFamily="18" charset="0"/>
                <a:cs typeface="Cambria"/>
              </a:rPr>
              <a:t>docente </a:t>
            </a:r>
            <a:r>
              <a:rPr sz="1800" dirty="0">
                <a:latin typeface="Rockwell" panose="02060603020205020403" pitchFamily="18" charset="0"/>
                <a:cs typeface="Cambria"/>
              </a:rPr>
              <a:t>Sin</a:t>
            </a:r>
            <a:r>
              <a:rPr sz="1800" spc="14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70" dirty="0">
                <a:latin typeface="Rockwell" panose="02060603020205020403" pitchFamily="18" charset="0"/>
                <a:cs typeface="Cambria"/>
              </a:rPr>
              <a:t>colaboración</a:t>
            </a:r>
            <a:r>
              <a:rPr sz="1800" spc="14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entre</a:t>
            </a:r>
            <a:r>
              <a:rPr sz="18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70" dirty="0">
                <a:latin typeface="Rockwell" panose="02060603020205020403" pitchFamily="18" charset="0"/>
                <a:cs typeface="Cambria"/>
              </a:rPr>
              <a:t>ciclos</a:t>
            </a:r>
            <a:r>
              <a:rPr sz="18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dirty="0">
                <a:latin typeface="Rockwell" panose="02060603020205020403" pitchFamily="18" charset="0"/>
                <a:cs typeface="Cambria"/>
              </a:rPr>
              <a:t>ni</a:t>
            </a:r>
            <a:r>
              <a:rPr sz="18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1800" spc="40" dirty="0">
                <a:latin typeface="Rockwell" panose="02060603020205020403" pitchFamily="18" charset="0"/>
                <a:cs typeface="Cambria"/>
              </a:rPr>
              <a:t>centros</a:t>
            </a:r>
            <a:endParaRPr sz="18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0735" y="611546"/>
            <a:ext cx="803845" cy="55173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704965" y="1974977"/>
            <a:ext cx="3362325" cy="4695825"/>
            <a:chOff x="6704965" y="1974977"/>
            <a:chExt cx="3362325" cy="46958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5464" y="2109490"/>
              <a:ext cx="2383766" cy="10049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3714" y="3412227"/>
              <a:ext cx="1660315" cy="14593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4965" y="5040122"/>
              <a:ext cx="3362325" cy="11525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57516" y="2033016"/>
              <a:ext cx="1789176" cy="15727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0752" y="1978152"/>
              <a:ext cx="1769363" cy="16245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632065" y="2013077"/>
              <a:ext cx="1604010" cy="1464945"/>
            </a:xfrm>
            <a:custGeom>
              <a:avLst/>
              <a:gdLst/>
              <a:ahLst/>
              <a:cxnLst/>
              <a:rect l="l" t="t" r="r" b="b"/>
              <a:pathLst>
                <a:path w="1604009" h="1464945">
                  <a:moveTo>
                    <a:pt x="1604009" y="0"/>
                  </a:moveTo>
                  <a:lnTo>
                    <a:pt x="0" y="1464945"/>
                  </a:lnTo>
                </a:path>
              </a:pathLst>
            </a:custGeom>
            <a:ln w="76200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09916" y="3483864"/>
              <a:ext cx="1787652" cy="15727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1628" y="3428111"/>
              <a:ext cx="1769364" cy="16254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783830" y="3463036"/>
              <a:ext cx="1604010" cy="1464945"/>
            </a:xfrm>
            <a:custGeom>
              <a:avLst/>
              <a:gdLst/>
              <a:ahLst/>
              <a:cxnLst/>
              <a:rect l="l" t="t" r="r" b="b"/>
              <a:pathLst>
                <a:path w="1604009" h="1464945">
                  <a:moveTo>
                    <a:pt x="1604010" y="0"/>
                  </a:moveTo>
                  <a:lnTo>
                    <a:pt x="0" y="1464945"/>
                  </a:lnTo>
                </a:path>
              </a:pathLst>
            </a:custGeom>
            <a:ln w="76200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7976" y="5097792"/>
              <a:ext cx="1789176" cy="15727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11212" y="5042027"/>
              <a:ext cx="1769363" cy="16254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02525" y="5076952"/>
              <a:ext cx="1604010" cy="1464945"/>
            </a:xfrm>
            <a:custGeom>
              <a:avLst/>
              <a:gdLst/>
              <a:ahLst/>
              <a:cxnLst/>
              <a:rect l="l" t="t" r="r" b="b"/>
              <a:pathLst>
                <a:path w="1604009" h="1464945">
                  <a:moveTo>
                    <a:pt x="1604009" y="0"/>
                  </a:moveTo>
                  <a:lnTo>
                    <a:pt x="0" y="1464881"/>
                  </a:lnTo>
                </a:path>
              </a:pathLst>
            </a:custGeom>
            <a:ln w="76200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0531" y="596519"/>
            <a:ext cx="508494" cy="543475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00"/>
              </a:spcBef>
            </a:pPr>
            <a:r>
              <a:rPr spc="300" dirty="0">
                <a:latin typeface="Bookman Old Style" panose="02050604050505020204" pitchFamily="18" charset="0"/>
              </a:rPr>
              <a:t>¿Por</a:t>
            </a:r>
            <a:r>
              <a:rPr spc="640" dirty="0">
                <a:latin typeface="Bookman Old Style" panose="02050604050505020204" pitchFamily="18" charset="0"/>
              </a:rPr>
              <a:t> </a:t>
            </a:r>
            <a:r>
              <a:rPr spc="315" dirty="0">
                <a:latin typeface="Bookman Old Style" panose="02050604050505020204" pitchFamily="18" charset="0"/>
              </a:rPr>
              <a:t>qué</a:t>
            </a:r>
            <a:r>
              <a:rPr spc="645" dirty="0">
                <a:latin typeface="Bookman Old Style" panose="02050604050505020204" pitchFamily="18" charset="0"/>
              </a:rPr>
              <a:t> </a:t>
            </a:r>
            <a:r>
              <a:rPr spc="315" dirty="0">
                <a:latin typeface="Bookman Old Style" panose="02050604050505020204" pitchFamily="18" charset="0"/>
              </a:rPr>
              <a:t>BiViR@?</a:t>
            </a:r>
          </a:p>
        </p:txBody>
      </p:sp>
      <p:grpSp>
        <p:nvGrpSpPr>
          <p:cNvPr id="23" name="object 23"/>
          <p:cNvGrpSpPr>
            <a:grpSpLocks/>
          </p:cNvGrpSpPr>
          <p:nvPr/>
        </p:nvGrpSpPr>
        <p:grpSpPr>
          <a:xfrm>
            <a:off x="522731" y="512064"/>
            <a:ext cx="9638030" cy="755015"/>
            <a:chOff x="522731" y="512064"/>
            <a:chExt cx="9638030" cy="755015"/>
          </a:xfrm>
        </p:grpSpPr>
        <p:sp>
          <p:nvSpPr>
            <p:cNvPr id="24" name="object 24"/>
            <p:cNvSpPr>
              <a:spLocks/>
            </p:cNvSpPr>
            <p:nvPr/>
          </p:nvSpPr>
          <p:spPr>
            <a:xfrm>
              <a:off x="522732" y="512063"/>
              <a:ext cx="9638030" cy="755015"/>
            </a:xfrm>
            <a:custGeom>
              <a:avLst/>
              <a:gdLst/>
              <a:ahLst/>
              <a:cxnLst/>
              <a:rect l="l" t="t" r="r" b="b"/>
              <a:pathLst>
                <a:path w="9638030" h="755015">
                  <a:moveTo>
                    <a:pt x="9637776" y="745490"/>
                  </a:moveTo>
                  <a:lnTo>
                    <a:pt x="0" y="745490"/>
                  </a:lnTo>
                  <a:lnTo>
                    <a:pt x="0" y="754634"/>
                  </a:lnTo>
                  <a:lnTo>
                    <a:pt x="9637776" y="754634"/>
                  </a:lnTo>
                  <a:lnTo>
                    <a:pt x="9637776" y="745490"/>
                  </a:lnTo>
                  <a:close/>
                </a:path>
                <a:path w="9638030" h="755015">
                  <a:moveTo>
                    <a:pt x="963777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37776" y="9144"/>
                  </a:lnTo>
                  <a:lnTo>
                    <a:pt x="9637776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>
              <a:picLocks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40179" y="561975"/>
              <a:ext cx="690466" cy="66167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575687" y="1339618"/>
            <a:ext cx="553211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5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“Un</a:t>
            </a:r>
            <a:r>
              <a:rPr sz="2000" i="1" spc="1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problema</a:t>
            </a:r>
            <a:r>
              <a:rPr sz="2000" i="1" spc="15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3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que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8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viví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como</a:t>
            </a:r>
            <a:r>
              <a:rPr sz="2000" i="1" spc="16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2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estudiante”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0" name="Vista general de diapositiva 159">
                <a:extLst>
                  <a:ext uri="{FF2B5EF4-FFF2-40B4-BE49-F238E27FC236}">
                    <a16:creationId xmlns:a16="http://schemas.microsoft.com/office/drawing/2014/main" id="{7CE0AD53-9BCB-1A1F-682E-AD232954B5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14294623"/>
                  </p:ext>
                </p:extLst>
              </p:nvPr>
            </p:nvGraphicFramePr>
            <p:xfrm>
              <a:off x="7718965" y="2721488"/>
              <a:ext cx="97500" cy="68956"/>
            </p:xfrm>
            <a:graphic>
              <a:graphicData uri="http://schemas.microsoft.com/office/powerpoint/2016/slidezoom">
                <pslz:sldZm>
                  <pslz:sldZmObj sldId="259" cId="0">
                    <pslz:zmPr id="{DC3AEE49-E7AE-4C88-A8F9-3BFA8BCBF20F}" returnToParent="0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7500" cy="6895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0" name="Vista general de diapositiva 159">
                <a:extLst>
                  <a:ext uri="{FF2B5EF4-FFF2-40B4-BE49-F238E27FC236}">
                    <a16:creationId xmlns:a16="http://schemas.microsoft.com/office/drawing/2014/main" id="{7CE0AD53-9BCB-1A1F-682E-AD232954B5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18965" y="2721488"/>
                <a:ext cx="97500" cy="68956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811" y="623697"/>
            <a:ext cx="508494" cy="5434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596059" y="570865"/>
            <a:ext cx="1483360" cy="661670"/>
            <a:chOff x="8596059" y="570865"/>
            <a:chExt cx="1483360" cy="6616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6059" y="570865"/>
              <a:ext cx="690466" cy="6616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8935" y="625983"/>
              <a:ext cx="820420" cy="56832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9182" y="578866"/>
            <a:ext cx="64550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pc="285" dirty="0">
                <a:latin typeface="Bookman Old Style" panose="02050604050505020204" pitchFamily="18" charset="0"/>
              </a:rPr>
              <a:t>BiViR@</a:t>
            </a:r>
            <a:r>
              <a:rPr spc="675" dirty="0">
                <a:latin typeface="Bookman Old Style" panose="02050604050505020204" pitchFamily="18" charset="0"/>
              </a:rPr>
              <a:t> </a:t>
            </a:r>
            <a:r>
              <a:rPr lang="es-ES" spc="675" dirty="0">
                <a:latin typeface="Bookman Old Style" panose="02050604050505020204" pitchFamily="18" charset="0"/>
              </a:rPr>
              <a:t>· L</a:t>
            </a:r>
            <a:r>
              <a:rPr spc="335" dirty="0">
                <a:latin typeface="Bookman Old Style" panose="02050604050505020204" pitchFamily="18" charset="0"/>
              </a:rPr>
              <a:t>a</a:t>
            </a:r>
            <a:r>
              <a:rPr spc="655" dirty="0">
                <a:latin typeface="Bookman Old Style" panose="02050604050505020204" pitchFamily="18" charset="0"/>
              </a:rPr>
              <a:t> </a:t>
            </a:r>
            <a:r>
              <a:rPr spc="335" dirty="0">
                <a:latin typeface="Bookman Old Style" panose="02050604050505020204" pitchFamily="18" charset="0"/>
              </a:rPr>
              <a:t>propuesta</a:t>
            </a:r>
          </a:p>
        </p:txBody>
      </p:sp>
      <p:sp>
        <p:nvSpPr>
          <p:cNvPr id="7" name="object 7"/>
          <p:cNvSpPr/>
          <p:nvPr/>
        </p:nvSpPr>
        <p:spPr>
          <a:xfrm>
            <a:off x="522731" y="510540"/>
            <a:ext cx="9638030" cy="9525"/>
          </a:xfrm>
          <a:custGeom>
            <a:avLst/>
            <a:gdLst/>
            <a:ahLst/>
            <a:cxnLst/>
            <a:rect l="l" t="t" r="r" b="b"/>
            <a:pathLst>
              <a:path w="9638030" h="9525">
                <a:moveTo>
                  <a:pt x="9637776" y="0"/>
                </a:moveTo>
                <a:lnTo>
                  <a:pt x="0" y="0"/>
                </a:lnTo>
                <a:lnTo>
                  <a:pt x="0" y="9144"/>
                </a:lnTo>
                <a:lnTo>
                  <a:pt x="9637776" y="9144"/>
                </a:lnTo>
                <a:lnTo>
                  <a:pt x="9637776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2731" y="1288034"/>
            <a:ext cx="9638030" cy="9525"/>
          </a:xfrm>
          <a:custGeom>
            <a:avLst/>
            <a:gdLst/>
            <a:ahLst/>
            <a:cxnLst/>
            <a:rect l="l" t="t" r="r" b="b"/>
            <a:pathLst>
              <a:path w="9638030" h="9525">
                <a:moveTo>
                  <a:pt x="9637776" y="0"/>
                </a:moveTo>
                <a:lnTo>
                  <a:pt x="0" y="0"/>
                </a:lnTo>
                <a:lnTo>
                  <a:pt x="0" y="9143"/>
                </a:lnTo>
                <a:lnTo>
                  <a:pt x="9637776" y="9143"/>
                </a:lnTo>
                <a:lnTo>
                  <a:pt x="9637776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27987" y="2346945"/>
            <a:ext cx="1950085" cy="3777883"/>
            <a:chOff x="927987" y="2346945"/>
            <a:chExt cx="1950085" cy="3777883"/>
          </a:xfrm>
        </p:grpSpPr>
        <p:sp>
          <p:nvSpPr>
            <p:cNvPr id="10" name="object 10"/>
            <p:cNvSpPr/>
            <p:nvPr/>
          </p:nvSpPr>
          <p:spPr>
            <a:xfrm>
              <a:off x="927988" y="2614549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h="3510279">
                  <a:moveTo>
                    <a:pt x="0" y="0"/>
                  </a:moveTo>
                  <a:lnTo>
                    <a:pt x="0" y="3510153"/>
                  </a:lnTo>
                </a:path>
              </a:pathLst>
            </a:custGeom>
            <a:ln w="12700">
              <a:solidFill>
                <a:srgbClr val="2AA3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263" y="2750528"/>
              <a:ext cx="1832662" cy="1376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7987" y="2346945"/>
              <a:ext cx="1950085" cy="2744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28775" y="4305427"/>
            <a:ext cx="1654810" cy="155722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17780" algn="ctr">
              <a:lnSpc>
                <a:spcPct val="88000"/>
              </a:lnSpc>
              <a:spcBef>
                <a:spcPts val="315"/>
              </a:spcBef>
            </a:pPr>
            <a:r>
              <a:rPr sz="1400" dirty="0">
                <a:latin typeface="Rockwell" panose="02060603020205020403" pitchFamily="18" charset="0"/>
                <a:cs typeface="Cambria"/>
              </a:rPr>
              <a:t>Alumnos</a:t>
            </a:r>
            <a:r>
              <a:rPr sz="1400" spc="1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105" dirty="0">
                <a:latin typeface="Rockwell" panose="02060603020205020403" pitchFamily="18" charset="0"/>
                <a:cs typeface="Cambria"/>
              </a:rPr>
              <a:t>de</a:t>
            </a:r>
            <a:r>
              <a:rPr sz="1400" spc="1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latin typeface="Rockwell" panose="02060603020205020403" pitchFamily="18" charset="0"/>
                <a:cs typeface="Cambria"/>
              </a:rPr>
              <a:t>FP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Educastur 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comparten</a:t>
            </a:r>
            <a:r>
              <a:rPr sz="1400" spc="7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y </a:t>
            </a:r>
            <a:r>
              <a:rPr sz="1400" dirty="0">
                <a:latin typeface="Rockwell" panose="02060603020205020403" pitchFamily="18" charset="0"/>
                <a:cs typeface="Cambria"/>
              </a:rPr>
              <a:t>consultan</a:t>
            </a:r>
            <a:r>
              <a:rPr sz="1400" spc="2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apuntes, 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ejercicios</a:t>
            </a:r>
            <a:r>
              <a:rPr sz="1400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y </a:t>
            </a:r>
            <a:r>
              <a:rPr sz="1400" spc="35" dirty="0">
                <a:latin typeface="Rockwell" panose="02060603020205020403" pitchFamily="18" charset="0"/>
                <a:cs typeface="Cambria"/>
              </a:rPr>
              <a:t>presentaciones </a:t>
            </a:r>
            <a:r>
              <a:rPr sz="1400" spc="10" dirty="0">
                <a:latin typeface="Rockwell" panose="02060603020205020403" pitchFamily="18" charset="0"/>
                <a:cs typeface="Cambria"/>
              </a:rPr>
              <a:t>organizados</a:t>
            </a:r>
            <a:r>
              <a:rPr sz="1400" spc="39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latin typeface="Rockwell" panose="02060603020205020403" pitchFamily="18" charset="0"/>
                <a:cs typeface="Cambria"/>
              </a:rPr>
              <a:t>por </a:t>
            </a:r>
            <a:r>
              <a:rPr sz="1400" spc="60" dirty="0">
                <a:latin typeface="Rockwell" panose="02060603020205020403" pitchFamily="18" charset="0"/>
                <a:cs typeface="Cambria"/>
              </a:rPr>
              <a:t>ciclo</a:t>
            </a:r>
            <a:r>
              <a:rPr sz="1400" spc="7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formativo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7988" y="2348977"/>
            <a:ext cx="1950084" cy="274434"/>
          </a:xfrm>
          <a:prstGeom prst="rect">
            <a:avLst/>
          </a:prstGeom>
          <a:ln w="12700">
            <a:solidFill>
              <a:srgbClr val="2AA3AC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700"/>
              </a:spcBef>
            </a:pPr>
            <a:r>
              <a:rPr sz="1200" dirty="0">
                <a:latin typeface="Rockwell" panose="02060603020205020403" pitchFamily="18" charset="0"/>
                <a:cs typeface="Cambria"/>
              </a:rPr>
              <a:t>Repositorio</a:t>
            </a:r>
            <a:r>
              <a:rPr sz="1200" spc="33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Colaborativo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11702" y="2255402"/>
            <a:ext cx="1950085" cy="3869425"/>
            <a:chOff x="3211702" y="2245930"/>
            <a:chExt cx="1950085" cy="3878898"/>
          </a:xfrm>
        </p:grpSpPr>
        <p:sp>
          <p:nvSpPr>
            <p:cNvPr id="16" name="object 16"/>
            <p:cNvSpPr/>
            <p:nvPr/>
          </p:nvSpPr>
          <p:spPr>
            <a:xfrm>
              <a:off x="3211702" y="2614549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h="3510279">
                  <a:moveTo>
                    <a:pt x="0" y="0"/>
                  </a:moveTo>
                  <a:lnTo>
                    <a:pt x="0" y="3510153"/>
                  </a:lnTo>
                </a:path>
              </a:pathLst>
            </a:custGeom>
            <a:ln w="12700">
              <a:solidFill>
                <a:srgbClr val="82B3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1702" y="2245930"/>
              <a:ext cx="1950085" cy="368617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26708" y="2680624"/>
            <a:ext cx="1741485" cy="154471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390138" y="4305427"/>
            <a:ext cx="1682750" cy="146668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270" algn="ctr">
              <a:lnSpc>
                <a:spcPts val="1580"/>
              </a:lnSpc>
              <a:spcBef>
                <a:spcPts val="335"/>
              </a:spcBef>
            </a:pPr>
            <a:r>
              <a:rPr sz="1400" dirty="0">
                <a:latin typeface="Rockwell" panose="02060603020205020403" pitchFamily="18" charset="0"/>
                <a:cs typeface="Cambria"/>
              </a:rPr>
              <a:t>Sin</a:t>
            </a:r>
            <a:r>
              <a:rPr sz="1400" spc="10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60" dirty="0">
                <a:latin typeface="Rockwell" panose="02060603020205020403" pitchFamily="18" charset="0"/>
                <a:cs typeface="Cambria"/>
              </a:rPr>
              <a:t>modelo</a:t>
            </a:r>
            <a:r>
              <a:rPr sz="14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compraventa.</a:t>
            </a:r>
            <a:r>
              <a:rPr sz="1400" spc="-9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0" dirty="0">
                <a:latin typeface="Rockwell" panose="02060603020205020403" pitchFamily="18" charset="0"/>
                <a:cs typeface="Cambria"/>
              </a:rPr>
              <a:t>Todo </a:t>
            </a:r>
            <a:r>
              <a:rPr sz="1400" spc="65" dirty="0">
                <a:latin typeface="Rockwell" panose="02060603020205020403" pitchFamily="18" charset="0"/>
                <a:cs typeface="Cambria"/>
              </a:rPr>
              <a:t>el</a:t>
            </a:r>
            <a:r>
              <a:rPr sz="1400" spc="14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latin typeface="Rockwell" panose="02060603020205020403" pitchFamily="18" charset="0"/>
                <a:cs typeface="Cambria"/>
              </a:rPr>
              <a:t>Stack</a:t>
            </a:r>
            <a:r>
              <a:rPr sz="14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50" dirty="0">
                <a:latin typeface="Rockwell" panose="02060603020205020403" pitchFamily="18" charset="0"/>
                <a:cs typeface="Cambria"/>
              </a:rPr>
              <a:t>(Moodle, </a:t>
            </a:r>
            <a:r>
              <a:rPr sz="1400" spc="65" dirty="0">
                <a:latin typeface="Rockwell" panose="02060603020205020403" pitchFamily="18" charset="0"/>
                <a:cs typeface="Cambria"/>
              </a:rPr>
              <a:t>Docker,</a:t>
            </a:r>
            <a:r>
              <a:rPr sz="1400" spc="-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MariaDB) </a:t>
            </a:r>
            <a:r>
              <a:rPr sz="1400" spc="75" dirty="0">
                <a:latin typeface="Rockwell" panose="02060603020205020403" pitchFamily="18" charset="0"/>
                <a:cs typeface="Cambria"/>
              </a:rPr>
              <a:t>es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5" dirty="0">
                <a:latin typeface="Rockwell" panose="02060603020205020403" pitchFamily="18" charset="0"/>
                <a:cs typeface="Cambria"/>
              </a:rPr>
              <a:t>código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abierto.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algn="ctr">
              <a:lnSpc>
                <a:spcPts val="1475"/>
              </a:lnSpc>
            </a:pPr>
            <a:r>
              <a:rPr sz="1400" spc="85" dirty="0">
                <a:latin typeface="Rockwell" panose="02060603020205020403" pitchFamily="18" charset="0"/>
                <a:cs typeface="Cambria"/>
              </a:rPr>
              <a:t>Coste</a:t>
            </a:r>
            <a:r>
              <a:rPr sz="1400" spc="3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905" algn="ctr">
              <a:lnSpc>
                <a:spcPts val="1689"/>
              </a:lnSpc>
            </a:pPr>
            <a:r>
              <a:rPr sz="1400" spc="10" dirty="0">
                <a:latin typeface="Rockwell" panose="02060603020205020403" pitchFamily="18" charset="0"/>
                <a:cs typeface="Cambria"/>
              </a:rPr>
              <a:t>infraestructura:</a:t>
            </a:r>
            <a:r>
              <a:rPr sz="1400" spc="3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latin typeface="Rockwell" panose="02060603020205020403" pitchFamily="18" charset="0"/>
                <a:cs typeface="Cambria"/>
              </a:rPr>
              <a:t>0€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11701" y="2249063"/>
            <a:ext cx="1950085" cy="365485"/>
          </a:xfrm>
          <a:prstGeom prst="rect">
            <a:avLst/>
          </a:prstGeom>
          <a:ln w="12700">
            <a:solidFill>
              <a:srgbClr val="82B32C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92480" marR="80010" indent="-704215">
              <a:lnSpc>
                <a:spcPts val="1270"/>
              </a:lnSpc>
              <a:spcBef>
                <a:spcPts val="250"/>
              </a:spcBef>
            </a:pPr>
            <a:r>
              <a:rPr sz="1050" dirty="0">
                <a:latin typeface="Rockwell" panose="02060603020205020403" pitchFamily="18" charset="0"/>
                <a:cs typeface="Cambria"/>
              </a:rPr>
              <a:t>100</a:t>
            </a:r>
            <a:r>
              <a:rPr sz="105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95" dirty="0">
                <a:latin typeface="Rockwell" panose="02060603020205020403" pitchFamily="18" charset="0"/>
                <a:cs typeface="Cambria"/>
              </a:rPr>
              <a:t>%</a:t>
            </a:r>
            <a:r>
              <a:rPr sz="105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dirty="0" err="1">
                <a:latin typeface="Rockwell" panose="02060603020205020403" pitchFamily="18" charset="0"/>
                <a:cs typeface="Cambria"/>
              </a:rPr>
              <a:t>Gratuito</a:t>
            </a:r>
            <a:r>
              <a:rPr sz="1050" spc="80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-10" dirty="0">
                <a:latin typeface="Rockwell" panose="02060603020205020403" pitchFamily="18" charset="0"/>
                <a:cs typeface="Cambria"/>
              </a:rPr>
              <a:t>Software </a:t>
            </a:r>
            <a:r>
              <a:rPr sz="1050" spc="-20" dirty="0">
                <a:latin typeface="Rockwell" panose="02060603020205020403" pitchFamily="18" charset="0"/>
                <a:cs typeface="Cambria"/>
              </a:rPr>
              <a:t>Libre</a:t>
            </a:r>
            <a:endParaRPr sz="105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83261" y="2340112"/>
            <a:ext cx="1950085" cy="3784716"/>
            <a:chOff x="5495416" y="2340112"/>
            <a:chExt cx="1950085" cy="3784716"/>
          </a:xfrm>
        </p:grpSpPr>
        <p:sp>
          <p:nvSpPr>
            <p:cNvPr id="22" name="object 22"/>
            <p:cNvSpPr/>
            <p:nvPr/>
          </p:nvSpPr>
          <p:spPr>
            <a:xfrm>
              <a:off x="5495416" y="2614549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h="3510279">
                  <a:moveTo>
                    <a:pt x="0" y="0"/>
                  </a:moveTo>
                  <a:lnTo>
                    <a:pt x="0" y="3510153"/>
                  </a:lnTo>
                </a:path>
              </a:pathLst>
            </a:custGeom>
            <a:ln w="12700">
              <a:solidFill>
                <a:srgbClr val="5DA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5416" y="2340112"/>
              <a:ext cx="1950085" cy="274435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98388" y="2727960"/>
            <a:ext cx="1437223" cy="152957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640451" y="4305427"/>
            <a:ext cx="1749425" cy="155722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88000"/>
              </a:lnSpc>
              <a:spcBef>
                <a:spcPts val="315"/>
              </a:spcBef>
            </a:pPr>
            <a:r>
              <a:rPr sz="1400" dirty="0">
                <a:latin typeface="Rockwell" panose="02060603020205020403" pitchFamily="18" charset="0"/>
                <a:cs typeface="Cambria"/>
              </a:rPr>
              <a:t>Supera</a:t>
            </a:r>
            <a:r>
              <a:rPr sz="1400" spc="22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latin typeface="Rockwell" panose="02060603020205020403" pitchFamily="18" charset="0"/>
                <a:cs typeface="Cambria"/>
              </a:rPr>
              <a:t>la</a:t>
            </a:r>
            <a:r>
              <a:rPr sz="1400" spc="22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limitación </a:t>
            </a:r>
            <a:r>
              <a:rPr sz="1400" spc="75" dirty="0">
                <a:latin typeface="Rockwell" panose="02060603020205020403" pitchFamily="18" charset="0"/>
                <a:cs typeface="Cambria"/>
              </a:rPr>
              <a:t>del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60" dirty="0">
                <a:latin typeface="Rockwell" panose="02060603020205020403" pitchFamily="18" charset="0"/>
                <a:cs typeface="Cambria"/>
              </a:rPr>
              <a:t>Moodle </a:t>
            </a:r>
            <a:r>
              <a:rPr sz="1400" dirty="0">
                <a:latin typeface="Rockwell" panose="02060603020205020403" pitchFamily="18" charset="0"/>
                <a:cs typeface="Cambria"/>
              </a:rPr>
              <a:t>intitucional:</a:t>
            </a:r>
            <a:r>
              <a:rPr sz="1400" spc="19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65" dirty="0">
                <a:latin typeface="Rockwell" panose="02060603020205020403" pitchFamily="18" charset="0"/>
                <a:cs typeface="Cambria"/>
              </a:rPr>
              <a:t>acceso </a:t>
            </a:r>
            <a:r>
              <a:rPr sz="1400" dirty="0">
                <a:latin typeface="Rockwell" panose="02060603020205020403" pitchFamily="18" charset="0"/>
                <a:cs typeface="Cambria"/>
              </a:rPr>
              <a:t>entre</a:t>
            </a:r>
            <a:r>
              <a:rPr sz="1400" spc="9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ciclos</a:t>
            </a:r>
            <a:r>
              <a:rPr sz="1400" spc="12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y </a:t>
            </a:r>
            <a:r>
              <a:rPr sz="1400" dirty="0">
                <a:latin typeface="Rockwell" panose="02060603020205020403" pitchFamily="18" charset="0"/>
                <a:cs typeface="Cambria"/>
              </a:rPr>
              <a:t>centros</a:t>
            </a:r>
            <a:r>
              <a:rPr sz="1400" spc="22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latin typeface="Rockwell" panose="02060603020205020403" pitchFamily="18" charset="0"/>
                <a:cs typeface="Cambria"/>
              </a:rPr>
              <a:t>sin </a:t>
            </a:r>
            <a:r>
              <a:rPr sz="1400" spc="70" dirty="0">
                <a:latin typeface="Rockwell" panose="02060603020205020403" pitchFamily="18" charset="0"/>
                <a:cs typeface="Cambria"/>
              </a:rPr>
              <a:t>necesidad</a:t>
            </a:r>
            <a:r>
              <a:rPr sz="14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matriculación 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docente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83260" y="2340114"/>
            <a:ext cx="1950085" cy="274434"/>
          </a:xfrm>
          <a:prstGeom prst="rect">
            <a:avLst/>
          </a:prstGeom>
          <a:ln w="12700">
            <a:solidFill>
              <a:srgbClr val="5DAE8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700"/>
              </a:spcBef>
            </a:pPr>
            <a:r>
              <a:rPr sz="1200" spc="70" dirty="0">
                <a:latin typeface="Rockwell" panose="02060603020205020403" pitchFamily="18" charset="0"/>
                <a:cs typeface="Cambria"/>
              </a:rPr>
              <a:t>Acceso</a:t>
            </a:r>
            <a:r>
              <a:rPr sz="120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Transversal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79131" y="2340112"/>
            <a:ext cx="1950084" cy="3784716"/>
            <a:chOff x="7779131" y="2340112"/>
            <a:chExt cx="1950084" cy="3784716"/>
          </a:xfrm>
        </p:grpSpPr>
        <p:sp>
          <p:nvSpPr>
            <p:cNvPr id="28" name="object 28"/>
            <p:cNvSpPr/>
            <p:nvPr/>
          </p:nvSpPr>
          <p:spPr>
            <a:xfrm>
              <a:off x="7779131" y="2614549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h="3510279">
                  <a:moveTo>
                    <a:pt x="0" y="0"/>
                  </a:moveTo>
                  <a:lnTo>
                    <a:pt x="0" y="3510153"/>
                  </a:lnTo>
                </a:path>
              </a:pathLst>
            </a:custGeom>
            <a:ln w="12700">
              <a:solidFill>
                <a:srgbClr val="DD8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79131" y="2340112"/>
              <a:ext cx="1950084" cy="27443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961121" y="4305427"/>
            <a:ext cx="1678305" cy="147925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indent="-635" algn="ctr">
              <a:lnSpc>
                <a:spcPts val="1580"/>
              </a:lnSpc>
              <a:spcBef>
                <a:spcPts val="335"/>
              </a:spcBef>
            </a:pPr>
            <a:r>
              <a:rPr sz="1400" dirty="0">
                <a:latin typeface="Rockwell" panose="02060603020205020403" pitchFamily="18" charset="0"/>
                <a:cs typeface="Cambria"/>
              </a:rPr>
              <a:t>HTTPS,</a:t>
            </a:r>
            <a:r>
              <a:rPr sz="1400" spc="1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latin typeface="Rockwell" panose="02060603020205020403" pitchFamily="18" charset="0"/>
                <a:cs typeface="Cambria"/>
              </a:rPr>
              <a:t>sistema</a:t>
            </a:r>
            <a:r>
              <a:rPr sz="1400" spc="26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dirty="0">
                <a:latin typeface="Rockwell" panose="02060603020205020403" pitchFamily="18" charset="0"/>
                <a:cs typeface="Cambria"/>
              </a:rPr>
              <a:t>roles</a:t>
            </a:r>
            <a:r>
              <a:rPr sz="1400" spc="204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propio, </a:t>
            </a:r>
            <a:r>
              <a:rPr sz="1400" spc="10" dirty="0">
                <a:latin typeface="Rockwell" panose="02060603020205020403" pitchFamily="18" charset="0"/>
                <a:cs typeface="Cambria"/>
              </a:rPr>
              <a:t>confirmación</a:t>
            </a:r>
            <a:r>
              <a:rPr sz="1400" spc="41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spc="10" dirty="0">
                <a:latin typeface="Rockwell" panose="02060603020205020403" pitchFamily="18" charset="0"/>
                <a:cs typeface="Cambria"/>
              </a:rPr>
              <a:t>registro.</a:t>
            </a:r>
            <a:r>
              <a:rPr sz="1400" spc="10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Orientado </a:t>
            </a:r>
            <a:r>
              <a:rPr sz="1400" spc="50" dirty="0">
                <a:latin typeface="Rockwell" panose="02060603020205020403" pitchFamily="18" charset="0"/>
                <a:cs typeface="Cambria"/>
              </a:rPr>
              <a:t>a</a:t>
            </a:r>
            <a:r>
              <a:rPr sz="1400" spc="7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latin typeface="Rockwell" panose="02060603020205020403" pitchFamily="18" charset="0"/>
                <a:cs typeface="Cambria"/>
              </a:rPr>
              <a:t>la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comunidad educativa</a:t>
            </a:r>
            <a:r>
              <a:rPr sz="1400" spc="6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80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spc="-10" dirty="0">
                <a:latin typeface="Rockwell" panose="02060603020205020403" pitchFamily="18" charset="0"/>
                <a:cs typeface="Cambria"/>
              </a:rPr>
              <a:t>Educastur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79129" y="2340112"/>
            <a:ext cx="1950085" cy="274434"/>
          </a:xfrm>
          <a:prstGeom prst="rect">
            <a:avLst/>
          </a:prstGeom>
          <a:ln w="12700">
            <a:solidFill>
              <a:srgbClr val="DD8101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430530">
              <a:lnSpc>
                <a:spcPct val="100000"/>
              </a:lnSpc>
              <a:spcBef>
                <a:spcPts val="700"/>
              </a:spcBef>
            </a:pPr>
            <a:r>
              <a:rPr sz="1200" dirty="0">
                <a:latin typeface="Rockwell" panose="02060603020205020403" pitchFamily="18" charset="0"/>
                <a:cs typeface="Cambria"/>
              </a:rPr>
              <a:t>Entorno</a:t>
            </a:r>
            <a:r>
              <a:rPr sz="1200" spc="18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Seguro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C921EA4-1AA2-06AA-83A7-1CC6367616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471" y="2414711"/>
            <a:ext cx="2047748" cy="2047748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9DADC3FB-1889-C64C-D36F-3F28A09FE1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9244778"/>
                  </p:ext>
                </p:extLst>
              </p:nvPr>
            </p:nvGraphicFramePr>
            <p:xfrm rot="16200000">
              <a:off x="9542431" y="1011046"/>
              <a:ext cx="148443" cy="104986"/>
            </p:xfrm>
            <a:graphic>
              <a:graphicData uri="http://schemas.microsoft.com/office/powerpoint/2016/slidezoom">
                <pslz:sldZm>
                  <pslz:sldZmObj sldId="260" cId="0">
                    <pslz:zmPr id="{5B4A0406-6F93-4AAC-9DB4-7F728EB44858}" returnToParent="0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0">
                          <a:off x="0" y="0"/>
                          <a:ext cx="148443" cy="10498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8" name="Vista general de diapositiva 47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9DADC3FB-1889-C64C-D36F-3F28A09FE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6200000">
                <a:off x="9542431" y="1011046"/>
                <a:ext cx="148443" cy="104986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" y="5687060"/>
            <a:ext cx="243840" cy="228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43913" y="5608218"/>
            <a:ext cx="7799070" cy="10140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80"/>
              </a:spcBef>
            </a:pPr>
            <a:r>
              <a:rPr dirty="0">
                <a:latin typeface="Rockwell" panose="02060603020205020403" pitchFamily="18" charset="0"/>
                <a:cs typeface="Cambria"/>
              </a:rPr>
              <a:t>Anfitrión</a:t>
            </a:r>
            <a:r>
              <a:rPr spc="175" dirty="0">
                <a:latin typeface="Rockwell" panose="02060603020205020403" pitchFamily="18" charset="0"/>
                <a:cs typeface="Cambria"/>
              </a:rPr>
              <a:t> </a:t>
            </a:r>
            <a:r>
              <a:rPr spc="65" dirty="0">
                <a:latin typeface="Rockwell" panose="02060603020205020403" pitchFamily="18" charset="0"/>
                <a:cs typeface="Cambria"/>
              </a:rPr>
              <a:t>Windows</a:t>
            </a:r>
            <a:r>
              <a:rPr spc="185" dirty="0">
                <a:latin typeface="Rockwell" panose="02060603020205020403" pitchFamily="18" charset="0"/>
                <a:cs typeface="Cambria"/>
              </a:rPr>
              <a:t> </a:t>
            </a:r>
            <a:r>
              <a:rPr lang="es-ES" dirty="0">
                <a:latin typeface="Rockwell" panose="02060603020205020403" pitchFamily="18" charset="0"/>
                <a:cs typeface="Wingdings"/>
                <a:sym typeface="Wingdings" panose="05000000000000000000" pitchFamily="2" charset="2"/>
              </a:rPr>
              <a:t></a:t>
            </a:r>
            <a:r>
              <a:rPr spc="114" dirty="0">
                <a:latin typeface="Rockwell" panose="02060603020205020403" pitchFamily="18" charset="0"/>
                <a:cs typeface="Times New Roman"/>
              </a:rPr>
              <a:t> </a:t>
            </a:r>
            <a:r>
              <a:rPr spc="155" dirty="0">
                <a:latin typeface="Rockwell" panose="02060603020205020403" pitchFamily="18" charset="0"/>
                <a:cs typeface="Cambria"/>
              </a:rPr>
              <a:t>MV</a:t>
            </a:r>
            <a:r>
              <a:rPr spc="16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Ubuntu</a:t>
            </a:r>
            <a:r>
              <a:rPr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pc="75" dirty="0">
                <a:latin typeface="Rockwell" panose="02060603020205020403" pitchFamily="18" charset="0"/>
                <a:cs typeface="Cambria"/>
              </a:rPr>
              <a:t>Server</a:t>
            </a:r>
            <a:r>
              <a:rPr spc="17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(VirtualBox</a:t>
            </a:r>
            <a:r>
              <a:rPr spc="180" dirty="0">
                <a:latin typeface="Rockwell" panose="02060603020205020403" pitchFamily="18" charset="0"/>
                <a:cs typeface="Cambria"/>
              </a:rPr>
              <a:t> </a:t>
            </a:r>
            <a:r>
              <a:rPr spc="80" dirty="0">
                <a:latin typeface="Rockwell" panose="02060603020205020403" pitchFamily="18" charset="0"/>
                <a:cs typeface="Cambria"/>
              </a:rPr>
              <a:t>modo</a:t>
            </a:r>
            <a:r>
              <a:rPr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pc="-10" dirty="0">
                <a:latin typeface="Rockwell" panose="02060603020205020403" pitchFamily="18" charset="0"/>
                <a:cs typeface="Cambria"/>
              </a:rPr>
              <a:t>Puente) </a:t>
            </a:r>
            <a:r>
              <a:rPr spc="55" dirty="0">
                <a:latin typeface="Rockwell" panose="02060603020205020403" pitchFamily="18" charset="0"/>
                <a:cs typeface="Cambria"/>
              </a:rPr>
              <a:t>Dentro</a:t>
            </a:r>
            <a:r>
              <a:rPr spc="80" dirty="0">
                <a:latin typeface="Rockwell" panose="02060603020205020403" pitchFamily="18" charset="0"/>
                <a:cs typeface="Cambria"/>
              </a:rPr>
              <a:t> </a:t>
            </a:r>
            <a:r>
              <a:rPr spc="140" dirty="0">
                <a:latin typeface="Rockwell" panose="02060603020205020403" pitchFamily="18" charset="0"/>
                <a:cs typeface="Cambria"/>
              </a:rPr>
              <a:t>de</a:t>
            </a:r>
            <a:r>
              <a:rPr spc="75" dirty="0">
                <a:latin typeface="Rockwell" panose="02060603020205020403" pitchFamily="18" charset="0"/>
                <a:cs typeface="Cambria"/>
              </a:rPr>
              <a:t> </a:t>
            </a:r>
            <a:r>
              <a:rPr spc="60" dirty="0">
                <a:latin typeface="Rockwell" panose="02060603020205020403" pitchFamily="18" charset="0"/>
                <a:cs typeface="Cambria"/>
              </a:rPr>
              <a:t>la</a:t>
            </a:r>
            <a:r>
              <a:rPr spc="75" dirty="0">
                <a:latin typeface="Rockwell" panose="02060603020205020403" pitchFamily="18" charset="0"/>
                <a:cs typeface="Cambria"/>
              </a:rPr>
              <a:t> </a:t>
            </a:r>
            <a:r>
              <a:rPr spc="120" dirty="0">
                <a:latin typeface="Rockwell" panose="02060603020205020403" pitchFamily="18" charset="0"/>
                <a:cs typeface="Cambria"/>
              </a:rPr>
              <a:t>MV:</a:t>
            </a:r>
            <a:r>
              <a:rPr spc="80" dirty="0">
                <a:latin typeface="Rockwell" panose="02060603020205020403" pitchFamily="18" charset="0"/>
                <a:cs typeface="Cambria"/>
              </a:rPr>
              <a:t> </a:t>
            </a:r>
            <a:r>
              <a:rPr spc="100" dirty="0">
                <a:latin typeface="Rockwell" panose="02060603020205020403" pitchFamily="18" charset="0"/>
                <a:cs typeface="Cambria"/>
              </a:rPr>
              <a:t>Docker</a:t>
            </a:r>
            <a:r>
              <a:rPr spc="60" dirty="0">
                <a:latin typeface="Rockwell" panose="02060603020205020403" pitchFamily="18" charset="0"/>
                <a:cs typeface="Cambria"/>
              </a:rPr>
              <a:t> </a:t>
            </a:r>
            <a:r>
              <a:rPr spc="100" dirty="0">
                <a:latin typeface="Rockwell" panose="02060603020205020403" pitchFamily="18" charset="0"/>
                <a:cs typeface="Cambria"/>
              </a:rPr>
              <a:t>Engine</a:t>
            </a:r>
            <a:r>
              <a:rPr spc="65" dirty="0">
                <a:latin typeface="Rockwell" panose="02060603020205020403" pitchFamily="18" charset="0"/>
                <a:cs typeface="Cambria"/>
              </a:rPr>
              <a:t> </a:t>
            </a:r>
            <a:r>
              <a:rPr spc="85" dirty="0">
                <a:latin typeface="Rockwell" panose="02060603020205020403" pitchFamily="18" charset="0"/>
                <a:cs typeface="Cambria"/>
              </a:rPr>
              <a:t>con</a:t>
            </a:r>
            <a:r>
              <a:rPr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-10" dirty="0" err="1">
                <a:latin typeface="Consolas" panose="020B0609020204030204" pitchFamily="49" charset="0"/>
                <a:cs typeface="Consolas"/>
              </a:rPr>
              <a:t>Moodle_app</a:t>
            </a:r>
            <a:r>
              <a:rPr sz="1600" spc="-585" dirty="0">
                <a:latin typeface="Consolas" panose="020B0609020204030204" pitchFamily="49" charset="0"/>
                <a:cs typeface="Consolas"/>
              </a:rPr>
              <a:t> </a:t>
            </a:r>
            <a:r>
              <a:rPr lang="es-ES" sz="1600" spc="-585" dirty="0">
                <a:latin typeface="Consolas" panose="020B0609020204030204" pitchFamily="49" charset="0"/>
                <a:cs typeface="Consolas"/>
              </a:rPr>
              <a:t> </a:t>
            </a:r>
            <a:r>
              <a:rPr spc="220" dirty="0">
                <a:latin typeface="Rockwell" panose="02060603020205020403" pitchFamily="18" charset="0"/>
                <a:cs typeface="Cambria"/>
              </a:rPr>
              <a:t>+</a:t>
            </a:r>
            <a:r>
              <a:rPr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-10" dirty="0" err="1">
                <a:latin typeface="Consolas" panose="020B0609020204030204" pitchFamily="49" charset="0"/>
                <a:cs typeface="Consolas"/>
              </a:rPr>
              <a:t>Moodle_db</a:t>
            </a:r>
            <a:r>
              <a:rPr sz="1600" spc="-10" dirty="0">
                <a:latin typeface="Consolas" panose="020B0609020204030204" pitchFamily="49" charset="0"/>
                <a:cs typeface="Consolas"/>
              </a:rPr>
              <a:t> </a:t>
            </a:r>
            <a:endParaRPr lang="es-ES" sz="1600" spc="-10" dirty="0">
              <a:latin typeface="Consolas" panose="020B0609020204030204" pitchFamily="49" charset="0"/>
              <a:cs typeface="Consolas"/>
            </a:endParaRPr>
          </a:p>
          <a:p>
            <a:pPr marL="12700" marR="5080">
              <a:lnSpc>
                <a:spcPct val="123200"/>
              </a:lnSpc>
              <a:spcBef>
                <a:spcPts val="80"/>
              </a:spcBef>
            </a:pPr>
            <a:r>
              <a:rPr dirty="0" err="1">
                <a:latin typeface="Rockwell" panose="02060603020205020403" pitchFamily="18" charset="0"/>
                <a:cs typeface="Cambria"/>
              </a:rPr>
              <a:t>Puertos</a:t>
            </a:r>
            <a:r>
              <a:rPr dirty="0">
                <a:latin typeface="Rockwell" panose="02060603020205020403" pitchFamily="18" charset="0"/>
                <a:cs typeface="Cambria"/>
              </a:rPr>
              <a:t>:</a:t>
            </a:r>
            <a:r>
              <a:rPr spc="10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8080</a:t>
            </a:r>
            <a:r>
              <a:rPr spc="2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HTTP</a:t>
            </a:r>
            <a:r>
              <a:rPr spc="2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/</a:t>
            </a:r>
            <a:r>
              <a:rPr spc="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8443</a:t>
            </a:r>
            <a:r>
              <a:rPr spc="2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HTTPS</a:t>
            </a:r>
            <a:r>
              <a:rPr spc="30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/</a:t>
            </a:r>
            <a:r>
              <a:rPr spc="5" dirty="0">
                <a:latin typeface="Rockwell" panose="02060603020205020403" pitchFamily="18" charset="0"/>
                <a:cs typeface="Cambria"/>
              </a:rPr>
              <a:t> </a:t>
            </a:r>
            <a:r>
              <a:rPr dirty="0">
                <a:latin typeface="Rockwell" panose="02060603020205020403" pitchFamily="18" charset="0"/>
                <a:cs typeface="Cambria"/>
              </a:rPr>
              <a:t>22</a:t>
            </a:r>
            <a:r>
              <a:rPr spc="20" dirty="0">
                <a:latin typeface="Rockwell" panose="02060603020205020403" pitchFamily="18" charset="0"/>
                <a:cs typeface="Cambria"/>
              </a:rPr>
              <a:t> </a:t>
            </a:r>
            <a:r>
              <a:rPr spc="30" dirty="0">
                <a:latin typeface="Rockwell" panose="02060603020205020403" pitchFamily="18" charset="0"/>
                <a:cs typeface="Cambria"/>
              </a:rPr>
              <a:t>SSH</a:t>
            </a:r>
            <a:endParaRPr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" y="6000948"/>
            <a:ext cx="24384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" y="6326764"/>
            <a:ext cx="243840" cy="2286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35506" y="578866"/>
            <a:ext cx="680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pc="335" dirty="0">
                <a:latin typeface="Bookman Old Style" panose="02050604050505020204" pitchFamily="18" charset="0"/>
              </a:rPr>
              <a:t>Arquitectura</a:t>
            </a:r>
            <a:r>
              <a:rPr spc="655" dirty="0">
                <a:latin typeface="Bookman Old Style" panose="02050604050505020204" pitchFamily="18" charset="0"/>
              </a:rPr>
              <a:t> </a:t>
            </a:r>
            <a:r>
              <a:rPr spc="235" dirty="0">
                <a:latin typeface="Bookman Old Style" panose="02050604050505020204" pitchFamily="18" charset="0"/>
              </a:rPr>
              <a:t>del</a:t>
            </a:r>
            <a:r>
              <a:rPr spc="655" dirty="0">
                <a:latin typeface="Bookman Old Style" panose="02050604050505020204" pitchFamily="18" charset="0"/>
              </a:rPr>
              <a:t> </a:t>
            </a:r>
            <a:r>
              <a:rPr spc="380" dirty="0">
                <a:latin typeface="Bookman Old Style" panose="02050604050505020204" pitchFamily="18" charset="0"/>
              </a:rPr>
              <a:t>Sistema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891" y="596519"/>
            <a:ext cx="508494" cy="5434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33400" y="505968"/>
            <a:ext cx="9627235" cy="755015"/>
            <a:chOff x="533400" y="505968"/>
            <a:chExt cx="9627235" cy="755015"/>
          </a:xfrm>
        </p:grpSpPr>
        <p:sp>
          <p:nvSpPr>
            <p:cNvPr id="9" name="object 9"/>
            <p:cNvSpPr/>
            <p:nvPr/>
          </p:nvSpPr>
          <p:spPr>
            <a:xfrm>
              <a:off x="533400" y="505967"/>
              <a:ext cx="9627235" cy="755015"/>
            </a:xfrm>
            <a:custGeom>
              <a:avLst/>
              <a:gdLst/>
              <a:ahLst/>
              <a:cxnLst/>
              <a:rect l="l" t="t" r="r" b="b"/>
              <a:pathLst>
                <a:path w="9627235" h="755015">
                  <a:moveTo>
                    <a:pt x="9627108" y="745490"/>
                  </a:moveTo>
                  <a:lnTo>
                    <a:pt x="0" y="745490"/>
                  </a:lnTo>
                  <a:lnTo>
                    <a:pt x="0" y="754634"/>
                  </a:lnTo>
                  <a:lnTo>
                    <a:pt x="9627108" y="754634"/>
                  </a:lnTo>
                  <a:lnTo>
                    <a:pt x="9627108" y="745490"/>
                  </a:lnTo>
                  <a:close/>
                </a:path>
                <a:path w="9627235" h="755015">
                  <a:moveTo>
                    <a:pt x="962710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7108" y="9144"/>
                  </a:lnTo>
                  <a:lnTo>
                    <a:pt x="9627108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0193" y="551180"/>
              <a:ext cx="690466" cy="6616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2275" y="586613"/>
              <a:ext cx="820420" cy="56832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7919" y="2057019"/>
            <a:ext cx="5715110" cy="312857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855722" y="1908709"/>
            <a:ext cx="1397000" cy="36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1135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Red</a:t>
            </a:r>
            <a:r>
              <a:rPr sz="1000" b="1" spc="-30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interna</a:t>
            </a:r>
            <a:r>
              <a:rPr sz="1000" b="1" spc="-30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000" b="1" spc="-10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Docker 172.18.0.0/16</a:t>
            </a:r>
            <a:endParaRPr sz="1000" dirty="0">
              <a:solidFill>
                <a:schemeClr val="accent2">
                  <a:lumMod val="20000"/>
                  <a:lumOff val="8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72639" y="1917446"/>
            <a:ext cx="2807970" cy="3649345"/>
          </a:xfrm>
          <a:custGeom>
            <a:avLst/>
            <a:gdLst/>
            <a:ahLst/>
            <a:cxnLst/>
            <a:rect l="l" t="t" r="r" b="b"/>
            <a:pathLst>
              <a:path w="2807970" h="3649345">
                <a:moveTo>
                  <a:pt x="0" y="467994"/>
                </a:moveTo>
                <a:lnTo>
                  <a:pt x="2416" y="420127"/>
                </a:lnTo>
                <a:lnTo>
                  <a:pt x="9508" y="373647"/>
                </a:lnTo>
                <a:lnTo>
                  <a:pt x="21041" y="328788"/>
                </a:lnTo>
                <a:lnTo>
                  <a:pt x="36780" y="285785"/>
                </a:lnTo>
                <a:lnTo>
                  <a:pt x="56488" y="244874"/>
                </a:lnTo>
                <a:lnTo>
                  <a:pt x="79931" y="206288"/>
                </a:lnTo>
                <a:lnTo>
                  <a:pt x="106874" y="170262"/>
                </a:lnTo>
                <a:lnTo>
                  <a:pt x="137080" y="137032"/>
                </a:lnTo>
                <a:lnTo>
                  <a:pt x="170315" y="106833"/>
                </a:lnTo>
                <a:lnTo>
                  <a:pt x="206343" y="79898"/>
                </a:lnTo>
                <a:lnTo>
                  <a:pt x="244930" y="56463"/>
                </a:lnTo>
                <a:lnTo>
                  <a:pt x="285839" y="36762"/>
                </a:lnTo>
                <a:lnTo>
                  <a:pt x="328835" y="21031"/>
                </a:lnTo>
                <a:lnTo>
                  <a:pt x="373683" y="9503"/>
                </a:lnTo>
                <a:lnTo>
                  <a:pt x="420148" y="2415"/>
                </a:lnTo>
                <a:lnTo>
                  <a:pt x="467995" y="0"/>
                </a:lnTo>
                <a:lnTo>
                  <a:pt x="2339975" y="0"/>
                </a:lnTo>
                <a:lnTo>
                  <a:pt x="2387821" y="2415"/>
                </a:lnTo>
                <a:lnTo>
                  <a:pt x="2434286" y="9503"/>
                </a:lnTo>
                <a:lnTo>
                  <a:pt x="2479134" y="21031"/>
                </a:lnTo>
                <a:lnTo>
                  <a:pt x="2522130" y="36762"/>
                </a:lnTo>
                <a:lnTo>
                  <a:pt x="2563039" y="56463"/>
                </a:lnTo>
                <a:lnTo>
                  <a:pt x="2601626" y="79898"/>
                </a:lnTo>
                <a:lnTo>
                  <a:pt x="2637654" y="106833"/>
                </a:lnTo>
                <a:lnTo>
                  <a:pt x="2670889" y="137032"/>
                </a:lnTo>
                <a:lnTo>
                  <a:pt x="2701095" y="170262"/>
                </a:lnTo>
                <a:lnTo>
                  <a:pt x="2728038" y="206288"/>
                </a:lnTo>
                <a:lnTo>
                  <a:pt x="2751481" y="244874"/>
                </a:lnTo>
                <a:lnTo>
                  <a:pt x="2771189" y="285785"/>
                </a:lnTo>
                <a:lnTo>
                  <a:pt x="2786928" y="328788"/>
                </a:lnTo>
                <a:lnTo>
                  <a:pt x="2798461" y="373647"/>
                </a:lnTo>
                <a:lnTo>
                  <a:pt x="2805553" y="420127"/>
                </a:lnTo>
                <a:lnTo>
                  <a:pt x="2807970" y="467994"/>
                </a:lnTo>
                <a:lnTo>
                  <a:pt x="2807970" y="3181222"/>
                </a:lnTo>
                <a:lnTo>
                  <a:pt x="2805553" y="3229091"/>
                </a:lnTo>
                <a:lnTo>
                  <a:pt x="2798461" y="3275576"/>
                </a:lnTo>
                <a:lnTo>
                  <a:pt x="2786928" y="3320441"/>
                </a:lnTo>
                <a:lnTo>
                  <a:pt x="2771189" y="3363452"/>
                </a:lnTo>
                <a:lnTo>
                  <a:pt x="2751481" y="3404373"/>
                </a:lnTo>
                <a:lnTo>
                  <a:pt x="2728038" y="3442970"/>
                </a:lnTo>
                <a:lnTo>
                  <a:pt x="2701095" y="3479006"/>
                </a:lnTo>
                <a:lnTo>
                  <a:pt x="2670889" y="3512248"/>
                </a:lnTo>
                <a:lnTo>
                  <a:pt x="2637654" y="3542460"/>
                </a:lnTo>
                <a:lnTo>
                  <a:pt x="2601626" y="3569406"/>
                </a:lnTo>
                <a:lnTo>
                  <a:pt x="2563039" y="3592852"/>
                </a:lnTo>
                <a:lnTo>
                  <a:pt x="2522130" y="3612562"/>
                </a:lnTo>
                <a:lnTo>
                  <a:pt x="2479134" y="3628302"/>
                </a:lnTo>
                <a:lnTo>
                  <a:pt x="2434286" y="3639835"/>
                </a:lnTo>
                <a:lnTo>
                  <a:pt x="2387821" y="3646928"/>
                </a:lnTo>
                <a:lnTo>
                  <a:pt x="2339975" y="3649344"/>
                </a:lnTo>
                <a:lnTo>
                  <a:pt x="467995" y="3649344"/>
                </a:lnTo>
                <a:lnTo>
                  <a:pt x="420148" y="3646928"/>
                </a:lnTo>
                <a:lnTo>
                  <a:pt x="373683" y="3639835"/>
                </a:lnTo>
                <a:lnTo>
                  <a:pt x="328835" y="3628302"/>
                </a:lnTo>
                <a:lnTo>
                  <a:pt x="285839" y="3612562"/>
                </a:lnTo>
                <a:lnTo>
                  <a:pt x="244930" y="3592852"/>
                </a:lnTo>
                <a:lnTo>
                  <a:pt x="206343" y="3569406"/>
                </a:lnTo>
                <a:lnTo>
                  <a:pt x="170315" y="3542460"/>
                </a:lnTo>
                <a:lnTo>
                  <a:pt x="137080" y="3512248"/>
                </a:lnTo>
                <a:lnTo>
                  <a:pt x="106874" y="3479006"/>
                </a:lnTo>
                <a:lnTo>
                  <a:pt x="79931" y="3442970"/>
                </a:lnTo>
                <a:lnTo>
                  <a:pt x="56488" y="3404373"/>
                </a:lnTo>
                <a:lnTo>
                  <a:pt x="36780" y="3363452"/>
                </a:lnTo>
                <a:lnTo>
                  <a:pt x="21041" y="3320441"/>
                </a:lnTo>
                <a:lnTo>
                  <a:pt x="9508" y="3275576"/>
                </a:lnTo>
                <a:lnTo>
                  <a:pt x="2416" y="3229091"/>
                </a:lnTo>
                <a:lnTo>
                  <a:pt x="0" y="3181222"/>
                </a:lnTo>
                <a:lnTo>
                  <a:pt x="0" y="467994"/>
                </a:lnTo>
                <a:close/>
              </a:path>
            </a:pathLst>
          </a:custGeom>
          <a:ln w="9525">
            <a:solidFill>
              <a:schemeClr val="bg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79166" y="2683891"/>
            <a:ext cx="1122680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17800"/>
              </a:lnSpc>
              <a:spcBef>
                <a:spcPts val="100"/>
              </a:spcBef>
            </a:pPr>
            <a:r>
              <a:rPr sz="900" b="1" spc="-10" dirty="0">
                <a:latin typeface="Courier New"/>
                <a:cs typeface="Courier New"/>
              </a:rPr>
              <a:t>moodle_app </a:t>
            </a:r>
            <a:r>
              <a:rPr sz="900" b="1" dirty="0">
                <a:latin typeface="Courier New"/>
                <a:cs typeface="Courier New"/>
              </a:rPr>
              <a:t>Apache</a:t>
            </a:r>
            <a:r>
              <a:rPr sz="900" b="1" spc="-20" dirty="0">
                <a:latin typeface="Courier New"/>
                <a:cs typeface="Courier New"/>
              </a:rPr>
              <a:t> </a:t>
            </a:r>
            <a:r>
              <a:rPr sz="900" b="1" dirty="0">
                <a:latin typeface="Courier New"/>
                <a:cs typeface="Courier New"/>
              </a:rPr>
              <a:t>+</a:t>
            </a:r>
            <a:r>
              <a:rPr sz="900" b="1" spc="-15" dirty="0">
                <a:latin typeface="Courier New"/>
                <a:cs typeface="Courier New"/>
              </a:rPr>
              <a:t> </a:t>
            </a:r>
            <a:r>
              <a:rPr sz="900" b="1" dirty="0">
                <a:latin typeface="Courier New"/>
                <a:cs typeface="Courier New"/>
              </a:rPr>
              <a:t>PHP</a:t>
            </a:r>
            <a:r>
              <a:rPr sz="900" b="1" spc="-15" dirty="0">
                <a:latin typeface="Courier New"/>
                <a:cs typeface="Courier New"/>
              </a:rPr>
              <a:t> </a:t>
            </a:r>
            <a:r>
              <a:rPr sz="900" b="1" spc="-25" dirty="0">
                <a:latin typeface="Courier New"/>
                <a:cs typeface="Courier New"/>
              </a:rPr>
              <a:t>8.2 </a:t>
            </a:r>
            <a:r>
              <a:rPr sz="900" b="1" spc="-10" dirty="0">
                <a:latin typeface="Courier New"/>
                <a:cs typeface="Courier New"/>
              </a:rPr>
              <a:t>172.18.0.3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2217" y="4429125"/>
            <a:ext cx="848360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0">
              <a:lnSpc>
                <a:spcPct val="117800"/>
              </a:lnSpc>
              <a:spcBef>
                <a:spcPts val="100"/>
              </a:spcBef>
            </a:pPr>
            <a:r>
              <a:rPr sz="900" b="1" spc="-10" dirty="0">
                <a:latin typeface="Courier New"/>
                <a:cs typeface="Courier New"/>
              </a:rPr>
              <a:t>moodle_db </a:t>
            </a:r>
            <a:r>
              <a:rPr sz="900" b="1" dirty="0">
                <a:latin typeface="Courier New"/>
                <a:cs typeface="Courier New"/>
              </a:rPr>
              <a:t>MariaDB</a:t>
            </a:r>
            <a:r>
              <a:rPr sz="900" b="1" spc="-35" dirty="0">
                <a:latin typeface="Courier New"/>
                <a:cs typeface="Courier New"/>
              </a:rPr>
              <a:t> </a:t>
            </a:r>
            <a:r>
              <a:rPr sz="900" b="1" spc="-20" dirty="0">
                <a:latin typeface="Courier New"/>
                <a:cs typeface="Courier New"/>
              </a:rPr>
              <a:t>10.6</a:t>
            </a:r>
            <a:endParaRPr sz="900">
              <a:latin typeface="Courier New"/>
              <a:cs typeface="Courier New"/>
            </a:endParaRPr>
          </a:p>
          <a:p>
            <a:pPr marL="81280">
              <a:lnSpc>
                <a:spcPct val="100000"/>
              </a:lnSpc>
              <a:spcBef>
                <a:spcPts val="190"/>
              </a:spcBef>
            </a:pPr>
            <a:r>
              <a:rPr sz="900" b="1" spc="-10" dirty="0">
                <a:latin typeface="Courier New"/>
                <a:cs typeface="Courier New"/>
              </a:rPr>
              <a:t>172.18.0.2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1896" y="1978812"/>
            <a:ext cx="1092200" cy="36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Red</a:t>
            </a:r>
            <a:r>
              <a:rPr sz="1000" b="1" spc="-20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000" b="1" spc="-10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/>
                <a:cs typeface="Courier New"/>
              </a:rPr>
              <a:t>local 192.168.1.0/24</a:t>
            </a:r>
            <a:endParaRPr sz="1000" dirty="0">
              <a:solidFill>
                <a:schemeClr val="accent2">
                  <a:lumMod val="20000"/>
                  <a:lumOff val="8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4590" y="1824101"/>
            <a:ext cx="3917315" cy="3768090"/>
          </a:xfrm>
          <a:custGeom>
            <a:avLst/>
            <a:gdLst/>
            <a:ahLst/>
            <a:cxnLst/>
            <a:rect l="l" t="t" r="r" b="b"/>
            <a:pathLst>
              <a:path w="3917315" h="3768090">
                <a:moveTo>
                  <a:pt x="0" y="628014"/>
                </a:moveTo>
                <a:lnTo>
                  <a:pt x="1889" y="578920"/>
                </a:lnTo>
                <a:lnTo>
                  <a:pt x="7464" y="530861"/>
                </a:lnTo>
                <a:lnTo>
                  <a:pt x="16586" y="483978"/>
                </a:lnTo>
                <a:lnTo>
                  <a:pt x="29115" y="438410"/>
                </a:lnTo>
                <a:lnTo>
                  <a:pt x="44910" y="394297"/>
                </a:lnTo>
                <a:lnTo>
                  <a:pt x="63833" y="351777"/>
                </a:lnTo>
                <a:lnTo>
                  <a:pt x="85743" y="310990"/>
                </a:lnTo>
                <a:lnTo>
                  <a:pt x="110502" y="272075"/>
                </a:lnTo>
                <a:lnTo>
                  <a:pt x="137969" y="235172"/>
                </a:lnTo>
                <a:lnTo>
                  <a:pt x="168005" y="200421"/>
                </a:lnTo>
                <a:lnTo>
                  <a:pt x="200471" y="167960"/>
                </a:lnTo>
                <a:lnTo>
                  <a:pt x="235226" y="137929"/>
                </a:lnTo>
                <a:lnTo>
                  <a:pt x="272131" y="110468"/>
                </a:lnTo>
                <a:lnTo>
                  <a:pt x="311046" y="85715"/>
                </a:lnTo>
                <a:lnTo>
                  <a:pt x="351832" y="63811"/>
                </a:lnTo>
                <a:lnTo>
                  <a:pt x="394349" y="44893"/>
                </a:lnTo>
                <a:lnTo>
                  <a:pt x="438458" y="29103"/>
                </a:lnTo>
                <a:lnTo>
                  <a:pt x="484018" y="16579"/>
                </a:lnTo>
                <a:lnTo>
                  <a:pt x="530891" y="7461"/>
                </a:lnTo>
                <a:lnTo>
                  <a:pt x="578936" y="1888"/>
                </a:lnTo>
                <a:lnTo>
                  <a:pt x="628014" y="0"/>
                </a:lnTo>
                <a:lnTo>
                  <a:pt x="3289300" y="0"/>
                </a:lnTo>
                <a:lnTo>
                  <a:pt x="3338378" y="1888"/>
                </a:lnTo>
                <a:lnTo>
                  <a:pt x="3386423" y="7461"/>
                </a:lnTo>
                <a:lnTo>
                  <a:pt x="3433296" y="16579"/>
                </a:lnTo>
                <a:lnTo>
                  <a:pt x="3478856" y="29103"/>
                </a:lnTo>
                <a:lnTo>
                  <a:pt x="3522965" y="44893"/>
                </a:lnTo>
                <a:lnTo>
                  <a:pt x="3565482" y="63811"/>
                </a:lnTo>
                <a:lnTo>
                  <a:pt x="3606268" y="85715"/>
                </a:lnTo>
                <a:lnTo>
                  <a:pt x="3645183" y="110468"/>
                </a:lnTo>
                <a:lnTo>
                  <a:pt x="3682088" y="137929"/>
                </a:lnTo>
                <a:lnTo>
                  <a:pt x="3716843" y="167960"/>
                </a:lnTo>
                <a:lnTo>
                  <a:pt x="3749309" y="200421"/>
                </a:lnTo>
                <a:lnTo>
                  <a:pt x="3779345" y="235172"/>
                </a:lnTo>
                <a:lnTo>
                  <a:pt x="3806812" y="272075"/>
                </a:lnTo>
                <a:lnTo>
                  <a:pt x="3831571" y="310990"/>
                </a:lnTo>
                <a:lnTo>
                  <a:pt x="3853481" y="351777"/>
                </a:lnTo>
                <a:lnTo>
                  <a:pt x="3872404" y="394297"/>
                </a:lnTo>
                <a:lnTo>
                  <a:pt x="3888199" y="438410"/>
                </a:lnTo>
                <a:lnTo>
                  <a:pt x="3900728" y="483978"/>
                </a:lnTo>
                <a:lnTo>
                  <a:pt x="3909850" y="530861"/>
                </a:lnTo>
                <a:lnTo>
                  <a:pt x="3915425" y="578920"/>
                </a:lnTo>
                <a:lnTo>
                  <a:pt x="3917315" y="628014"/>
                </a:lnTo>
                <a:lnTo>
                  <a:pt x="3917315" y="3139948"/>
                </a:lnTo>
                <a:lnTo>
                  <a:pt x="3915425" y="3189042"/>
                </a:lnTo>
                <a:lnTo>
                  <a:pt x="3909850" y="3237101"/>
                </a:lnTo>
                <a:lnTo>
                  <a:pt x="3900728" y="3283984"/>
                </a:lnTo>
                <a:lnTo>
                  <a:pt x="3888199" y="3329552"/>
                </a:lnTo>
                <a:lnTo>
                  <a:pt x="3872404" y="3373665"/>
                </a:lnTo>
                <a:lnTo>
                  <a:pt x="3853481" y="3416185"/>
                </a:lnTo>
                <a:lnTo>
                  <a:pt x="3831571" y="3456972"/>
                </a:lnTo>
                <a:lnTo>
                  <a:pt x="3806812" y="3495887"/>
                </a:lnTo>
                <a:lnTo>
                  <a:pt x="3779345" y="3532790"/>
                </a:lnTo>
                <a:lnTo>
                  <a:pt x="3749309" y="3567541"/>
                </a:lnTo>
                <a:lnTo>
                  <a:pt x="3716843" y="3600002"/>
                </a:lnTo>
                <a:lnTo>
                  <a:pt x="3682088" y="3630033"/>
                </a:lnTo>
                <a:lnTo>
                  <a:pt x="3645183" y="3657494"/>
                </a:lnTo>
                <a:lnTo>
                  <a:pt x="3606268" y="3682247"/>
                </a:lnTo>
                <a:lnTo>
                  <a:pt x="3565482" y="3704151"/>
                </a:lnTo>
                <a:lnTo>
                  <a:pt x="3522965" y="3723069"/>
                </a:lnTo>
                <a:lnTo>
                  <a:pt x="3478856" y="3738859"/>
                </a:lnTo>
                <a:lnTo>
                  <a:pt x="3433296" y="3751383"/>
                </a:lnTo>
                <a:lnTo>
                  <a:pt x="3386423" y="3760501"/>
                </a:lnTo>
                <a:lnTo>
                  <a:pt x="3338378" y="3766074"/>
                </a:lnTo>
                <a:lnTo>
                  <a:pt x="3289300" y="3767963"/>
                </a:lnTo>
                <a:lnTo>
                  <a:pt x="628014" y="3767963"/>
                </a:lnTo>
                <a:lnTo>
                  <a:pt x="578936" y="3766074"/>
                </a:lnTo>
                <a:lnTo>
                  <a:pt x="530891" y="3760501"/>
                </a:lnTo>
                <a:lnTo>
                  <a:pt x="484018" y="3751383"/>
                </a:lnTo>
                <a:lnTo>
                  <a:pt x="438458" y="3738859"/>
                </a:lnTo>
                <a:lnTo>
                  <a:pt x="394349" y="3723069"/>
                </a:lnTo>
                <a:lnTo>
                  <a:pt x="351832" y="3704151"/>
                </a:lnTo>
                <a:lnTo>
                  <a:pt x="311046" y="3682247"/>
                </a:lnTo>
                <a:lnTo>
                  <a:pt x="272131" y="3657494"/>
                </a:lnTo>
                <a:lnTo>
                  <a:pt x="235226" y="3630033"/>
                </a:lnTo>
                <a:lnTo>
                  <a:pt x="200471" y="3600002"/>
                </a:lnTo>
                <a:lnTo>
                  <a:pt x="168005" y="3567541"/>
                </a:lnTo>
                <a:lnTo>
                  <a:pt x="137969" y="3532790"/>
                </a:lnTo>
                <a:lnTo>
                  <a:pt x="110502" y="3495887"/>
                </a:lnTo>
                <a:lnTo>
                  <a:pt x="85743" y="3456972"/>
                </a:lnTo>
                <a:lnTo>
                  <a:pt x="63833" y="3416185"/>
                </a:lnTo>
                <a:lnTo>
                  <a:pt x="44910" y="3373665"/>
                </a:lnTo>
                <a:lnTo>
                  <a:pt x="29115" y="3329552"/>
                </a:lnTo>
                <a:lnTo>
                  <a:pt x="16586" y="3283984"/>
                </a:lnTo>
                <a:lnTo>
                  <a:pt x="7464" y="3237101"/>
                </a:lnTo>
                <a:lnTo>
                  <a:pt x="1889" y="3189042"/>
                </a:lnTo>
                <a:lnTo>
                  <a:pt x="0" y="3139948"/>
                </a:lnTo>
                <a:lnTo>
                  <a:pt x="0" y="628014"/>
                </a:lnTo>
                <a:close/>
              </a:path>
            </a:pathLst>
          </a:custGeom>
          <a:ln w="9525">
            <a:solidFill>
              <a:schemeClr val="bg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19469" y="2427858"/>
            <a:ext cx="779780" cy="34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5740">
              <a:lnSpc>
                <a:spcPct val="117800"/>
              </a:lnSpc>
              <a:spcBef>
                <a:spcPts val="100"/>
              </a:spcBef>
            </a:pPr>
            <a:r>
              <a:rPr sz="900" b="1" spc="-10" dirty="0">
                <a:latin typeface="Courier New"/>
                <a:cs typeface="Courier New"/>
              </a:rPr>
              <a:t>Router 192.168.1.1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5422" y="4532757"/>
            <a:ext cx="1122680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7800"/>
              </a:lnSpc>
              <a:spcBef>
                <a:spcPts val="100"/>
              </a:spcBef>
            </a:pPr>
            <a:r>
              <a:rPr sz="900" b="1" dirty="0">
                <a:latin typeface="Courier New"/>
                <a:cs typeface="Courier New"/>
              </a:rPr>
              <a:t>MV</a:t>
            </a:r>
            <a:r>
              <a:rPr sz="900" b="1" spc="-20" dirty="0">
                <a:latin typeface="Courier New"/>
                <a:cs typeface="Courier New"/>
              </a:rPr>
              <a:t> </a:t>
            </a:r>
            <a:r>
              <a:rPr sz="900" b="1" dirty="0">
                <a:latin typeface="Courier New"/>
                <a:cs typeface="Courier New"/>
              </a:rPr>
              <a:t>Ubuntu</a:t>
            </a:r>
            <a:r>
              <a:rPr sz="900" b="1" spc="-20" dirty="0">
                <a:latin typeface="Courier New"/>
                <a:cs typeface="Courier New"/>
              </a:rPr>
              <a:t> </a:t>
            </a:r>
            <a:r>
              <a:rPr sz="900" b="1" spc="-10" dirty="0">
                <a:latin typeface="Courier New"/>
                <a:cs typeface="Courier New"/>
              </a:rPr>
              <a:t>Server 192.168.1.149</a:t>
            </a:r>
            <a:endParaRPr sz="900">
              <a:latin typeface="Courier New"/>
              <a:cs typeface="Courier New"/>
            </a:endParaRPr>
          </a:p>
          <a:p>
            <a:pPr marL="184785" marR="175260" indent="-1905" algn="ctr">
              <a:lnSpc>
                <a:spcPct val="117800"/>
              </a:lnSpc>
            </a:pPr>
            <a:r>
              <a:rPr sz="900" b="1" spc="-10" dirty="0">
                <a:latin typeface="Courier New"/>
                <a:cs typeface="Courier New"/>
              </a:rPr>
              <a:t>VirtualBox </a:t>
            </a:r>
            <a:r>
              <a:rPr sz="900" b="1" dirty="0">
                <a:latin typeface="Courier New"/>
                <a:cs typeface="Courier New"/>
              </a:rPr>
              <a:t>modo</a:t>
            </a:r>
            <a:r>
              <a:rPr sz="900" b="1" spc="-30" dirty="0">
                <a:latin typeface="Courier New"/>
                <a:cs typeface="Courier New"/>
              </a:rPr>
              <a:t> </a:t>
            </a:r>
            <a:r>
              <a:rPr sz="900" b="1" spc="-10" dirty="0">
                <a:latin typeface="Courier New"/>
                <a:cs typeface="Courier New"/>
              </a:rPr>
              <a:t>puente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8693" y="4534280"/>
            <a:ext cx="916940" cy="513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18300"/>
              </a:lnSpc>
              <a:spcBef>
                <a:spcPts val="105"/>
              </a:spcBef>
            </a:pPr>
            <a:r>
              <a:rPr sz="900" b="1" spc="-10" dirty="0">
                <a:latin typeface="Courier New"/>
                <a:cs typeface="Courier New"/>
              </a:rPr>
              <a:t>Anfitrión Windows 192.168.1.139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0344" y="3752824"/>
            <a:ext cx="695960" cy="4584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800" b="1" dirty="0">
                <a:solidFill>
                  <a:srgbClr val="6F2F9F"/>
                </a:solidFill>
                <a:latin typeface="Courier New"/>
                <a:cs typeface="Courier New"/>
              </a:rPr>
              <a:t>SSH:</a:t>
            </a:r>
            <a:r>
              <a:rPr sz="800" b="1" spc="-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800" b="1" spc="-25" dirty="0">
                <a:solidFill>
                  <a:srgbClr val="6F2F9F"/>
                </a:solidFill>
                <a:latin typeface="Courier New"/>
                <a:cs typeface="Courier New"/>
              </a:rPr>
              <a:t>22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800" b="1" dirty="0">
                <a:solidFill>
                  <a:srgbClr val="6F2F9F"/>
                </a:solidFill>
                <a:latin typeface="Courier New"/>
                <a:cs typeface="Courier New"/>
              </a:rPr>
              <a:t>HTTP:</a:t>
            </a:r>
            <a:r>
              <a:rPr sz="800" b="1" spc="-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800" b="1" spc="-20" dirty="0">
                <a:solidFill>
                  <a:srgbClr val="6F2F9F"/>
                </a:solidFill>
                <a:latin typeface="Courier New"/>
                <a:cs typeface="Courier New"/>
              </a:rPr>
              <a:t>8080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800" b="1" dirty="0">
                <a:solidFill>
                  <a:srgbClr val="6F2F9F"/>
                </a:solidFill>
                <a:latin typeface="Courier New"/>
                <a:cs typeface="Courier New"/>
              </a:rPr>
              <a:t>HTTPS:</a:t>
            </a:r>
            <a:r>
              <a:rPr sz="800" b="1" spc="-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800" b="1" spc="-20" dirty="0">
                <a:solidFill>
                  <a:srgbClr val="6F2F9F"/>
                </a:solidFill>
                <a:latin typeface="Courier New"/>
                <a:cs typeface="Courier New"/>
              </a:rPr>
              <a:t>8433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93134" y="4106036"/>
            <a:ext cx="2692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6F2F9F"/>
                </a:solidFill>
                <a:latin typeface="Courier New"/>
                <a:cs typeface="Courier New"/>
              </a:rPr>
              <a:t>3306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8824" y="1362202"/>
            <a:ext cx="77990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“Arquitectura</a:t>
            </a:r>
            <a:r>
              <a:rPr sz="2000" i="1" spc="15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9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de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microservicios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con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2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contenedores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Docker”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62548" y="1989709"/>
            <a:ext cx="4077335" cy="3122930"/>
            <a:chOff x="2362548" y="1989709"/>
            <a:chExt cx="4077335" cy="312293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2548" y="1989709"/>
              <a:ext cx="467583" cy="2698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82665" y="4650359"/>
              <a:ext cx="356870" cy="462280"/>
            </a:xfrm>
            <a:prstGeom prst="rect">
              <a:avLst/>
            </a:prstGeom>
          </p:spPr>
        </p:pic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Vista general de diapositiva 28">
                <a:extLst>
                  <a:ext uri="{FF2B5EF4-FFF2-40B4-BE49-F238E27FC236}">
                    <a16:creationId xmlns:a16="http://schemas.microsoft.com/office/drawing/2014/main" id="{5A8F7D67-CAD0-58F3-3E33-83B92046F3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2705730"/>
                  </p:ext>
                </p:extLst>
              </p:nvPr>
            </p:nvGraphicFramePr>
            <p:xfrm>
              <a:off x="3192621" y="3263268"/>
              <a:ext cx="630079" cy="445620"/>
            </p:xfrm>
            <a:graphic>
              <a:graphicData uri="http://schemas.microsoft.com/office/powerpoint/2016/slidezoom">
                <pslz:sldZm>
                  <pslz:sldZmObj sldId="261" cId="0">
                    <pslz:zmPr id="{B7409306-7B29-43A4-8F8F-81F6B3D2CE88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30079" cy="44562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Vista general de diapositiva 2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5A8F7D67-CAD0-58F3-3E33-83B92046F3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92621" y="3263268"/>
                <a:ext cx="630079" cy="4456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241" y="566674"/>
            <a:ext cx="508494" cy="5434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34923" y="498348"/>
            <a:ext cx="9625965" cy="692150"/>
            <a:chOff x="534923" y="498348"/>
            <a:chExt cx="9625965" cy="6921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8449" y="528320"/>
              <a:ext cx="690466" cy="6616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16719" y="569468"/>
              <a:ext cx="820420" cy="568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4923" y="498348"/>
              <a:ext cx="9625965" cy="9525"/>
            </a:xfrm>
            <a:custGeom>
              <a:avLst/>
              <a:gdLst/>
              <a:ahLst/>
              <a:cxnLst/>
              <a:rect l="l" t="t" r="r" b="b"/>
              <a:pathLst>
                <a:path w="9625965" h="9525">
                  <a:moveTo>
                    <a:pt x="962558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5584" y="9144"/>
                  </a:lnTo>
                  <a:lnTo>
                    <a:pt x="9625584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249170" y="578866"/>
            <a:ext cx="641927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00"/>
              </a:spcBef>
            </a:pPr>
            <a:r>
              <a:rPr spc="310" dirty="0">
                <a:latin typeface="Bookman Old Style" panose="02050604050505020204" pitchFamily="18" charset="0"/>
              </a:rPr>
              <a:t>Tecnologías</a:t>
            </a:r>
            <a:r>
              <a:rPr spc="645" dirty="0">
                <a:latin typeface="Bookman Old Style" panose="02050604050505020204" pitchFamily="18" charset="0"/>
              </a:rPr>
              <a:t> </a:t>
            </a:r>
            <a:r>
              <a:rPr spc="330" dirty="0">
                <a:latin typeface="Bookman Old Style" panose="02050604050505020204" pitchFamily="18" charset="0"/>
              </a:rPr>
              <a:t>Utilizadas</a:t>
            </a:r>
          </a:p>
        </p:txBody>
      </p:sp>
      <p:sp>
        <p:nvSpPr>
          <p:cNvPr id="8" name="object 8"/>
          <p:cNvSpPr/>
          <p:nvPr/>
        </p:nvSpPr>
        <p:spPr>
          <a:xfrm>
            <a:off x="534923" y="1245362"/>
            <a:ext cx="9625965" cy="9525"/>
          </a:xfrm>
          <a:custGeom>
            <a:avLst/>
            <a:gdLst/>
            <a:ahLst/>
            <a:cxnLst/>
            <a:rect l="l" t="t" r="r" b="b"/>
            <a:pathLst>
              <a:path w="9625965" h="9525">
                <a:moveTo>
                  <a:pt x="9625584" y="0"/>
                </a:moveTo>
                <a:lnTo>
                  <a:pt x="0" y="0"/>
                </a:lnTo>
                <a:lnTo>
                  <a:pt x="0" y="9144"/>
                </a:lnTo>
                <a:lnTo>
                  <a:pt x="9625584" y="9144"/>
                </a:lnTo>
                <a:lnTo>
                  <a:pt x="9625584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70882" y="2192655"/>
            <a:ext cx="1649095" cy="4331970"/>
            <a:chOff x="470882" y="2192655"/>
            <a:chExt cx="1649095" cy="433197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882" y="2356100"/>
              <a:ext cx="1649034" cy="4168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464" y="2192655"/>
              <a:ext cx="1566557" cy="42545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89343" y="4338040"/>
            <a:ext cx="1320228" cy="730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221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VirtualBox</a:t>
            </a:r>
            <a:r>
              <a:rPr sz="1400" spc="3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7.2 </a:t>
            </a:r>
            <a:r>
              <a:rPr sz="1400" spc="2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Hipervisor</a:t>
            </a:r>
            <a:r>
              <a:rPr sz="1400" spc="29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8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MV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635" algn="ctr">
              <a:lnSpc>
                <a:spcPts val="1475"/>
              </a:lnSpc>
            </a:pPr>
            <a:r>
              <a:rPr sz="1400" spc="-2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Host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448" y="2192655"/>
            <a:ext cx="3206750" cy="4340860"/>
            <a:chOff x="536448" y="2192655"/>
            <a:chExt cx="3206750" cy="43408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448" y="2488692"/>
              <a:ext cx="1517903" cy="14630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343" y="2574709"/>
              <a:ext cx="1386916" cy="116315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4164" y="2346960"/>
              <a:ext cx="1668780" cy="41864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8012" y="2192655"/>
              <a:ext cx="1566417" cy="42545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247211" y="4383371"/>
            <a:ext cx="135514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Ubuntu</a:t>
            </a:r>
            <a:r>
              <a:rPr lang="es-ES"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Server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215265">
              <a:lnSpc>
                <a:spcPts val="1580"/>
              </a:lnSpc>
            </a:pP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22.04</a:t>
            </a:r>
            <a:r>
              <a:rPr sz="1400" spc="8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LTS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11125">
              <a:lnSpc>
                <a:spcPct val="100000"/>
              </a:lnSpc>
              <a:spcBef>
                <a:spcPts val="375"/>
              </a:spcBef>
            </a:pPr>
            <a:r>
              <a:rPr sz="1400" spc="12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SO</a:t>
            </a:r>
            <a:r>
              <a:rPr sz="1400" spc="4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servidor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48839" y="2192655"/>
            <a:ext cx="3208020" cy="4340860"/>
            <a:chOff x="2148839" y="2192655"/>
            <a:chExt cx="3208020" cy="4340860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48839" y="2488692"/>
              <a:ext cx="1519427" cy="14630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40787" y="2475484"/>
              <a:ext cx="1340865" cy="136156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88079" y="2346960"/>
              <a:ext cx="1668779" cy="41864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41419" y="2192655"/>
              <a:ext cx="1566544" cy="42545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810636" y="4292320"/>
            <a:ext cx="1471293" cy="87203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75260" marR="69850" indent="-99060">
              <a:lnSpc>
                <a:spcPts val="1480"/>
              </a:lnSpc>
              <a:spcBef>
                <a:spcPts val="320"/>
              </a:spcBef>
            </a:pPr>
            <a:r>
              <a:rPr sz="1400" spc="6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Docker</a:t>
            </a:r>
            <a:r>
              <a:rPr sz="1400" spc="4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Engine </a:t>
            </a: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29</a:t>
            </a:r>
            <a:r>
              <a:rPr sz="1400" spc="1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15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+</a:t>
            </a:r>
            <a:r>
              <a:rPr sz="1400" spc="2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Docker </a:t>
            </a:r>
            <a:r>
              <a:rPr sz="1400" spc="9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Compose</a:t>
            </a:r>
            <a:r>
              <a:rPr sz="1400" spc="4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v5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400" spc="4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Contenerización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62755" y="2192655"/>
            <a:ext cx="3208019" cy="4340733"/>
            <a:chOff x="3762755" y="2192655"/>
            <a:chExt cx="3208019" cy="4340733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62755" y="2488692"/>
              <a:ext cx="1519427" cy="14630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01995" y="2346960"/>
              <a:ext cx="1668779" cy="418642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54955" y="2192655"/>
              <a:ext cx="1566545" cy="425455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419343" y="4311016"/>
            <a:ext cx="1450148" cy="8750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065" marR="5080" indent="3175" algn="ctr">
              <a:lnSpc>
                <a:spcPts val="1480"/>
              </a:lnSpc>
              <a:spcBef>
                <a:spcPts val="320"/>
              </a:spcBef>
            </a:pPr>
            <a:r>
              <a:rPr sz="1400" spc="7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Moodle</a:t>
            </a:r>
            <a:r>
              <a:rPr sz="1400" spc="5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4.3 </a:t>
            </a:r>
            <a:r>
              <a:rPr sz="1400" spc="6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(MOODLE_403_ </a:t>
            </a:r>
            <a:r>
              <a:rPr sz="1400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STABLE)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3175" algn="ctr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Plataforma</a:t>
            </a:r>
            <a:r>
              <a:rPr sz="1400" spc="25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LMS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76671" y="2192655"/>
            <a:ext cx="3206750" cy="4340860"/>
            <a:chOff x="5376671" y="2192655"/>
            <a:chExt cx="3206750" cy="4340860"/>
          </a:xfrm>
        </p:grpSpPr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6671" y="2488692"/>
              <a:ext cx="1519427" cy="14630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29884" y="2447925"/>
              <a:ext cx="1416685" cy="14168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14387" y="2346960"/>
              <a:ext cx="1668779" cy="418642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68489" y="2192655"/>
              <a:ext cx="1566417" cy="42545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173784" y="4315815"/>
            <a:ext cx="1138809" cy="14882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80"/>
              </a:lnSpc>
              <a:spcBef>
                <a:spcPts val="105"/>
              </a:spcBef>
            </a:pPr>
            <a:r>
              <a:rPr sz="1400" spc="8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Apache</a:t>
            </a:r>
            <a:r>
              <a:rPr sz="1400" spc="7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2.4</a:t>
            </a:r>
            <a:r>
              <a:rPr sz="1400" spc="9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+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2540" algn="ctr">
              <a:lnSpc>
                <a:spcPts val="1580"/>
              </a:lnSpc>
            </a:pP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PHP</a:t>
            </a:r>
            <a:r>
              <a:rPr sz="1400" spc="4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8.2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algn="ctr">
              <a:lnSpc>
                <a:spcPts val="1580"/>
              </a:lnSpc>
              <a:spcBef>
                <a:spcPts val="370"/>
              </a:spcBef>
            </a:pPr>
            <a:r>
              <a:rPr sz="1400" spc="5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Servidor</a:t>
            </a:r>
            <a:r>
              <a:rPr sz="1400" spc="4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3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web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635" algn="ctr">
              <a:lnSpc>
                <a:spcPts val="1480"/>
              </a:lnSpc>
            </a:pPr>
            <a:r>
              <a:rPr sz="1400" spc="10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+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905" algn="ctr">
              <a:lnSpc>
                <a:spcPts val="1585"/>
              </a:lnSpc>
            </a:pPr>
            <a:r>
              <a:rPr sz="1400" spc="-1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runtime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990588" y="2192655"/>
            <a:ext cx="3206750" cy="4340860"/>
            <a:chOff x="6990588" y="2192655"/>
            <a:chExt cx="3206750" cy="4340860"/>
          </a:xfrm>
        </p:grpSpPr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90588" y="2488692"/>
              <a:ext cx="1517903" cy="14630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61581" y="2583002"/>
              <a:ext cx="1380363" cy="93159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528304" y="2346960"/>
              <a:ext cx="1668779" cy="41864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81898" y="2192655"/>
              <a:ext cx="1566545" cy="425455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619236" y="4311016"/>
            <a:ext cx="1418970" cy="1349087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0645" marR="72390" indent="43815">
              <a:lnSpc>
                <a:spcPts val="1480"/>
              </a:lnSpc>
              <a:spcBef>
                <a:spcPts val="320"/>
              </a:spcBef>
            </a:pPr>
            <a:r>
              <a:rPr sz="1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MariaDB</a:t>
            </a:r>
            <a:r>
              <a:rPr sz="1400" spc="3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10.6 </a:t>
            </a:r>
            <a:r>
              <a:rPr sz="1400" spc="7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OpenSSL</a:t>
            </a:r>
            <a:r>
              <a:rPr sz="1400" spc="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UFW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2700" marR="5080" indent="275590">
              <a:lnSpc>
                <a:spcPts val="2050"/>
              </a:lnSpc>
              <a:spcBef>
                <a:spcPts val="114"/>
              </a:spcBef>
            </a:pPr>
            <a:r>
              <a:rPr sz="140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Motor</a:t>
            </a:r>
            <a:r>
              <a:rPr sz="1400" spc="19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2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BD</a:t>
            </a:r>
            <a:r>
              <a:rPr sz="1400" spc="50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SSL</a:t>
            </a:r>
            <a:r>
              <a:rPr sz="1400" spc="9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400" spc="-1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autofirmado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algn="ctr">
              <a:lnSpc>
                <a:spcPts val="1260"/>
              </a:lnSpc>
            </a:pPr>
            <a:r>
              <a:rPr sz="1400" spc="105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+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635" algn="ctr">
              <a:lnSpc>
                <a:spcPts val="1580"/>
              </a:lnSpc>
            </a:pPr>
            <a:r>
              <a:rPr sz="1400" spc="-10" dirty="0">
                <a:solidFill>
                  <a:srgbClr val="CEE3EF"/>
                </a:solidFill>
                <a:latin typeface="Rockwell" panose="02060603020205020403" pitchFamily="18" charset="0"/>
                <a:cs typeface="Cambria"/>
              </a:rPr>
              <a:t>Firewall</a:t>
            </a:r>
            <a:endParaRPr sz="14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02980" y="2488692"/>
            <a:ext cx="1519555" cy="1463040"/>
            <a:chOff x="8602980" y="2488692"/>
            <a:chExt cx="1519555" cy="1463040"/>
          </a:xfrm>
        </p:grpSpPr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02980" y="2488692"/>
              <a:ext cx="1519427" cy="146303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56828" y="2737561"/>
              <a:ext cx="1416685" cy="1124381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136900" y="1415541"/>
            <a:ext cx="397522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Todo</a:t>
            </a:r>
            <a:r>
              <a:rPr sz="2000" i="1" spc="16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3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software</a:t>
            </a:r>
            <a:r>
              <a:rPr sz="2000" i="1" spc="15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libre,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2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coste</a:t>
            </a:r>
            <a:r>
              <a:rPr sz="2000" i="1" spc="1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0€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B755F9EB-FAF9-885D-1CFF-2A17E83609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2006804"/>
                  </p:ext>
                </p:extLst>
              </p:nvPr>
            </p:nvGraphicFramePr>
            <p:xfrm>
              <a:off x="3679983" y="2737561"/>
              <a:ext cx="1668779" cy="933280"/>
            </p:xfrm>
            <a:graphic>
              <a:graphicData uri="http://schemas.microsoft.com/office/powerpoint/2016/slidezoom">
                <pslz:sldZm>
                  <pslz:sldZmObj sldId="262" cId="0">
                    <pslz:zmPr id="{0209EA4D-9BDD-445E-841D-22E1C6332693}" returnToParent="0" imageType="cover" transitionDur="1000">
                      <p166:blipFill xmlns:p166="http://schemas.microsoft.com/office/powerpoint/2016/6/main">
                        <a:blip r:embed="rId28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68779" cy="933280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8" name="Vista general de diapositiva 47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B755F9EB-FAF9-885D-1CFF-2A17E83609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79983" y="2737561"/>
                <a:ext cx="1668779" cy="933280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2510" y="578866"/>
            <a:ext cx="648171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spc="325" dirty="0" err="1">
                <a:latin typeface="Bookman Old Style" panose="02050604050505020204" pitchFamily="18" charset="0"/>
              </a:rPr>
              <a:t>Planificación</a:t>
            </a:r>
            <a:r>
              <a:rPr spc="715" dirty="0">
                <a:latin typeface="Bookman Old Style" panose="02050604050505020204" pitchFamily="18" charset="0"/>
              </a:rPr>
              <a:t> </a:t>
            </a:r>
            <a:r>
              <a:rPr lang="es-ES" spc="715" dirty="0">
                <a:latin typeface="Bookman Old Style" panose="02050604050505020204" pitchFamily="18" charset="0"/>
              </a:rPr>
              <a:t>·</a:t>
            </a:r>
            <a:r>
              <a:rPr spc="56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235" dirty="0">
                <a:latin typeface="Bookman Old Style" panose="02050604050505020204" pitchFamily="18" charset="0"/>
              </a:rPr>
              <a:t>6</a:t>
            </a:r>
            <a:r>
              <a:rPr spc="640" dirty="0">
                <a:latin typeface="Bookman Old Style" panose="02050604050505020204" pitchFamily="18" charset="0"/>
              </a:rPr>
              <a:t> </a:t>
            </a:r>
            <a:r>
              <a:rPr spc="375" dirty="0">
                <a:latin typeface="Bookman Old Style" panose="02050604050505020204" pitchFamily="18" charset="0"/>
              </a:rPr>
              <a:t>Fases</a:t>
            </a:r>
          </a:p>
        </p:txBody>
      </p:sp>
      <p:sp>
        <p:nvSpPr>
          <p:cNvPr id="3" name="object 3"/>
          <p:cNvSpPr/>
          <p:nvPr/>
        </p:nvSpPr>
        <p:spPr>
          <a:xfrm>
            <a:off x="545591" y="507492"/>
            <a:ext cx="9613900" cy="9525"/>
          </a:xfrm>
          <a:custGeom>
            <a:avLst/>
            <a:gdLst/>
            <a:ahLst/>
            <a:cxnLst/>
            <a:rect l="l" t="t" r="r" b="b"/>
            <a:pathLst>
              <a:path w="9613900" h="9525">
                <a:moveTo>
                  <a:pt x="9613392" y="0"/>
                </a:moveTo>
                <a:lnTo>
                  <a:pt x="0" y="0"/>
                </a:lnTo>
                <a:lnTo>
                  <a:pt x="0" y="9144"/>
                </a:lnTo>
                <a:lnTo>
                  <a:pt x="9613392" y="9144"/>
                </a:lnTo>
                <a:lnTo>
                  <a:pt x="961339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746" y="618109"/>
            <a:ext cx="508494" cy="5434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45591" y="579755"/>
            <a:ext cx="9613900" cy="714375"/>
            <a:chOff x="545591" y="579755"/>
            <a:chExt cx="9613900" cy="714375"/>
          </a:xfrm>
        </p:grpSpPr>
        <p:sp>
          <p:nvSpPr>
            <p:cNvPr id="6" name="object 6"/>
            <p:cNvSpPr/>
            <p:nvPr/>
          </p:nvSpPr>
          <p:spPr>
            <a:xfrm>
              <a:off x="545591" y="1284986"/>
              <a:ext cx="9613900" cy="9525"/>
            </a:xfrm>
            <a:custGeom>
              <a:avLst/>
              <a:gdLst/>
              <a:ahLst/>
              <a:cxnLst/>
              <a:rect l="l" t="t" r="r" b="b"/>
              <a:pathLst>
                <a:path w="9613900" h="9525">
                  <a:moveTo>
                    <a:pt x="961339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13392" y="9144"/>
                  </a:lnTo>
                  <a:lnTo>
                    <a:pt x="9613392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4954" y="579755"/>
              <a:ext cx="690466" cy="66166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3224" y="622808"/>
              <a:ext cx="820420" cy="568325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73265" y="2966593"/>
            <a:ext cx="1325245" cy="1092835"/>
          </a:xfrm>
          <a:custGeom>
            <a:avLst/>
            <a:gdLst/>
            <a:ahLst/>
            <a:cxnLst/>
            <a:rect l="l" t="t" r="r" b="b"/>
            <a:pathLst>
              <a:path w="1325245" h="1092835">
                <a:moveTo>
                  <a:pt x="1215758" y="0"/>
                </a:moveTo>
                <a:lnTo>
                  <a:pt x="109296" y="0"/>
                </a:lnTo>
                <a:lnTo>
                  <a:pt x="66752" y="8582"/>
                </a:lnTo>
                <a:lnTo>
                  <a:pt x="32011" y="31988"/>
                </a:lnTo>
                <a:lnTo>
                  <a:pt x="8588" y="66704"/>
                </a:lnTo>
                <a:lnTo>
                  <a:pt x="0" y="109220"/>
                </a:lnTo>
                <a:lnTo>
                  <a:pt x="0" y="983488"/>
                </a:lnTo>
                <a:lnTo>
                  <a:pt x="8588" y="1026076"/>
                </a:lnTo>
                <a:lnTo>
                  <a:pt x="32011" y="1060831"/>
                </a:lnTo>
                <a:lnTo>
                  <a:pt x="66752" y="1084250"/>
                </a:lnTo>
                <a:lnTo>
                  <a:pt x="109296" y="1092835"/>
                </a:lnTo>
                <a:lnTo>
                  <a:pt x="1215758" y="1092835"/>
                </a:lnTo>
                <a:lnTo>
                  <a:pt x="1258293" y="1084250"/>
                </a:lnTo>
                <a:lnTo>
                  <a:pt x="1293053" y="1060831"/>
                </a:lnTo>
                <a:lnTo>
                  <a:pt x="1316503" y="1026076"/>
                </a:lnTo>
                <a:lnTo>
                  <a:pt x="1325105" y="983488"/>
                </a:lnTo>
                <a:lnTo>
                  <a:pt x="1325105" y="109220"/>
                </a:lnTo>
                <a:lnTo>
                  <a:pt x="1316503" y="66704"/>
                </a:lnTo>
                <a:lnTo>
                  <a:pt x="1293053" y="31988"/>
                </a:lnTo>
                <a:lnTo>
                  <a:pt x="1258293" y="8582"/>
                </a:lnTo>
                <a:lnTo>
                  <a:pt x="1215758" y="0"/>
                </a:lnTo>
                <a:close/>
              </a:path>
            </a:pathLst>
          </a:custGeom>
          <a:solidFill>
            <a:srgbClr val="2AA3AC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8533" y="2976498"/>
            <a:ext cx="120436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Ubuntu</a:t>
            </a:r>
            <a:r>
              <a:rPr sz="1200" spc="16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Server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-25" dirty="0">
                <a:latin typeface="Rockwell" panose="02060603020205020403" pitchFamily="18" charset="0"/>
                <a:cs typeface="Cambria"/>
              </a:rPr>
              <a:t>SSH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63830" indent="-151130">
              <a:lnSpc>
                <a:spcPct val="100000"/>
              </a:lnSpc>
              <a:spcBef>
                <a:spcPts val="35"/>
              </a:spcBef>
              <a:buChar char="•"/>
              <a:tabLst>
                <a:tab pos="1638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IP</a:t>
            </a:r>
            <a:r>
              <a:rPr sz="1200" spc="1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fija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5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Firewall</a:t>
            </a:r>
            <a:r>
              <a:rPr sz="12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5" dirty="0">
                <a:latin typeface="Rockwell" panose="02060603020205020403" pitchFamily="18" charset="0"/>
                <a:cs typeface="Cambria"/>
              </a:rPr>
              <a:t>UFW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4172" y="3825240"/>
            <a:ext cx="1958975" cy="931544"/>
            <a:chOff x="614172" y="3825240"/>
            <a:chExt cx="1958975" cy="931544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8432" y="4302149"/>
              <a:ext cx="1364129" cy="4543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4130" y="4283710"/>
              <a:ext cx="1288884" cy="39508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172" y="3828275"/>
              <a:ext cx="1280160" cy="5517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727" y="3825240"/>
              <a:ext cx="1177836" cy="4683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48995" y="3924122"/>
            <a:ext cx="105029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Infraestrutura</a:t>
            </a:r>
            <a:endParaRPr sz="13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92896" y="2959608"/>
            <a:ext cx="1616075" cy="1092835"/>
          </a:xfrm>
          <a:custGeom>
            <a:avLst/>
            <a:gdLst/>
            <a:ahLst/>
            <a:cxnLst/>
            <a:rect l="l" t="t" r="r" b="b"/>
            <a:pathLst>
              <a:path w="1616075" h="1092835">
                <a:moveTo>
                  <a:pt x="1506601" y="0"/>
                </a:moveTo>
                <a:lnTo>
                  <a:pt x="109220" y="0"/>
                </a:lnTo>
                <a:lnTo>
                  <a:pt x="66704" y="8582"/>
                </a:lnTo>
                <a:lnTo>
                  <a:pt x="31988" y="31988"/>
                </a:lnTo>
                <a:lnTo>
                  <a:pt x="8582" y="66704"/>
                </a:lnTo>
                <a:lnTo>
                  <a:pt x="0" y="109220"/>
                </a:lnTo>
                <a:lnTo>
                  <a:pt x="0" y="983488"/>
                </a:lnTo>
                <a:lnTo>
                  <a:pt x="8582" y="1026076"/>
                </a:lnTo>
                <a:lnTo>
                  <a:pt x="31988" y="1060831"/>
                </a:lnTo>
                <a:lnTo>
                  <a:pt x="66704" y="1084250"/>
                </a:lnTo>
                <a:lnTo>
                  <a:pt x="109220" y="1092835"/>
                </a:lnTo>
                <a:lnTo>
                  <a:pt x="1506601" y="1092835"/>
                </a:lnTo>
                <a:lnTo>
                  <a:pt x="1549116" y="1084250"/>
                </a:lnTo>
                <a:lnTo>
                  <a:pt x="1583832" y="1060831"/>
                </a:lnTo>
                <a:lnTo>
                  <a:pt x="1607238" y="1026076"/>
                </a:lnTo>
                <a:lnTo>
                  <a:pt x="1615821" y="983488"/>
                </a:lnTo>
                <a:lnTo>
                  <a:pt x="1615821" y="109220"/>
                </a:lnTo>
                <a:lnTo>
                  <a:pt x="1607238" y="66704"/>
                </a:lnTo>
                <a:lnTo>
                  <a:pt x="1583832" y="31988"/>
                </a:lnTo>
                <a:lnTo>
                  <a:pt x="1549116" y="8582"/>
                </a:lnTo>
                <a:lnTo>
                  <a:pt x="1506601" y="0"/>
                </a:lnTo>
                <a:close/>
              </a:path>
            </a:pathLst>
          </a:custGeom>
          <a:solidFill>
            <a:srgbClr val="82B32C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45589" y="3210814"/>
            <a:ext cx="1588642" cy="741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Dockerfile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marR="419734" indent="-113030">
              <a:lnSpc>
                <a:spcPts val="1270"/>
              </a:lnSpc>
              <a:spcBef>
                <a:spcPts val="220"/>
              </a:spcBef>
              <a:buChar char="•"/>
              <a:tabLst>
                <a:tab pos="127000" algn="l"/>
              </a:tabLst>
            </a:pPr>
            <a:r>
              <a:rPr sz="1200" spc="50" dirty="0">
                <a:latin typeface="Rockwell" panose="02060603020205020403" pitchFamily="18" charset="0"/>
                <a:cs typeface="Cambria"/>
              </a:rPr>
              <a:t>Docker-	</a:t>
            </a:r>
            <a:r>
              <a:rPr sz="1200" spc="40" dirty="0">
                <a:latin typeface="Rockwell" panose="02060603020205020403" pitchFamily="18" charset="0"/>
                <a:cs typeface="Cambria"/>
              </a:rPr>
              <a:t>compose.yml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2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Maria</a:t>
            </a:r>
            <a:r>
              <a:rPr sz="1200" spc="10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dirty="0">
                <a:latin typeface="Rockwell" panose="02060603020205020403" pitchFamily="18" charset="0"/>
                <a:cs typeface="Cambria"/>
              </a:rPr>
              <a:t>DB</a:t>
            </a:r>
            <a:r>
              <a:rPr sz="1200" spc="11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130" dirty="0">
                <a:latin typeface="Rockwell" panose="02060603020205020403" pitchFamily="18" charset="0"/>
                <a:cs typeface="Cambria"/>
              </a:rPr>
              <a:t>+</a:t>
            </a:r>
            <a:r>
              <a:rPr sz="1200" spc="10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45" dirty="0">
                <a:latin typeface="Rockwell" panose="02060603020205020403" pitchFamily="18" charset="0"/>
                <a:cs typeface="Cambria"/>
              </a:rPr>
              <a:t>Moodle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5727" y="2346710"/>
            <a:ext cx="1961514" cy="941069"/>
            <a:chOff x="2395727" y="2346710"/>
            <a:chExt cx="1961514" cy="941069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91532" y="2356058"/>
              <a:ext cx="1365623" cy="46339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6155" y="2346710"/>
              <a:ext cx="1290701" cy="395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5727" y="2735567"/>
              <a:ext cx="1280160" cy="551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49702" y="2732405"/>
              <a:ext cx="1177925" cy="4683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771394" y="2847848"/>
            <a:ext cx="63017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Docker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91965" y="2966593"/>
            <a:ext cx="1325245" cy="1092835"/>
          </a:xfrm>
          <a:custGeom>
            <a:avLst/>
            <a:gdLst/>
            <a:ahLst/>
            <a:cxnLst/>
            <a:rect l="l" t="t" r="r" b="b"/>
            <a:pathLst>
              <a:path w="1325245" h="1092835">
                <a:moveTo>
                  <a:pt x="1215771" y="0"/>
                </a:moveTo>
                <a:lnTo>
                  <a:pt x="109220" y="0"/>
                </a:lnTo>
                <a:lnTo>
                  <a:pt x="66704" y="8582"/>
                </a:lnTo>
                <a:lnTo>
                  <a:pt x="31988" y="31988"/>
                </a:lnTo>
                <a:lnTo>
                  <a:pt x="8582" y="66704"/>
                </a:lnTo>
                <a:lnTo>
                  <a:pt x="0" y="109220"/>
                </a:lnTo>
                <a:lnTo>
                  <a:pt x="0" y="983488"/>
                </a:lnTo>
                <a:lnTo>
                  <a:pt x="8582" y="1026076"/>
                </a:lnTo>
                <a:lnTo>
                  <a:pt x="31988" y="1060831"/>
                </a:lnTo>
                <a:lnTo>
                  <a:pt x="66704" y="1084250"/>
                </a:lnTo>
                <a:lnTo>
                  <a:pt x="109220" y="1092835"/>
                </a:lnTo>
                <a:lnTo>
                  <a:pt x="1215771" y="1092835"/>
                </a:lnTo>
                <a:lnTo>
                  <a:pt x="1258286" y="1084250"/>
                </a:lnTo>
                <a:lnTo>
                  <a:pt x="1293002" y="1060831"/>
                </a:lnTo>
                <a:lnTo>
                  <a:pt x="1316408" y="1026076"/>
                </a:lnTo>
                <a:lnTo>
                  <a:pt x="1324991" y="983488"/>
                </a:lnTo>
                <a:lnTo>
                  <a:pt x="1324991" y="109220"/>
                </a:lnTo>
                <a:lnTo>
                  <a:pt x="1316408" y="66704"/>
                </a:lnTo>
                <a:lnTo>
                  <a:pt x="1293002" y="31988"/>
                </a:lnTo>
                <a:lnTo>
                  <a:pt x="1258286" y="8582"/>
                </a:lnTo>
                <a:lnTo>
                  <a:pt x="1215771" y="0"/>
                </a:lnTo>
                <a:close/>
              </a:path>
            </a:pathLst>
          </a:custGeom>
          <a:solidFill>
            <a:srgbClr val="5DAE8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27779" y="2976498"/>
            <a:ext cx="1280160" cy="741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Instalador</a:t>
            </a:r>
            <a:r>
              <a:rPr sz="1200" spc="25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30" dirty="0">
                <a:latin typeface="Rockwell" panose="02060603020205020403" pitchFamily="18" charset="0"/>
                <a:cs typeface="Cambria"/>
              </a:rPr>
              <a:t>web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-25" dirty="0">
                <a:latin typeface="Rockwell" panose="02060603020205020403" pitchFamily="18" charset="0"/>
                <a:cs typeface="Cambria"/>
              </a:rPr>
              <a:t>BD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marR="43180" indent="-113030">
              <a:lnSpc>
                <a:spcPts val="1270"/>
              </a:lnSpc>
              <a:spcBef>
                <a:spcPts val="220"/>
              </a:spcBef>
              <a:buChar char="•"/>
              <a:tabLst>
                <a:tab pos="127000" algn="l"/>
              </a:tabLst>
            </a:pPr>
            <a:r>
              <a:rPr sz="1200" spc="35" dirty="0">
                <a:latin typeface="Rockwell" panose="02060603020205020403" pitchFamily="18" charset="0"/>
                <a:cs typeface="Cambria"/>
              </a:rPr>
              <a:t>Configuración 	</a:t>
            </a:r>
            <a:r>
              <a:rPr sz="1200" spc="65" dirty="0">
                <a:latin typeface="Rockwell" panose="02060603020205020403" pitchFamily="18" charset="0"/>
                <a:cs typeface="Cambria"/>
              </a:rPr>
              <a:t>del</a:t>
            </a:r>
            <a:r>
              <a:rPr sz="1200" spc="4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sitio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32503" y="3825240"/>
            <a:ext cx="1814195" cy="889000"/>
            <a:chOff x="4032503" y="3825240"/>
            <a:chExt cx="1814195" cy="88900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28276" y="4300392"/>
              <a:ext cx="1217855" cy="41349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62804" y="4283710"/>
              <a:ext cx="1143254" cy="352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2503" y="3828275"/>
              <a:ext cx="1280160" cy="5517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86351" y="3825240"/>
              <a:ext cx="1177798" cy="4683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395977" y="3941191"/>
            <a:ext cx="6103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Moodle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28615" y="2348571"/>
            <a:ext cx="2158365" cy="1711325"/>
            <a:chOff x="5428615" y="2348571"/>
            <a:chExt cx="2158365" cy="1711325"/>
          </a:xfrm>
        </p:grpSpPr>
        <p:sp>
          <p:nvSpPr>
            <p:cNvPr id="34" name="object 34"/>
            <p:cNvSpPr/>
            <p:nvPr/>
          </p:nvSpPr>
          <p:spPr>
            <a:xfrm>
              <a:off x="5428615" y="2966593"/>
              <a:ext cx="1325245" cy="1092835"/>
            </a:xfrm>
            <a:custGeom>
              <a:avLst/>
              <a:gdLst/>
              <a:ahLst/>
              <a:cxnLst/>
              <a:rect l="l" t="t" r="r" b="b"/>
              <a:pathLst>
                <a:path w="1325245" h="1092835">
                  <a:moveTo>
                    <a:pt x="1215643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983488"/>
                  </a:lnTo>
                  <a:lnTo>
                    <a:pt x="8582" y="1026076"/>
                  </a:lnTo>
                  <a:lnTo>
                    <a:pt x="31988" y="1060831"/>
                  </a:lnTo>
                  <a:lnTo>
                    <a:pt x="66704" y="1084250"/>
                  </a:lnTo>
                  <a:lnTo>
                    <a:pt x="109220" y="1092835"/>
                  </a:lnTo>
                  <a:lnTo>
                    <a:pt x="1215643" y="1092835"/>
                  </a:lnTo>
                  <a:lnTo>
                    <a:pt x="1258232" y="1084250"/>
                  </a:lnTo>
                  <a:lnTo>
                    <a:pt x="1292987" y="1060831"/>
                  </a:lnTo>
                  <a:lnTo>
                    <a:pt x="1316406" y="1026076"/>
                  </a:lnTo>
                  <a:lnTo>
                    <a:pt x="1324990" y="983488"/>
                  </a:lnTo>
                  <a:lnTo>
                    <a:pt x="1324990" y="109220"/>
                  </a:lnTo>
                  <a:lnTo>
                    <a:pt x="1316406" y="66704"/>
                  </a:lnTo>
                  <a:lnTo>
                    <a:pt x="1292987" y="31988"/>
                  </a:lnTo>
                  <a:lnTo>
                    <a:pt x="1258232" y="8582"/>
                  </a:lnTo>
                  <a:lnTo>
                    <a:pt x="1215643" y="0"/>
                  </a:lnTo>
                  <a:close/>
                </a:path>
              </a:pathLst>
            </a:custGeom>
            <a:solidFill>
              <a:srgbClr val="DD810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28528" y="2358948"/>
              <a:ext cx="1357974" cy="47585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64021" y="2348571"/>
              <a:ext cx="1282573" cy="4089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69280" y="2735567"/>
              <a:ext cx="1280159" cy="5517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23001" y="2732405"/>
              <a:ext cx="1177798" cy="46837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464554" y="2767329"/>
            <a:ext cx="1468755" cy="1216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72440" marR="5080" indent="-125095">
              <a:lnSpc>
                <a:spcPts val="1270"/>
              </a:lnSpc>
              <a:spcBef>
                <a:spcPts val="280"/>
              </a:spcBef>
            </a:pPr>
            <a:r>
              <a:rPr sz="1200" spc="3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Configuración </a:t>
            </a:r>
            <a:r>
              <a:rPr sz="1200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Plataforma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77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Roles</a:t>
            </a:r>
            <a:r>
              <a:rPr sz="1200" spc="18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BiViR@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45" dirty="0">
                <a:latin typeface="Rockwell" panose="02060603020205020403" pitchFamily="18" charset="0"/>
                <a:cs typeface="Cambria"/>
              </a:rPr>
              <a:t>Categorías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40"/>
              </a:spcBef>
              <a:buChar char="•"/>
              <a:tabLst>
                <a:tab pos="125730" algn="l"/>
              </a:tabLst>
            </a:pPr>
            <a:r>
              <a:rPr sz="1200" spc="45" dirty="0">
                <a:latin typeface="Rockwell" panose="02060603020205020403" pitchFamily="18" charset="0"/>
                <a:cs typeface="Cambria"/>
              </a:rPr>
              <a:t>Cursos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45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Autenticación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065136" y="2966593"/>
            <a:ext cx="1325245" cy="1092835"/>
          </a:xfrm>
          <a:custGeom>
            <a:avLst/>
            <a:gdLst/>
            <a:ahLst/>
            <a:cxnLst/>
            <a:rect l="l" t="t" r="r" b="b"/>
            <a:pathLst>
              <a:path w="1325245" h="1092835">
                <a:moveTo>
                  <a:pt x="1215771" y="0"/>
                </a:moveTo>
                <a:lnTo>
                  <a:pt x="109347" y="0"/>
                </a:lnTo>
                <a:lnTo>
                  <a:pt x="66811" y="8582"/>
                </a:lnTo>
                <a:lnTo>
                  <a:pt x="32051" y="31988"/>
                </a:lnTo>
                <a:lnTo>
                  <a:pt x="8602" y="66704"/>
                </a:lnTo>
                <a:lnTo>
                  <a:pt x="0" y="109220"/>
                </a:lnTo>
                <a:lnTo>
                  <a:pt x="0" y="983488"/>
                </a:lnTo>
                <a:lnTo>
                  <a:pt x="8602" y="1026076"/>
                </a:lnTo>
                <a:lnTo>
                  <a:pt x="32051" y="1060831"/>
                </a:lnTo>
                <a:lnTo>
                  <a:pt x="66811" y="1084250"/>
                </a:lnTo>
                <a:lnTo>
                  <a:pt x="109347" y="1092835"/>
                </a:lnTo>
                <a:lnTo>
                  <a:pt x="1215771" y="1092835"/>
                </a:lnTo>
                <a:lnTo>
                  <a:pt x="1258306" y="1084250"/>
                </a:lnTo>
                <a:lnTo>
                  <a:pt x="1293066" y="1060831"/>
                </a:lnTo>
                <a:lnTo>
                  <a:pt x="1316515" y="1026076"/>
                </a:lnTo>
                <a:lnTo>
                  <a:pt x="1325118" y="983488"/>
                </a:lnTo>
                <a:lnTo>
                  <a:pt x="1325118" y="109220"/>
                </a:lnTo>
                <a:lnTo>
                  <a:pt x="1316515" y="66704"/>
                </a:lnTo>
                <a:lnTo>
                  <a:pt x="1293066" y="31988"/>
                </a:lnTo>
                <a:lnTo>
                  <a:pt x="1258306" y="8582"/>
                </a:lnTo>
                <a:lnTo>
                  <a:pt x="1215771" y="0"/>
                </a:lnTo>
                <a:close/>
              </a:path>
            </a:pathLst>
          </a:custGeom>
          <a:solidFill>
            <a:srgbClr val="DC631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114793" y="2976498"/>
            <a:ext cx="1174845" cy="9233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5730" marR="5080" indent="-113030">
              <a:lnSpc>
                <a:spcPts val="1270"/>
              </a:lnSpc>
              <a:spcBef>
                <a:spcPts val="280"/>
              </a:spcBef>
              <a:buChar char="•"/>
              <a:tabLst>
                <a:tab pos="127000" algn="l"/>
              </a:tabLst>
            </a:pPr>
            <a:r>
              <a:rPr sz="1200" spc="45" dirty="0">
                <a:latin typeface="Rockwell" panose="02060603020205020403" pitchFamily="18" charset="0"/>
                <a:cs typeface="Cambria"/>
              </a:rPr>
              <a:t>block_bivira_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modulos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25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Seguimiento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40"/>
              </a:spcBef>
              <a:buChar char="•"/>
              <a:tabLst>
                <a:tab pos="125730" algn="l"/>
              </a:tabLst>
            </a:pPr>
            <a:r>
              <a:rPr sz="1200" spc="45" dirty="0">
                <a:latin typeface="Rockwell" panose="02060603020205020403" pitchFamily="18" charset="0"/>
                <a:cs typeface="Cambria"/>
              </a:rPr>
              <a:t>Colaborador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Buscador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272528" y="4025900"/>
            <a:ext cx="1858010" cy="808355"/>
            <a:chOff x="7272528" y="4025900"/>
            <a:chExt cx="1858010" cy="808355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68283" y="4314417"/>
              <a:ext cx="1262065" cy="5197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02956" y="4292600"/>
              <a:ext cx="1187830" cy="46408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72528" y="4029443"/>
              <a:ext cx="1278635" cy="5517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25106" y="4025900"/>
              <a:ext cx="1177798" cy="46837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398257" y="4061205"/>
            <a:ext cx="1139320" cy="36933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143510">
              <a:lnSpc>
                <a:spcPts val="1270"/>
              </a:lnSpc>
              <a:spcBef>
                <a:spcPts val="280"/>
              </a:spcBef>
            </a:pPr>
            <a:r>
              <a:rPr sz="1200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Desarrollo </a:t>
            </a:r>
            <a:r>
              <a:rPr sz="1200" spc="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plugin</a:t>
            </a:r>
            <a:r>
              <a:rPr sz="1200" spc="26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BiViR@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701785" y="2732405"/>
            <a:ext cx="1521460" cy="1327150"/>
            <a:chOff x="8701785" y="2732405"/>
            <a:chExt cx="1521460" cy="1327150"/>
          </a:xfrm>
        </p:grpSpPr>
        <p:sp>
          <p:nvSpPr>
            <p:cNvPr id="49" name="object 49"/>
            <p:cNvSpPr/>
            <p:nvPr/>
          </p:nvSpPr>
          <p:spPr>
            <a:xfrm>
              <a:off x="8701785" y="2966593"/>
              <a:ext cx="1325245" cy="1092835"/>
            </a:xfrm>
            <a:custGeom>
              <a:avLst/>
              <a:gdLst/>
              <a:ahLst/>
              <a:cxnLst/>
              <a:rect l="l" t="t" r="r" b="b"/>
              <a:pathLst>
                <a:path w="1325245" h="1092835">
                  <a:moveTo>
                    <a:pt x="1215771" y="0"/>
                  </a:moveTo>
                  <a:lnTo>
                    <a:pt x="109347" y="0"/>
                  </a:lnTo>
                  <a:lnTo>
                    <a:pt x="66758" y="8582"/>
                  </a:lnTo>
                  <a:lnTo>
                    <a:pt x="32004" y="31988"/>
                  </a:lnTo>
                  <a:lnTo>
                    <a:pt x="8584" y="66704"/>
                  </a:lnTo>
                  <a:lnTo>
                    <a:pt x="0" y="109220"/>
                  </a:lnTo>
                  <a:lnTo>
                    <a:pt x="0" y="983488"/>
                  </a:lnTo>
                  <a:lnTo>
                    <a:pt x="8584" y="1026076"/>
                  </a:lnTo>
                  <a:lnTo>
                    <a:pt x="32003" y="1060831"/>
                  </a:lnTo>
                  <a:lnTo>
                    <a:pt x="66758" y="1084250"/>
                  </a:lnTo>
                  <a:lnTo>
                    <a:pt x="109347" y="1092835"/>
                  </a:lnTo>
                  <a:lnTo>
                    <a:pt x="1215771" y="1092835"/>
                  </a:lnTo>
                  <a:lnTo>
                    <a:pt x="1258306" y="1084250"/>
                  </a:lnTo>
                  <a:lnTo>
                    <a:pt x="1293066" y="1060831"/>
                  </a:lnTo>
                  <a:lnTo>
                    <a:pt x="1316515" y="1026076"/>
                  </a:lnTo>
                  <a:lnTo>
                    <a:pt x="1325118" y="983488"/>
                  </a:lnTo>
                  <a:lnTo>
                    <a:pt x="1325118" y="109220"/>
                  </a:lnTo>
                  <a:lnTo>
                    <a:pt x="1316515" y="66704"/>
                  </a:lnTo>
                  <a:lnTo>
                    <a:pt x="1293066" y="31988"/>
                  </a:lnTo>
                  <a:lnTo>
                    <a:pt x="1258306" y="8582"/>
                  </a:lnTo>
                  <a:lnTo>
                    <a:pt x="1215771" y="0"/>
                  </a:lnTo>
                  <a:close/>
                </a:path>
              </a:pathLst>
            </a:custGeom>
            <a:solidFill>
              <a:srgbClr val="2AA3A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42831" y="2735567"/>
              <a:ext cx="1280159" cy="5517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996298" y="2732405"/>
              <a:ext cx="1177798" cy="468375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8738361" y="2767329"/>
            <a:ext cx="1484629" cy="121058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97510" marR="5080" indent="22860">
              <a:lnSpc>
                <a:spcPts val="1270"/>
              </a:lnSpc>
              <a:spcBef>
                <a:spcPts val="280"/>
              </a:spcBef>
            </a:pPr>
            <a:r>
              <a:rPr sz="1200" spc="5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Seguridad</a:t>
            </a:r>
            <a:r>
              <a:rPr sz="1200" spc="6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y </a:t>
            </a:r>
            <a:r>
              <a:rPr sz="1200" spc="4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Operaciones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770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HTTPS/SSL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Backups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40"/>
              </a:spcBef>
              <a:buChar char="•"/>
              <a:tabLst>
                <a:tab pos="125730" algn="l"/>
              </a:tabLst>
            </a:pPr>
            <a:r>
              <a:rPr sz="1200" spc="35" dirty="0">
                <a:latin typeface="Rockwell" panose="02060603020205020403" pitchFamily="18" charset="0"/>
                <a:cs typeface="Cambria"/>
              </a:rPr>
              <a:t>Cron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45"/>
              </a:spcBef>
              <a:buChar char="•"/>
              <a:tabLst>
                <a:tab pos="125730" algn="l"/>
              </a:tabLst>
            </a:pPr>
            <a:r>
              <a:rPr sz="1200" spc="-20" dirty="0">
                <a:latin typeface="Rockwell" panose="02060603020205020403" pitchFamily="18" charset="0"/>
                <a:cs typeface="Cambria"/>
              </a:rPr>
              <a:t>Logs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4" name="Vista general de diapositiva 53">
                <a:extLst>
                  <a:ext uri="{FF2B5EF4-FFF2-40B4-BE49-F238E27FC236}">
                    <a16:creationId xmlns:a16="http://schemas.microsoft.com/office/drawing/2014/main" id="{BF0C20D7-6355-A079-C57E-2B5AF4D7C9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6049876"/>
                  </p:ext>
                </p:extLst>
              </p:nvPr>
            </p:nvGraphicFramePr>
            <p:xfrm>
              <a:off x="9665421" y="674475"/>
              <a:ext cx="118222" cy="83612"/>
            </p:xfrm>
            <a:graphic>
              <a:graphicData uri="http://schemas.microsoft.com/office/powerpoint/2016/slidezoom">
                <pslz:sldZm>
                  <pslz:sldZmObj sldId="263" cId="0">
                    <pslz:zmPr id="{18D10634-3148-48C9-9BCE-3140778EF572}" returnToParent="0" transitionDur="1000" showBg="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8222" cy="8361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4" name="Vista general de diapositiva 53">
                <a:extLst>
                  <a:ext uri="{FF2B5EF4-FFF2-40B4-BE49-F238E27FC236}">
                    <a16:creationId xmlns:a16="http://schemas.microsoft.com/office/drawing/2014/main" id="{BF0C20D7-6355-A079-C57E-2B5AF4D7C9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65421" y="674475"/>
                <a:ext cx="118222" cy="836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914491" y="615572"/>
            <a:ext cx="9251314" cy="11156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548890" marR="5080" indent="-2536825">
              <a:lnSpc>
                <a:spcPts val="4220"/>
              </a:lnSpc>
              <a:spcBef>
                <a:spcPts val="300"/>
              </a:spcBef>
            </a:pPr>
            <a:r>
              <a:rPr spc="36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block_bivira_modulos</a:t>
            </a:r>
            <a:r>
              <a:rPr spc="74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s-ES" spc="74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·</a:t>
            </a:r>
            <a:r>
              <a:rPr spc="56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Desarrollo </a:t>
            </a:r>
            <a:r>
              <a:rPr spc="25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propio</a:t>
            </a:r>
            <a:r>
              <a:rPr spc="68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30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en</a:t>
            </a:r>
            <a:r>
              <a:rPr spc="65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31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PHP</a:t>
            </a:r>
          </a:p>
        </p:txBody>
      </p:sp>
      <p:sp>
        <p:nvSpPr>
          <p:cNvPr id="3" name="object 3"/>
          <p:cNvSpPr/>
          <p:nvPr/>
        </p:nvSpPr>
        <p:spPr>
          <a:xfrm>
            <a:off x="533400" y="516636"/>
            <a:ext cx="9625965" cy="9525"/>
          </a:xfrm>
          <a:custGeom>
            <a:avLst/>
            <a:gdLst/>
            <a:ahLst/>
            <a:cxnLst/>
            <a:rect l="l" t="t" r="r" b="b"/>
            <a:pathLst>
              <a:path w="9625965" h="9525">
                <a:moveTo>
                  <a:pt x="9625584" y="0"/>
                </a:moveTo>
                <a:lnTo>
                  <a:pt x="0" y="0"/>
                </a:lnTo>
                <a:lnTo>
                  <a:pt x="0" y="9144"/>
                </a:lnTo>
                <a:lnTo>
                  <a:pt x="9625584" y="9144"/>
                </a:lnTo>
                <a:lnTo>
                  <a:pt x="9625584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3400" y="1140460"/>
            <a:ext cx="9625965" cy="696595"/>
            <a:chOff x="533400" y="1140460"/>
            <a:chExt cx="9625965" cy="696595"/>
          </a:xfrm>
        </p:grpSpPr>
        <p:sp>
          <p:nvSpPr>
            <p:cNvPr id="5" name="object 5"/>
            <p:cNvSpPr/>
            <p:nvPr/>
          </p:nvSpPr>
          <p:spPr>
            <a:xfrm>
              <a:off x="533400" y="1827530"/>
              <a:ext cx="9625965" cy="9525"/>
            </a:xfrm>
            <a:custGeom>
              <a:avLst/>
              <a:gdLst/>
              <a:ahLst/>
              <a:cxnLst/>
              <a:rect l="l" t="t" r="r" b="b"/>
              <a:pathLst>
                <a:path w="9625965" h="9525">
                  <a:moveTo>
                    <a:pt x="962558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5584" y="9144"/>
                  </a:lnTo>
                  <a:lnTo>
                    <a:pt x="9625584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964" y="1140460"/>
              <a:ext cx="621029" cy="68452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5205" y="1151890"/>
              <a:ext cx="702945" cy="6616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1794" y="1194943"/>
              <a:ext cx="820420" cy="5683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06420" y="1859536"/>
            <a:ext cx="927992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9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“Desarrollo</a:t>
            </a:r>
            <a:r>
              <a:rPr sz="2000" i="1" spc="15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2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siguiendo</a:t>
            </a:r>
            <a:r>
              <a:rPr sz="2000" i="1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3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los</a:t>
            </a:r>
            <a:r>
              <a:rPr sz="2000" i="1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6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estándares</a:t>
            </a:r>
            <a:r>
              <a:rPr sz="2000" i="1" spc="18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oficiales</a:t>
            </a:r>
            <a:r>
              <a:rPr sz="2000" i="1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de</a:t>
            </a:r>
            <a:r>
              <a:rPr sz="2000" i="1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1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la</a:t>
            </a:r>
            <a:r>
              <a:rPr sz="2000" i="1" spc="14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API</a:t>
            </a:r>
            <a:r>
              <a:rPr sz="2000" i="1" spc="14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9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de</a:t>
            </a:r>
            <a:r>
              <a:rPr sz="2000" i="1" spc="18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9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Moodle</a:t>
            </a:r>
            <a:r>
              <a:rPr sz="2000" i="1" spc="95" dirty="0">
                <a:solidFill>
                  <a:schemeClr val="accent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  <a:cs typeface="Cambria"/>
              </a:rPr>
              <a:t>”</a:t>
            </a:r>
            <a:endParaRPr sz="2000" dirty="0">
              <a:solidFill>
                <a:schemeClr val="accent2">
                  <a:lumMod val="40000"/>
                  <a:lumOff val="60000"/>
                </a:schemeClr>
              </a:solidFill>
              <a:latin typeface="Bookman Old Style" panose="02050604050505020204" pitchFamily="18" charset="0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0241" y="2409063"/>
            <a:ext cx="4185920" cy="5151755"/>
            <a:chOff x="1190241" y="2409063"/>
            <a:chExt cx="4185920" cy="515175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0241" y="6790947"/>
              <a:ext cx="4185670" cy="7696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1419" y="2409063"/>
              <a:ext cx="4165600" cy="438717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2916" y="2604473"/>
            <a:ext cx="3504508" cy="352585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7A9A5E96-519D-4919-0BE9-13F14DEFA0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8872829"/>
                  </p:ext>
                </p:extLst>
              </p:nvPr>
            </p:nvGraphicFramePr>
            <p:xfrm>
              <a:off x="2451100" y="997011"/>
              <a:ext cx="93595" cy="66195"/>
            </p:xfrm>
            <a:graphic>
              <a:graphicData uri="http://schemas.microsoft.com/office/powerpoint/2016/slidezoom">
                <pslz:sldZm>
                  <pslz:sldZmObj sldId="264" cId="0">
                    <pslz:zmPr id="{30271553-9CDB-4798-B27E-BC4111C7AC96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3595" cy="6619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7A9A5E96-519D-4919-0BE9-13F14DEFA0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51100" y="997011"/>
                <a:ext cx="93595" cy="66195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5300" y="443230"/>
            <a:ext cx="646290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Sistema</a:t>
            </a:r>
            <a:r>
              <a:rPr spc="65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23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de</a:t>
            </a:r>
            <a:r>
              <a:rPr spc="66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30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Roles</a:t>
            </a:r>
            <a:r>
              <a:rPr spc="66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229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Propio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448" y="460248"/>
            <a:ext cx="9624060" cy="723265"/>
            <a:chOff x="536448" y="460248"/>
            <a:chExt cx="9624060" cy="723265"/>
          </a:xfrm>
        </p:grpSpPr>
        <p:sp>
          <p:nvSpPr>
            <p:cNvPr id="4" name="object 4"/>
            <p:cNvSpPr/>
            <p:nvPr/>
          </p:nvSpPr>
          <p:spPr>
            <a:xfrm>
              <a:off x="536448" y="460247"/>
              <a:ext cx="9624060" cy="713740"/>
            </a:xfrm>
            <a:custGeom>
              <a:avLst/>
              <a:gdLst/>
              <a:ahLst/>
              <a:cxnLst/>
              <a:rect l="l" t="t" r="r" b="b"/>
              <a:pathLst>
                <a:path w="9624060" h="713740">
                  <a:moveTo>
                    <a:pt x="9624060" y="704342"/>
                  </a:moveTo>
                  <a:lnTo>
                    <a:pt x="0" y="704342"/>
                  </a:lnTo>
                  <a:lnTo>
                    <a:pt x="0" y="713486"/>
                  </a:lnTo>
                  <a:lnTo>
                    <a:pt x="9624060" y="713486"/>
                  </a:lnTo>
                  <a:lnTo>
                    <a:pt x="9624060" y="704342"/>
                  </a:lnTo>
                  <a:close/>
                </a:path>
                <a:path w="9624060" h="713740">
                  <a:moveTo>
                    <a:pt x="962406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4060" y="9144"/>
                  </a:lnTo>
                  <a:lnTo>
                    <a:pt x="9624060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870" y="498475"/>
              <a:ext cx="621030" cy="6845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5428" y="485140"/>
              <a:ext cx="690466" cy="6616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3700" y="557403"/>
              <a:ext cx="820420" cy="56832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084197" y="2543810"/>
            <a:ext cx="1940560" cy="2478405"/>
          </a:xfrm>
          <a:custGeom>
            <a:avLst/>
            <a:gdLst/>
            <a:ahLst/>
            <a:cxnLst/>
            <a:rect l="l" t="t" r="r" b="b"/>
            <a:pathLst>
              <a:path w="1940560" h="2478404">
                <a:moveTo>
                  <a:pt x="1784857" y="0"/>
                </a:moveTo>
                <a:lnTo>
                  <a:pt x="155194" y="0"/>
                </a:lnTo>
                <a:lnTo>
                  <a:pt x="106135" y="7910"/>
                </a:lnTo>
                <a:lnTo>
                  <a:pt x="63532" y="29939"/>
                </a:lnTo>
                <a:lnTo>
                  <a:pt x="29939" y="63532"/>
                </a:lnTo>
                <a:lnTo>
                  <a:pt x="7910" y="106135"/>
                </a:lnTo>
                <a:lnTo>
                  <a:pt x="0" y="155193"/>
                </a:lnTo>
                <a:lnTo>
                  <a:pt x="0" y="2478278"/>
                </a:lnTo>
                <a:lnTo>
                  <a:pt x="1940052" y="2478278"/>
                </a:lnTo>
                <a:lnTo>
                  <a:pt x="1940052" y="155193"/>
                </a:lnTo>
                <a:lnTo>
                  <a:pt x="1932129" y="106135"/>
                </a:lnTo>
                <a:lnTo>
                  <a:pt x="1910075" y="63532"/>
                </a:lnTo>
                <a:lnTo>
                  <a:pt x="1876464" y="29939"/>
                </a:lnTo>
                <a:lnTo>
                  <a:pt x="1833867" y="7910"/>
                </a:lnTo>
                <a:lnTo>
                  <a:pt x="1784857" y="0"/>
                </a:lnTo>
                <a:close/>
              </a:path>
            </a:pathLst>
          </a:custGeom>
          <a:solidFill>
            <a:srgbClr val="2AA3AC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7663" y="2603118"/>
            <a:ext cx="1886585" cy="167481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3515" marR="5080" indent="-171450">
              <a:lnSpc>
                <a:spcPts val="1689"/>
              </a:lnSpc>
              <a:spcBef>
                <a:spcPts val="340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Ver</a:t>
            </a:r>
            <a:r>
              <a:rPr sz="1600" spc="13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55" dirty="0">
                <a:latin typeface="Rockwell" panose="02060603020205020403" pitchFamily="18" charset="0"/>
                <a:cs typeface="Cambria"/>
              </a:rPr>
              <a:t>categorías</a:t>
            </a:r>
            <a:r>
              <a:rPr sz="1600" spc="16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30" dirty="0">
                <a:latin typeface="Rockwell" panose="02060603020205020403" pitchFamily="18" charset="0"/>
                <a:cs typeface="Cambria"/>
              </a:rPr>
              <a:t>y 	</a:t>
            </a:r>
            <a:r>
              <a:rPr sz="1600" spc="-10" dirty="0">
                <a:latin typeface="Rockwell" panose="02060603020205020403" pitchFamily="18" charset="0"/>
                <a:cs typeface="Cambria"/>
              </a:rPr>
              <a:t>cursos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3515" marR="555625" indent="-171450">
              <a:lnSpc>
                <a:spcPts val="1689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spc="60" dirty="0">
                <a:latin typeface="Rockwell" panose="02060603020205020403" pitchFamily="18" charset="0"/>
                <a:cs typeface="Cambria"/>
              </a:rPr>
              <a:t>Descargar 	</a:t>
            </a:r>
            <a:r>
              <a:rPr sz="1600" spc="-10" dirty="0">
                <a:latin typeface="Rockwell" panose="02060603020205020403" pitchFamily="18" charset="0"/>
                <a:cs typeface="Cambria"/>
              </a:rPr>
              <a:t>archivos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30"/>
              </a:spcBef>
              <a:buChar char="•"/>
              <a:tabLst>
                <a:tab pos="184150" algn="l"/>
              </a:tabLst>
            </a:pPr>
            <a:r>
              <a:rPr sz="1600" spc="65" dirty="0">
                <a:latin typeface="Rockwell" panose="02060603020205020403" pitchFamily="18" charset="0"/>
                <a:cs typeface="Cambria"/>
              </a:rPr>
              <a:t>Seguir</a:t>
            </a:r>
            <a:r>
              <a:rPr sz="1600" spc="5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40" dirty="0">
                <a:latin typeface="Rockwell" panose="02060603020205020403" pitchFamily="18" charset="0"/>
                <a:cs typeface="Cambria"/>
              </a:rPr>
              <a:t>módulos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150" indent="-171450">
              <a:lnSpc>
                <a:spcPts val="1800"/>
              </a:lnSpc>
              <a:spcBef>
                <a:spcPts val="60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Solicitar</a:t>
            </a:r>
            <a:r>
              <a:rPr sz="1600" spc="32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30" dirty="0">
                <a:latin typeface="Rockwell" panose="02060603020205020403" pitchFamily="18" charset="0"/>
                <a:cs typeface="Cambria"/>
              </a:rPr>
              <a:t>ser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785">
              <a:lnSpc>
                <a:spcPts val="1800"/>
              </a:lnSpc>
            </a:pPr>
            <a:r>
              <a:rPr sz="1600" spc="45" dirty="0">
                <a:latin typeface="Rockwell" panose="02060603020205020403" pitchFamily="18" charset="0"/>
                <a:cs typeface="Cambria"/>
              </a:rPr>
              <a:t>colaborador</a:t>
            </a:r>
            <a:endParaRPr sz="16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7847" y="4464253"/>
            <a:ext cx="1953260" cy="635635"/>
            <a:chOff x="2077847" y="4464253"/>
            <a:chExt cx="1953260" cy="63563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4197" y="4470603"/>
              <a:ext cx="1940052" cy="6227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84197" y="4470603"/>
              <a:ext cx="1940560" cy="622935"/>
            </a:xfrm>
            <a:custGeom>
              <a:avLst/>
              <a:gdLst/>
              <a:ahLst/>
              <a:cxnLst/>
              <a:rect l="l" t="t" r="r" b="b"/>
              <a:pathLst>
                <a:path w="1940560" h="622935">
                  <a:moveTo>
                    <a:pt x="0" y="622731"/>
                  </a:moveTo>
                  <a:lnTo>
                    <a:pt x="1940052" y="622731"/>
                  </a:lnTo>
                  <a:lnTo>
                    <a:pt x="1940052" y="0"/>
                  </a:lnTo>
                  <a:lnTo>
                    <a:pt x="0" y="0"/>
                  </a:lnTo>
                  <a:lnTo>
                    <a:pt x="0" y="622731"/>
                  </a:lnTo>
                  <a:close/>
                </a:path>
              </a:pathLst>
            </a:custGeom>
            <a:ln w="12699">
              <a:solidFill>
                <a:srgbClr val="2AA3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36394" y="4503801"/>
            <a:ext cx="924306" cy="50783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60"/>
              </a:spcBef>
            </a:pPr>
            <a:r>
              <a:rPr sz="1700" spc="-10" dirty="0">
                <a:latin typeface="Rockwell" panose="02060603020205020403" pitchFamily="18" charset="0"/>
                <a:cs typeface="Cambria"/>
              </a:rPr>
              <a:t>Alumno </a:t>
            </a:r>
            <a:r>
              <a:rPr sz="1700" spc="45" dirty="0">
                <a:latin typeface="Rockwell" panose="02060603020205020403" pitchFamily="18" charset="0"/>
                <a:cs typeface="Cambria"/>
              </a:rPr>
              <a:t>BiViR@</a:t>
            </a:r>
            <a:endParaRPr sz="17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98850" y="4563110"/>
            <a:ext cx="692150" cy="692150"/>
            <a:chOff x="3498850" y="4563110"/>
            <a:chExt cx="692150" cy="69215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00" y="4569511"/>
              <a:ext cx="679018" cy="6790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05200" y="456946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597"/>
                  </a:moveTo>
                  <a:lnTo>
                    <a:pt x="3099" y="293511"/>
                  </a:lnTo>
                  <a:lnTo>
                    <a:pt x="12129" y="249310"/>
                  </a:lnTo>
                  <a:lnTo>
                    <a:pt x="26683" y="207400"/>
                  </a:lnTo>
                  <a:lnTo>
                    <a:pt x="46359" y="168185"/>
                  </a:lnTo>
                  <a:lnTo>
                    <a:pt x="70752" y="132069"/>
                  </a:lnTo>
                  <a:lnTo>
                    <a:pt x="99456" y="99456"/>
                  </a:lnTo>
                  <a:lnTo>
                    <a:pt x="132069" y="70752"/>
                  </a:lnTo>
                  <a:lnTo>
                    <a:pt x="168185" y="46359"/>
                  </a:lnTo>
                  <a:lnTo>
                    <a:pt x="207400" y="26683"/>
                  </a:lnTo>
                  <a:lnTo>
                    <a:pt x="249310" y="12129"/>
                  </a:lnTo>
                  <a:lnTo>
                    <a:pt x="293511" y="3099"/>
                  </a:lnTo>
                  <a:lnTo>
                    <a:pt x="339598" y="0"/>
                  </a:lnTo>
                  <a:lnTo>
                    <a:pt x="385655" y="3099"/>
                  </a:lnTo>
                  <a:lnTo>
                    <a:pt x="429831" y="12129"/>
                  </a:lnTo>
                  <a:lnTo>
                    <a:pt x="471721" y="26683"/>
                  </a:lnTo>
                  <a:lnTo>
                    <a:pt x="510920" y="46359"/>
                  </a:lnTo>
                  <a:lnTo>
                    <a:pt x="547024" y="70752"/>
                  </a:lnTo>
                  <a:lnTo>
                    <a:pt x="579627" y="99456"/>
                  </a:lnTo>
                  <a:lnTo>
                    <a:pt x="608326" y="132069"/>
                  </a:lnTo>
                  <a:lnTo>
                    <a:pt x="632713" y="168185"/>
                  </a:lnTo>
                  <a:lnTo>
                    <a:pt x="652387" y="207400"/>
                  </a:lnTo>
                  <a:lnTo>
                    <a:pt x="666940" y="249310"/>
                  </a:lnTo>
                  <a:lnTo>
                    <a:pt x="675969" y="293511"/>
                  </a:lnTo>
                  <a:lnTo>
                    <a:pt x="679069" y="339597"/>
                  </a:lnTo>
                  <a:lnTo>
                    <a:pt x="675969" y="385655"/>
                  </a:lnTo>
                  <a:lnTo>
                    <a:pt x="666940" y="429831"/>
                  </a:lnTo>
                  <a:lnTo>
                    <a:pt x="652387" y="471721"/>
                  </a:lnTo>
                  <a:lnTo>
                    <a:pt x="632714" y="510920"/>
                  </a:lnTo>
                  <a:lnTo>
                    <a:pt x="608326" y="547024"/>
                  </a:lnTo>
                  <a:lnTo>
                    <a:pt x="579628" y="579627"/>
                  </a:lnTo>
                  <a:lnTo>
                    <a:pt x="547024" y="608326"/>
                  </a:lnTo>
                  <a:lnTo>
                    <a:pt x="510921" y="632713"/>
                  </a:lnTo>
                  <a:lnTo>
                    <a:pt x="471721" y="652387"/>
                  </a:lnTo>
                  <a:lnTo>
                    <a:pt x="429831" y="666940"/>
                  </a:lnTo>
                  <a:lnTo>
                    <a:pt x="385655" y="675969"/>
                  </a:lnTo>
                  <a:lnTo>
                    <a:pt x="339598" y="679068"/>
                  </a:lnTo>
                  <a:lnTo>
                    <a:pt x="293511" y="675969"/>
                  </a:lnTo>
                  <a:lnTo>
                    <a:pt x="249310" y="666940"/>
                  </a:lnTo>
                  <a:lnTo>
                    <a:pt x="207400" y="652387"/>
                  </a:lnTo>
                  <a:lnTo>
                    <a:pt x="168185" y="632713"/>
                  </a:lnTo>
                  <a:lnTo>
                    <a:pt x="132069" y="608326"/>
                  </a:lnTo>
                  <a:lnTo>
                    <a:pt x="99456" y="579627"/>
                  </a:lnTo>
                  <a:lnTo>
                    <a:pt x="70752" y="547024"/>
                  </a:lnTo>
                  <a:lnTo>
                    <a:pt x="46359" y="510920"/>
                  </a:lnTo>
                  <a:lnTo>
                    <a:pt x="26683" y="471721"/>
                  </a:lnTo>
                  <a:lnTo>
                    <a:pt x="12129" y="429831"/>
                  </a:lnTo>
                  <a:lnTo>
                    <a:pt x="3099" y="385655"/>
                  </a:lnTo>
                  <a:lnTo>
                    <a:pt x="0" y="339597"/>
                  </a:lnTo>
                  <a:close/>
                </a:path>
              </a:pathLst>
            </a:custGeom>
            <a:ln w="12700">
              <a:solidFill>
                <a:srgbClr val="CD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326382" y="2540762"/>
            <a:ext cx="1940560" cy="2032000"/>
          </a:xfrm>
          <a:custGeom>
            <a:avLst/>
            <a:gdLst/>
            <a:ahLst/>
            <a:cxnLst/>
            <a:rect l="l" t="t" r="r" b="b"/>
            <a:pathLst>
              <a:path w="1940560" h="2032000">
                <a:moveTo>
                  <a:pt x="1784857" y="0"/>
                </a:moveTo>
                <a:lnTo>
                  <a:pt x="155193" y="0"/>
                </a:lnTo>
                <a:lnTo>
                  <a:pt x="106135" y="7910"/>
                </a:lnTo>
                <a:lnTo>
                  <a:pt x="63532" y="29939"/>
                </a:lnTo>
                <a:lnTo>
                  <a:pt x="29939" y="63532"/>
                </a:lnTo>
                <a:lnTo>
                  <a:pt x="7910" y="106135"/>
                </a:lnTo>
                <a:lnTo>
                  <a:pt x="0" y="155193"/>
                </a:lnTo>
                <a:lnTo>
                  <a:pt x="0" y="2031745"/>
                </a:lnTo>
                <a:lnTo>
                  <a:pt x="1940052" y="2031745"/>
                </a:lnTo>
                <a:lnTo>
                  <a:pt x="1940052" y="155193"/>
                </a:lnTo>
                <a:lnTo>
                  <a:pt x="1932141" y="106135"/>
                </a:lnTo>
                <a:lnTo>
                  <a:pt x="1910112" y="63532"/>
                </a:lnTo>
                <a:lnTo>
                  <a:pt x="1876519" y="29939"/>
                </a:lnTo>
                <a:lnTo>
                  <a:pt x="1833916" y="7910"/>
                </a:lnTo>
                <a:lnTo>
                  <a:pt x="1784857" y="0"/>
                </a:lnTo>
                <a:close/>
              </a:path>
            </a:pathLst>
          </a:custGeom>
          <a:solidFill>
            <a:srgbClr val="DC631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80103" y="2600070"/>
            <a:ext cx="1877568" cy="189026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3515" marR="500380" indent="-171450">
              <a:lnSpc>
                <a:spcPts val="1689"/>
              </a:lnSpc>
              <a:spcBef>
                <a:spcPts val="340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Todo</a:t>
            </a:r>
            <a:r>
              <a:rPr sz="1600" spc="13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dirty="0">
                <a:latin typeface="Rockwell" panose="02060603020205020403" pitchFamily="18" charset="0"/>
                <a:cs typeface="Cambria"/>
              </a:rPr>
              <a:t>lo</a:t>
            </a:r>
            <a:r>
              <a:rPr sz="16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65" dirty="0">
                <a:latin typeface="Rockwell" panose="02060603020205020403" pitchFamily="18" charset="0"/>
                <a:cs typeface="Cambria"/>
              </a:rPr>
              <a:t>del 	</a:t>
            </a:r>
            <a:r>
              <a:rPr sz="1600" spc="-10" dirty="0">
                <a:latin typeface="Rockwell" panose="02060603020205020403" pitchFamily="18" charset="0"/>
                <a:cs typeface="Cambria"/>
              </a:rPr>
              <a:t>alumno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3515" marR="5080" indent="-171450">
              <a:lnSpc>
                <a:spcPts val="1689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Subir</a:t>
            </a:r>
            <a:r>
              <a:rPr sz="1600" spc="254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dirty="0">
                <a:latin typeface="Rockwell" panose="02060603020205020403" pitchFamily="18" charset="0"/>
                <a:cs typeface="Cambria"/>
              </a:rPr>
              <a:t>archivos</a:t>
            </a:r>
            <a:r>
              <a:rPr sz="1600" spc="27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-25" dirty="0">
                <a:latin typeface="Rockwell" panose="02060603020205020403" pitchFamily="18" charset="0"/>
                <a:cs typeface="Cambria"/>
              </a:rPr>
              <a:t>al 	</a:t>
            </a:r>
            <a:r>
              <a:rPr sz="1600" spc="-10" dirty="0">
                <a:latin typeface="Rockwell" panose="02060603020205020403" pitchFamily="18" charset="0"/>
                <a:cs typeface="Cambria"/>
              </a:rPr>
              <a:t>módulo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3515" marR="476250" indent="-171450">
              <a:lnSpc>
                <a:spcPts val="1689"/>
              </a:lnSpc>
              <a:spcBef>
                <a:spcPts val="280"/>
              </a:spcBef>
              <a:buChar char="•"/>
              <a:tabLst>
                <a:tab pos="184785" algn="l"/>
              </a:tabLst>
            </a:pPr>
            <a:r>
              <a:rPr sz="1600" spc="55" dirty="0">
                <a:latin typeface="Rockwell" panose="02060603020205020403" pitchFamily="18" charset="0"/>
                <a:cs typeface="Cambria"/>
              </a:rPr>
              <a:t>Gestionar 	</a:t>
            </a:r>
            <a:r>
              <a:rPr sz="1600" spc="45" dirty="0">
                <a:latin typeface="Rockwell" panose="02060603020205020403" pitchFamily="18" charset="0"/>
                <a:cs typeface="Cambria"/>
              </a:rPr>
              <a:t>actividades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150" indent="-171450">
              <a:lnSpc>
                <a:spcPts val="1805"/>
              </a:lnSpc>
              <a:spcBef>
                <a:spcPts val="30"/>
              </a:spcBef>
              <a:buChar char="•"/>
              <a:tabLst>
                <a:tab pos="184150" algn="l"/>
              </a:tabLst>
            </a:pPr>
            <a:r>
              <a:rPr sz="1600" spc="75" dirty="0">
                <a:latin typeface="Rockwell" panose="02060603020205020403" pitchFamily="18" charset="0"/>
                <a:cs typeface="Cambria"/>
              </a:rPr>
              <a:t>Modo</a:t>
            </a:r>
            <a:r>
              <a:rPr sz="1600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55" dirty="0">
                <a:latin typeface="Rockwell" panose="02060603020205020403" pitchFamily="18" charset="0"/>
                <a:cs typeface="Cambria"/>
              </a:rPr>
              <a:t>edición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785">
              <a:lnSpc>
                <a:spcPts val="1805"/>
              </a:lnSpc>
            </a:pPr>
            <a:r>
              <a:rPr sz="1600" spc="90" dirty="0">
                <a:latin typeface="Rockwell" panose="02060603020205020403" pitchFamily="18" charset="0"/>
                <a:cs typeface="Cambria"/>
              </a:rPr>
              <a:t>del</a:t>
            </a:r>
            <a:r>
              <a:rPr sz="1600" spc="5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-10" dirty="0">
                <a:latin typeface="Rockwell" panose="02060603020205020403" pitchFamily="18" charset="0"/>
                <a:cs typeface="Cambria"/>
              </a:rPr>
              <a:t>curso</a:t>
            </a:r>
            <a:endParaRPr sz="16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11269" y="4472381"/>
            <a:ext cx="1953260" cy="635635"/>
            <a:chOff x="4311269" y="4472381"/>
            <a:chExt cx="1953260" cy="63563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7619" y="4478731"/>
              <a:ext cx="1940052" cy="6227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17619" y="4478731"/>
              <a:ext cx="1940560" cy="622935"/>
            </a:xfrm>
            <a:custGeom>
              <a:avLst/>
              <a:gdLst/>
              <a:ahLst/>
              <a:cxnLst/>
              <a:rect l="l" t="t" r="r" b="b"/>
              <a:pathLst>
                <a:path w="1940560" h="622935">
                  <a:moveTo>
                    <a:pt x="0" y="622731"/>
                  </a:moveTo>
                  <a:lnTo>
                    <a:pt x="1940052" y="622731"/>
                  </a:lnTo>
                  <a:lnTo>
                    <a:pt x="1940052" y="0"/>
                  </a:lnTo>
                  <a:lnTo>
                    <a:pt x="0" y="0"/>
                  </a:lnTo>
                  <a:lnTo>
                    <a:pt x="0" y="622731"/>
                  </a:lnTo>
                  <a:close/>
                </a:path>
              </a:pathLst>
            </a:custGeom>
            <a:ln w="12699">
              <a:solidFill>
                <a:srgbClr val="DD8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70323" y="4512055"/>
            <a:ext cx="1437589" cy="5137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60"/>
              </a:spcBef>
            </a:pPr>
            <a:r>
              <a:rPr sz="1700" spc="75" dirty="0">
                <a:latin typeface="Rockwell" panose="02060603020205020403" pitchFamily="18" charset="0"/>
                <a:cs typeface="Cambria"/>
              </a:rPr>
              <a:t>Colaborador </a:t>
            </a:r>
            <a:r>
              <a:rPr sz="1700" spc="45" dirty="0">
                <a:latin typeface="Rockwell" panose="02060603020205020403" pitchFamily="18" charset="0"/>
                <a:cs typeface="Cambria"/>
              </a:rPr>
              <a:t>BiViR@</a:t>
            </a:r>
            <a:endParaRPr sz="17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49925" y="4564126"/>
            <a:ext cx="692150" cy="692150"/>
            <a:chOff x="5749925" y="4564126"/>
            <a:chExt cx="692150" cy="69215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56275" y="4570526"/>
              <a:ext cx="678941" cy="67901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56275" y="4570476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470"/>
                  </a:moveTo>
                  <a:lnTo>
                    <a:pt x="3097" y="293413"/>
                  </a:lnTo>
                  <a:lnTo>
                    <a:pt x="12119" y="249237"/>
                  </a:lnTo>
                  <a:lnTo>
                    <a:pt x="26664" y="207347"/>
                  </a:lnTo>
                  <a:lnTo>
                    <a:pt x="46326" y="168148"/>
                  </a:lnTo>
                  <a:lnTo>
                    <a:pt x="70704" y="132044"/>
                  </a:lnTo>
                  <a:lnTo>
                    <a:pt x="99393" y="99441"/>
                  </a:lnTo>
                  <a:lnTo>
                    <a:pt x="131990" y="70742"/>
                  </a:lnTo>
                  <a:lnTo>
                    <a:pt x="168091" y="46355"/>
                  </a:lnTo>
                  <a:lnTo>
                    <a:pt x="207293" y="26681"/>
                  </a:lnTo>
                  <a:lnTo>
                    <a:pt x="249193" y="12128"/>
                  </a:lnTo>
                  <a:lnTo>
                    <a:pt x="293386" y="3099"/>
                  </a:lnTo>
                  <a:lnTo>
                    <a:pt x="339471" y="0"/>
                  </a:lnTo>
                  <a:lnTo>
                    <a:pt x="385528" y="3099"/>
                  </a:lnTo>
                  <a:lnTo>
                    <a:pt x="429704" y="12128"/>
                  </a:lnTo>
                  <a:lnTo>
                    <a:pt x="471594" y="26681"/>
                  </a:lnTo>
                  <a:lnTo>
                    <a:pt x="510793" y="46355"/>
                  </a:lnTo>
                  <a:lnTo>
                    <a:pt x="546897" y="70742"/>
                  </a:lnTo>
                  <a:lnTo>
                    <a:pt x="579500" y="99441"/>
                  </a:lnTo>
                  <a:lnTo>
                    <a:pt x="608199" y="132044"/>
                  </a:lnTo>
                  <a:lnTo>
                    <a:pt x="632586" y="168148"/>
                  </a:lnTo>
                  <a:lnTo>
                    <a:pt x="652260" y="207347"/>
                  </a:lnTo>
                  <a:lnTo>
                    <a:pt x="666813" y="249237"/>
                  </a:lnTo>
                  <a:lnTo>
                    <a:pt x="675842" y="293413"/>
                  </a:lnTo>
                  <a:lnTo>
                    <a:pt x="678941" y="339470"/>
                  </a:lnTo>
                  <a:lnTo>
                    <a:pt x="675842" y="385557"/>
                  </a:lnTo>
                  <a:lnTo>
                    <a:pt x="666813" y="429758"/>
                  </a:lnTo>
                  <a:lnTo>
                    <a:pt x="652260" y="471668"/>
                  </a:lnTo>
                  <a:lnTo>
                    <a:pt x="632587" y="510883"/>
                  </a:lnTo>
                  <a:lnTo>
                    <a:pt x="608199" y="546999"/>
                  </a:lnTo>
                  <a:lnTo>
                    <a:pt x="579501" y="579612"/>
                  </a:lnTo>
                  <a:lnTo>
                    <a:pt x="546897" y="608316"/>
                  </a:lnTo>
                  <a:lnTo>
                    <a:pt x="510794" y="632709"/>
                  </a:lnTo>
                  <a:lnTo>
                    <a:pt x="471594" y="652385"/>
                  </a:lnTo>
                  <a:lnTo>
                    <a:pt x="429704" y="666939"/>
                  </a:lnTo>
                  <a:lnTo>
                    <a:pt x="385528" y="675969"/>
                  </a:lnTo>
                  <a:lnTo>
                    <a:pt x="339471" y="679069"/>
                  </a:lnTo>
                  <a:lnTo>
                    <a:pt x="293386" y="675969"/>
                  </a:lnTo>
                  <a:lnTo>
                    <a:pt x="249193" y="666939"/>
                  </a:lnTo>
                  <a:lnTo>
                    <a:pt x="207293" y="652385"/>
                  </a:lnTo>
                  <a:lnTo>
                    <a:pt x="168091" y="632709"/>
                  </a:lnTo>
                  <a:lnTo>
                    <a:pt x="131990" y="608316"/>
                  </a:lnTo>
                  <a:lnTo>
                    <a:pt x="99393" y="579612"/>
                  </a:lnTo>
                  <a:lnTo>
                    <a:pt x="70704" y="546999"/>
                  </a:lnTo>
                  <a:lnTo>
                    <a:pt x="46326" y="510883"/>
                  </a:lnTo>
                  <a:lnTo>
                    <a:pt x="26664" y="471668"/>
                  </a:lnTo>
                  <a:lnTo>
                    <a:pt x="12119" y="429758"/>
                  </a:lnTo>
                  <a:lnTo>
                    <a:pt x="3097" y="385557"/>
                  </a:lnTo>
                  <a:lnTo>
                    <a:pt x="0" y="339470"/>
                  </a:lnTo>
                  <a:close/>
                </a:path>
              </a:pathLst>
            </a:custGeom>
            <a:ln w="12700">
              <a:solidFill>
                <a:srgbClr val="D7E4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620891" y="2599436"/>
            <a:ext cx="1940560" cy="2171065"/>
          </a:xfrm>
          <a:custGeom>
            <a:avLst/>
            <a:gdLst/>
            <a:ahLst/>
            <a:cxnLst/>
            <a:rect l="l" t="t" r="r" b="b"/>
            <a:pathLst>
              <a:path w="1940559" h="2171065">
                <a:moveTo>
                  <a:pt x="1784857" y="0"/>
                </a:moveTo>
                <a:lnTo>
                  <a:pt x="155193" y="0"/>
                </a:lnTo>
                <a:lnTo>
                  <a:pt x="106135" y="7910"/>
                </a:lnTo>
                <a:lnTo>
                  <a:pt x="63532" y="29939"/>
                </a:lnTo>
                <a:lnTo>
                  <a:pt x="29939" y="63532"/>
                </a:lnTo>
                <a:lnTo>
                  <a:pt x="7910" y="106135"/>
                </a:lnTo>
                <a:lnTo>
                  <a:pt x="0" y="155193"/>
                </a:lnTo>
                <a:lnTo>
                  <a:pt x="0" y="2171065"/>
                </a:lnTo>
                <a:lnTo>
                  <a:pt x="1940052" y="2171065"/>
                </a:lnTo>
                <a:lnTo>
                  <a:pt x="1940052" y="155193"/>
                </a:lnTo>
                <a:lnTo>
                  <a:pt x="1932141" y="106135"/>
                </a:lnTo>
                <a:lnTo>
                  <a:pt x="1910112" y="63532"/>
                </a:lnTo>
                <a:lnTo>
                  <a:pt x="1876519" y="29939"/>
                </a:lnTo>
                <a:lnTo>
                  <a:pt x="1833916" y="7910"/>
                </a:lnTo>
                <a:lnTo>
                  <a:pt x="1784857" y="0"/>
                </a:lnTo>
                <a:close/>
              </a:path>
            </a:pathLst>
          </a:custGeom>
          <a:solidFill>
            <a:srgbClr val="004B7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674866" y="2658618"/>
            <a:ext cx="1491234" cy="163378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3515" marR="22860" indent="-171450">
              <a:lnSpc>
                <a:spcPts val="1689"/>
              </a:lnSpc>
              <a:spcBef>
                <a:spcPts val="340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Todo</a:t>
            </a:r>
            <a:r>
              <a:rPr sz="1600" spc="13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dirty="0">
                <a:latin typeface="Rockwell" panose="02060603020205020403" pitchFamily="18" charset="0"/>
                <a:cs typeface="Cambria"/>
              </a:rPr>
              <a:t>lo</a:t>
            </a:r>
            <a:r>
              <a:rPr sz="16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65" dirty="0">
                <a:latin typeface="Rockwell" panose="02060603020205020403" pitchFamily="18" charset="0"/>
                <a:cs typeface="Cambria"/>
              </a:rPr>
              <a:t>del 	</a:t>
            </a:r>
            <a:r>
              <a:rPr sz="1600" spc="45" dirty="0">
                <a:latin typeface="Rockwell" panose="02060603020205020403" pitchFamily="18" charset="0"/>
                <a:cs typeface="Cambria"/>
              </a:rPr>
              <a:t>colaborador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150" indent="-171450">
              <a:lnSpc>
                <a:spcPts val="1805"/>
              </a:lnSpc>
              <a:spcBef>
                <a:spcPts val="45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Rockwell" panose="02060603020205020403" pitchFamily="18" charset="0"/>
                <a:cs typeface="Cambria"/>
              </a:rPr>
              <a:t>Distintivo</a:t>
            </a:r>
            <a:r>
              <a:rPr sz="1600" spc="120" dirty="0">
                <a:latin typeface="Rockwell" panose="02060603020205020403" pitchFamily="18" charset="0"/>
                <a:cs typeface="Cambria"/>
              </a:rPr>
              <a:t> </a:t>
            </a:r>
            <a:r>
              <a:rPr sz="1600" spc="90" dirty="0">
                <a:latin typeface="Rockwell" panose="02060603020205020403" pitchFamily="18" charset="0"/>
                <a:cs typeface="Cambria"/>
              </a:rPr>
              <a:t>de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4785">
              <a:lnSpc>
                <a:spcPts val="1805"/>
              </a:lnSpc>
            </a:pPr>
            <a:r>
              <a:rPr sz="1600" spc="60" dirty="0">
                <a:latin typeface="Rockwell" panose="02060603020205020403" pitchFamily="18" charset="0"/>
                <a:cs typeface="Cambria"/>
              </a:rPr>
              <a:t>Docente</a:t>
            </a:r>
            <a:endParaRPr sz="1600" dirty="0">
              <a:latin typeface="Rockwell" panose="02060603020205020403" pitchFamily="18" charset="0"/>
              <a:cs typeface="Cambria"/>
            </a:endParaRPr>
          </a:p>
          <a:p>
            <a:pPr marL="183515" marR="187325" indent="-171450" algn="just">
              <a:lnSpc>
                <a:spcPts val="1689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spc="40" dirty="0">
                <a:latin typeface="Rockwell" panose="02060603020205020403" pitchFamily="18" charset="0"/>
                <a:cs typeface="Cambria"/>
              </a:rPr>
              <a:t>Materiales 	</a:t>
            </a:r>
            <a:r>
              <a:rPr sz="1600" spc="45" dirty="0">
                <a:latin typeface="Rockwell" panose="02060603020205020403" pitchFamily="18" charset="0"/>
                <a:cs typeface="Cambria"/>
              </a:rPr>
              <a:t>didácticos 	</a:t>
            </a:r>
            <a:r>
              <a:rPr sz="1600" spc="40" dirty="0">
                <a:latin typeface="Rockwell" panose="02060603020205020403" pitchFamily="18" charset="0"/>
                <a:cs typeface="Cambria"/>
              </a:rPr>
              <a:t>oficiales</a:t>
            </a:r>
            <a:endParaRPr sz="16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14541" y="4483176"/>
            <a:ext cx="1953260" cy="635635"/>
            <a:chOff x="6614541" y="4483176"/>
            <a:chExt cx="1953260" cy="635635"/>
          </a:xfrm>
        </p:grpSpPr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0891" y="4489526"/>
              <a:ext cx="1940052" cy="62273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20891" y="4489526"/>
              <a:ext cx="1940560" cy="622935"/>
            </a:xfrm>
            <a:custGeom>
              <a:avLst/>
              <a:gdLst/>
              <a:ahLst/>
              <a:cxnLst/>
              <a:rect l="l" t="t" r="r" b="b"/>
              <a:pathLst>
                <a:path w="1940559" h="622935">
                  <a:moveTo>
                    <a:pt x="0" y="622731"/>
                  </a:moveTo>
                  <a:lnTo>
                    <a:pt x="1940052" y="622731"/>
                  </a:lnTo>
                  <a:lnTo>
                    <a:pt x="1940052" y="0"/>
                  </a:lnTo>
                  <a:lnTo>
                    <a:pt x="0" y="0"/>
                  </a:lnTo>
                  <a:lnTo>
                    <a:pt x="0" y="622731"/>
                  </a:lnTo>
                  <a:close/>
                </a:path>
              </a:pathLst>
            </a:custGeom>
            <a:ln w="12699">
              <a:solidFill>
                <a:srgbClr val="004B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73977" y="4522723"/>
            <a:ext cx="978917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20"/>
              </a:lnSpc>
              <a:spcBef>
                <a:spcPts val="100"/>
              </a:spcBef>
            </a:pPr>
            <a:r>
              <a:rPr sz="1700" spc="65" dirty="0">
                <a:latin typeface="Rockwell" panose="02060603020205020403" pitchFamily="18" charset="0"/>
                <a:cs typeface="Cambria"/>
              </a:rPr>
              <a:t>Docente</a:t>
            </a:r>
            <a:endParaRPr sz="17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ts val="1920"/>
              </a:lnSpc>
            </a:pPr>
            <a:r>
              <a:rPr sz="1700" spc="45" dirty="0">
                <a:latin typeface="Rockwell" panose="02060603020205020403" pitchFamily="18" charset="0"/>
                <a:cs typeface="Cambria"/>
              </a:rPr>
              <a:t>BiViR@</a:t>
            </a:r>
            <a:endParaRPr sz="17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53069" y="4564126"/>
            <a:ext cx="692150" cy="692150"/>
            <a:chOff x="8053069" y="4564126"/>
            <a:chExt cx="692150" cy="692150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59419" y="4570526"/>
              <a:ext cx="679018" cy="67901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059419" y="4570476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470"/>
                  </a:moveTo>
                  <a:lnTo>
                    <a:pt x="3099" y="293413"/>
                  </a:lnTo>
                  <a:lnTo>
                    <a:pt x="12128" y="249237"/>
                  </a:lnTo>
                  <a:lnTo>
                    <a:pt x="26681" y="207347"/>
                  </a:lnTo>
                  <a:lnTo>
                    <a:pt x="46354" y="168148"/>
                  </a:lnTo>
                  <a:lnTo>
                    <a:pt x="70742" y="132044"/>
                  </a:lnTo>
                  <a:lnTo>
                    <a:pt x="99441" y="99441"/>
                  </a:lnTo>
                  <a:lnTo>
                    <a:pt x="132044" y="70742"/>
                  </a:lnTo>
                  <a:lnTo>
                    <a:pt x="168148" y="46355"/>
                  </a:lnTo>
                  <a:lnTo>
                    <a:pt x="207347" y="26681"/>
                  </a:lnTo>
                  <a:lnTo>
                    <a:pt x="249237" y="12128"/>
                  </a:lnTo>
                  <a:lnTo>
                    <a:pt x="293413" y="3099"/>
                  </a:lnTo>
                  <a:lnTo>
                    <a:pt x="339471" y="0"/>
                  </a:lnTo>
                  <a:lnTo>
                    <a:pt x="385557" y="3099"/>
                  </a:lnTo>
                  <a:lnTo>
                    <a:pt x="429758" y="12128"/>
                  </a:lnTo>
                  <a:lnTo>
                    <a:pt x="471668" y="26681"/>
                  </a:lnTo>
                  <a:lnTo>
                    <a:pt x="510883" y="46355"/>
                  </a:lnTo>
                  <a:lnTo>
                    <a:pt x="546999" y="70742"/>
                  </a:lnTo>
                  <a:lnTo>
                    <a:pt x="579612" y="99441"/>
                  </a:lnTo>
                  <a:lnTo>
                    <a:pt x="608316" y="132044"/>
                  </a:lnTo>
                  <a:lnTo>
                    <a:pt x="632709" y="168148"/>
                  </a:lnTo>
                  <a:lnTo>
                    <a:pt x="652385" y="207347"/>
                  </a:lnTo>
                  <a:lnTo>
                    <a:pt x="666939" y="249237"/>
                  </a:lnTo>
                  <a:lnTo>
                    <a:pt x="675969" y="293413"/>
                  </a:lnTo>
                  <a:lnTo>
                    <a:pt x="679069" y="339470"/>
                  </a:lnTo>
                  <a:lnTo>
                    <a:pt x="675969" y="385557"/>
                  </a:lnTo>
                  <a:lnTo>
                    <a:pt x="666939" y="429758"/>
                  </a:lnTo>
                  <a:lnTo>
                    <a:pt x="652385" y="471668"/>
                  </a:lnTo>
                  <a:lnTo>
                    <a:pt x="632709" y="510883"/>
                  </a:lnTo>
                  <a:lnTo>
                    <a:pt x="608316" y="546999"/>
                  </a:lnTo>
                  <a:lnTo>
                    <a:pt x="579612" y="579612"/>
                  </a:lnTo>
                  <a:lnTo>
                    <a:pt x="546999" y="608316"/>
                  </a:lnTo>
                  <a:lnTo>
                    <a:pt x="510883" y="632709"/>
                  </a:lnTo>
                  <a:lnTo>
                    <a:pt x="471668" y="652385"/>
                  </a:lnTo>
                  <a:lnTo>
                    <a:pt x="429758" y="666939"/>
                  </a:lnTo>
                  <a:lnTo>
                    <a:pt x="385557" y="675969"/>
                  </a:lnTo>
                  <a:lnTo>
                    <a:pt x="339471" y="679069"/>
                  </a:lnTo>
                  <a:lnTo>
                    <a:pt x="293413" y="675969"/>
                  </a:lnTo>
                  <a:lnTo>
                    <a:pt x="249237" y="666939"/>
                  </a:lnTo>
                  <a:lnTo>
                    <a:pt x="207347" y="652385"/>
                  </a:lnTo>
                  <a:lnTo>
                    <a:pt x="168148" y="632709"/>
                  </a:lnTo>
                  <a:lnTo>
                    <a:pt x="132044" y="608316"/>
                  </a:lnTo>
                  <a:lnTo>
                    <a:pt x="99440" y="579612"/>
                  </a:lnTo>
                  <a:lnTo>
                    <a:pt x="70742" y="546999"/>
                  </a:lnTo>
                  <a:lnTo>
                    <a:pt x="46354" y="510883"/>
                  </a:lnTo>
                  <a:lnTo>
                    <a:pt x="26681" y="471668"/>
                  </a:lnTo>
                  <a:lnTo>
                    <a:pt x="12128" y="429758"/>
                  </a:lnTo>
                  <a:lnTo>
                    <a:pt x="3099" y="385557"/>
                  </a:lnTo>
                  <a:lnTo>
                    <a:pt x="0" y="339470"/>
                  </a:lnTo>
                  <a:close/>
                </a:path>
              </a:pathLst>
            </a:custGeom>
            <a:ln w="12700">
              <a:solidFill>
                <a:srgbClr val="D2E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187828" y="1212567"/>
            <a:ext cx="631774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5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“Supera</a:t>
            </a:r>
            <a:r>
              <a:rPr sz="2000" i="1" spc="13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14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la</a:t>
            </a:r>
            <a:r>
              <a:rPr sz="2000" i="1" spc="14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7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limitación</a:t>
            </a:r>
            <a:r>
              <a:rPr sz="2000" i="1" spc="16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4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del</a:t>
            </a:r>
            <a:r>
              <a:rPr sz="2000" i="1" spc="17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Moodle</a:t>
            </a:r>
            <a:r>
              <a:rPr sz="2000" i="1" spc="17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75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  <a:cs typeface="Cambria"/>
              </a:rPr>
              <a:t>Institucional”</a:t>
            </a:r>
            <a:endParaRPr sz="2000" dirty="0">
              <a:solidFill>
                <a:schemeClr val="accent2">
                  <a:lumMod val="75000"/>
                </a:schemeClr>
              </a:solidFill>
              <a:latin typeface="Bookman Old Style" panose="02050604050505020204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Vista general de diapositiva 36">
                <a:extLst>
                  <a:ext uri="{FF2B5EF4-FFF2-40B4-BE49-F238E27FC236}">
                    <a16:creationId xmlns:a16="http://schemas.microsoft.com/office/drawing/2014/main" id="{B2084B4B-C05E-C661-0F1A-D6A7423BCDF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0707562"/>
                  </p:ext>
                </p:extLst>
              </p:nvPr>
            </p:nvGraphicFramePr>
            <p:xfrm>
              <a:off x="3668862" y="4950088"/>
              <a:ext cx="320533" cy="226695"/>
            </p:xfrm>
            <a:graphic>
              <a:graphicData uri="http://schemas.microsoft.com/office/powerpoint/2016/slidezoom">
                <pslz:sldZm>
                  <pslz:sldZmObj sldId="265" cId="0">
                    <pslz:zmPr id="{2BD3C438-3951-437D-BAED-D4D37AF30025}" returnToParent="0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0533" cy="226695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Vista general de diapositiva 36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B2084B4B-C05E-C661-0F1A-D6A7423BCD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68862" y="4950088"/>
                <a:ext cx="320533" cy="226695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21116" y="1588817"/>
            <a:ext cx="6846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pc="37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Seguridad</a:t>
            </a:r>
            <a:r>
              <a:rPr spc="64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12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y</a:t>
            </a:r>
            <a:r>
              <a:rPr spc="63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spc="345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Operaciones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543683" y="2216273"/>
            <a:ext cx="9624060" cy="9525"/>
          </a:xfrm>
          <a:custGeom>
            <a:avLst/>
            <a:gdLst/>
            <a:ahLst/>
            <a:cxnLst/>
            <a:rect l="l" t="t" r="r" b="b"/>
            <a:pathLst>
              <a:path w="9624060" h="9525">
                <a:moveTo>
                  <a:pt x="9624060" y="0"/>
                </a:moveTo>
                <a:lnTo>
                  <a:pt x="0" y="0"/>
                </a:lnTo>
                <a:lnTo>
                  <a:pt x="0" y="9143"/>
                </a:lnTo>
                <a:lnTo>
                  <a:pt x="9624060" y="9143"/>
                </a:lnTo>
                <a:lnTo>
                  <a:pt x="9624060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98" y="1581130"/>
            <a:ext cx="508494" cy="5434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6448" y="1490535"/>
            <a:ext cx="9624060" cy="687705"/>
            <a:chOff x="536448" y="507492"/>
            <a:chExt cx="9624060" cy="687705"/>
          </a:xfrm>
        </p:grpSpPr>
        <p:sp>
          <p:nvSpPr>
            <p:cNvPr id="6" name="object 6"/>
            <p:cNvSpPr/>
            <p:nvPr/>
          </p:nvSpPr>
          <p:spPr>
            <a:xfrm>
              <a:off x="536448" y="507492"/>
              <a:ext cx="9624060" cy="9525"/>
            </a:xfrm>
            <a:custGeom>
              <a:avLst/>
              <a:gdLst/>
              <a:ahLst/>
              <a:cxnLst/>
              <a:rect l="l" t="t" r="r" b="b"/>
              <a:pathLst>
                <a:path w="9624060" h="9525">
                  <a:moveTo>
                    <a:pt x="962406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4060" y="9144"/>
                  </a:lnTo>
                  <a:lnTo>
                    <a:pt x="9624060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3209" y="533400"/>
              <a:ext cx="690466" cy="6616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01479" y="610108"/>
              <a:ext cx="820420" cy="5683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90159" y="4236782"/>
            <a:ext cx="538609" cy="1578610"/>
          </a:xfrm>
          <a:prstGeom prst="rect">
            <a:avLst/>
          </a:prstGeom>
        </p:spPr>
        <p:txBody>
          <a:bodyPr vert="vert270" wrap="square" lIns="0" tIns="3873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305"/>
              </a:spcBef>
            </a:pPr>
            <a:r>
              <a:rPr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Firewall</a:t>
            </a:r>
            <a:r>
              <a:rPr sz="2000" spc="2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UFW </a:t>
            </a:r>
            <a:r>
              <a:rPr sz="2000" spc="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Activo</a:t>
            </a:r>
            <a:endParaRPr sz="2000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680" y="3629025"/>
            <a:ext cx="1134630" cy="217398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7002" y="3796792"/>
            <a:ext cx="956310" cy="10996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0485" marR="5080" indent="-69215">
              <a:lnSpc>
                <a:spcPts val="1160"/>
              </a:lnSpc>
              <a:spcBef>
                <a:spcPts val="275"/>
              </a:spcBef>
              <a:buSzPct val="90909"/>
              <a:buChar char="•"/>
              <a:tabLst>
                <a:tab pos="70485" algn="l"/>
              </a:tabLst>
            </a:pPr>
            <a:r>
              <a:rPr sz="1100" spc="40" dirty="0">
                <a:latin typeface="Rockwell" panose="02060603020205020403" pitchFamily="18" charset="0"/>
                <a:cs typeface="Cambria"/>
              </a:rPr>
              <a:t>Reglas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restrictivas. </a:t>
            </a:r>
            <a:r>
              <a:rPr sz="1100" dirty="0">
                <a:latin typeface="Rockwell" panose="02060603020205020403" pitchFamily="18" charset="0"/>
                <a:cs typeface="Cambria"/>
              </a:rPr>
              <a:t>Solo</a:t>
            </a:r>
            <a:r>
              <a:rPr sz="1100" spc="14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puertos </a:t>
            </a:r>
            <a:r>
              <a:rPr sz="1100" dirty="0">
                <a:latin typeface="Rockwell" panose="02060603020205020403" pitchFamily="18" charset="0"/>
                <a:cs typeface="Cambria"/>
              </a:rPr>
              <a:t>22,</a:t>
            </a:r>
            <a:r>
              <a:rPr sz="1100" spc="5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dirty="0">
                <a:latin typeface="Rockwell" panose="02060603020205020403" pitchFamily="18" charset="0"/>
                <a:cs typeface="Cambria"/>
              </a:rPr>
              <a:t>8080,</a:t>
            </a:r>
            <a:r>
              <a:rPr sz="1100" spc="5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20" dirty="0">
                <a:latin typeface="Rockwell" panose="02060603020205020403" pitchFamily="18" charset="0"/>
                <a:cs typeface="Cambria"/>
              </a:rPr>
              <a:t>443,</a:t>
            </a:r>
            <a:endParaRPr sz="1100" dirty="0">
              <a:latin typeface="Rockwell" panose="02060603020205020403" pitchFamily="18" charset="0"/>
              <a:cs typeface="Cambria"/>
            </a:endParaRPr>
          </a:p>
          <a:p>
            <a:pPr marL="70485">
              <a:lnSpc>
                <a:spcPts val="1085"/>
              </a:lnSpc>
            </a:pPr>
            <a:r>
              <a:rPr sz="1100" spc="-20" dirty="0">
                <a:latin typeface="Rockwell" panose="02060603020205020403" pitchFamily="18" charset="0"/>
                <a:cs typeface="Cambria"/>
              </a:rPr>
              <a:t>8443</a:t>
            </a:r>
            <a:endParaRPr sz="1100" dirty="0">
              <a:latin typeface="Rockwell" panose="02060603020205020403" pitchFamily="18" charset="0"/>
              <a:cs typeface="Cambria"/>
            </a:endParaRPr>
          </a:p>
          <a:p>
            <a:pPr marL="70485">
              <a:lnSpc>
                <a:spcPts val="1240"/>
              </a:lnSpc>
            </a:pPr>
            <a:r>
              <a:rPr sz="1100" spc="-10" dirty="0">
                <a:latin typeface="Rockwell" panose="02060603020205020403" pitchFamily="18" charset="0"/>
                <a:cs typeface="Cambria"/>
              </a:rPr>
              <a:t>abiertos.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6670" y="3327019"/>
            <a:ext cx="466725" cy="466725"/>
            <a:chOff x="545706" y="2671318"/>
            <a:chExt cx="466725" cy="46672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056" y="2677668"/>
              <a:ext cx="453898" cy="45389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2056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54393" y="4253074"/>
            <a:ext cx="307777" cy="156227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95"/>
              </a:lnSpc>
            </a:pPr>
            <a:r>
              <a:rPr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HTTPS+</a:t>
            </a:r>
            <a:r>
              <a:rPr sz="2000" spc="27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000" spc="-25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SSL</a:t>
            </a:r>
            <a:endParaRPr sz="2000" dirty="0">
              <a:solidFill>
                <a:schemeClr val="accent2">
                  <a:lumMod val="20000"/>
                  <a:lumOff val="80000"/>
                </a:schemeClr>
              </a:solidFill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0887" y="3629025"/>
            <a:ext cx="1134630" cy="217398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97215" y="3795268"/>
            <a:ext cx="1058302" cy="188679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45720" indent="-11303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spc="40" dirty="0">
                <a:latin typeface="Rockwell" panose="02060603020205020403" pitchFamily="18" charset="0"/>
                <a:cs typeface="Cambria"/>
              </a:rPr>
              <a:t>Certificado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autofirmad 	</a:t>
            </a:r>
            <a:r>
              <a:rPr sz="1200" dirty="0">
                <a:latin typeface="Rockwell" panose="02060603020205020403" pitchFamily="18" charset="0"/>
                <a:cs typeface="Cambria"/>
              </a:rPr>
              <a:t>o</a:t>
            </a:r>
            <a:r>
              <a:rPr sz="1200" spc="7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5" dirty="0">
                <a:latin typeface="Rockwell" panose="02060603020205020403" pitchFamily="18" charset="0"/>
                <a:cs typeface="Cambria"/>
              </a:rPr>
              <a:t>via 	</a:t>
            </a:r>
            <a:r>
              <a:rPr sz="1200" spc="45" dirty="0">
                <a:latin typeface="Rockwell" panose="02060603020205020403" pitchFamily="18" charset="0"/>
                <a:cs typeface="Cambria"/>
              </a:rPr>
              <a:t>OpenSSL 	</a:t>
            </a:r>
            <a:r>
              <a:rPr sz="1200" dirty="0">
                <a:latin typeface="Rockwell" panose="02060603020205020403" pitchFamily="18" charset="0"/>
                <a:cs typeface="Cambria"/>
              </a:rPr>
              <a:t>(RSA</a:t>
            </a:r>
            <a:r>
              <a:rPr sz="1200" spc="10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2048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7000">
              <a:lnSpc>
                <a:spcPts val="1260"/>
              </a:lnSpc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bits).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marR="5080" indent="-113030">
              <a:lnSpc>
                <a:spcPct val="88100"/>
              </a:lnSpc>
              <a:spcBef>
                <a:spcPts val="204"/>
              </a:spcBef>
              <a:buChar char="•"/>
              <a:tabLst>
                <a:tab pos="127000" algn="l"/>
              </a:tabLst>
            </a:pPr>
            <a:r>
              <a:rPr sz="1200" spc="65" dirty="0">
                <a:latin typeface="Rockwell" panose="02060603020205020403" pitchFamily="18" charset="0"/>
                <a:cs typeface="Cambria"/>
              </a:rPr>
              <a:t>Clave 	</a:t>
            </a:r>
            <a:r>
              <a:rPr sz="1200" spc="10" dirty="0">
                <a:latin typeface="Rockwell" panose="02060603020205020403" pitchFamily="18" charset="0"/>
                <a:cs typeface="Cambria"/>
              </a:rPr>
              <a:t>privada</a:t>
            </a:r>
            <a:r>
              <a:rPr sz="1200" spc="24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5" dirty="0">
                <a:latin typeface="Rockwell" panose="02060603020205020403" pitchFamily="18" charset="0"/>
                <a:cs typeface="Cambria"/>
              </a:rPr>
              <a:t>con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permisos 	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600.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50"/>
              </a:spcBef>
              <a:buChar char="•"/>
              <a:tabLst>
                <a:tab pos="125730" algn="l"/>
              </a:tabLst>
            </a:pPr>
            <a:r>
              <a:rPr sz="1200" dirty="0">
                <a:latin typeface="Rockwell" panose="02060603020205020403" pitchFamily="18" charset="0"/>
                <a:cs typeface="Cambria"/>
              </a:rPr>
              <a:t>Puerto</a:t>
            </a:r>
            <a:r>
              <a:rPr sz="1200" spc="15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8443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90890" y="3327019"/>
            <a:ext cx="466725" cy="466725"/>
            <a:chOff x="2209926" y="2671318"/>
            <a:chExt cx="466725" cy="46672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6276" y="2677668"/>
              <a:ext cx="453898" cy="4538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16276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26963" y="3795268"/>
            <a:ext cx="189283" cy="2019999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10"/>
              </a:spcBef>
            </a:pPr>
            <a:r>
              <a:rPr sz="1200" spc="5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Redirección</a:t>
            </a:r>
            <a:r>
              <a:rPr sz="1200" spc="5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HTTP</a:t>
            </a:r>
            <a:r>
              <a:rPr lang="es-ES" sz="1200" spc="5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lang="es-ES" sz="1200" spc="5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  <a:sym typeface="Symbol" panose="05050102010706020507" pitchFamily="18" charset="2"/>
              </a:rPr>
              <a:t></a:t>
            </a:r>
            <a:r>
              <a:rPr sz="1200" spc="-1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HTTPS</a:t>
            </a:r>
            <a:endParaRPr sz="1200" dirty="0">
              <a:solidFill>
                <a:schemeClr val="accent2">
                  <a:lumMod val="20000"/>
                  <a:lumOff val="80000"/>
                </a:schemeClr>
              </a:solidFill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85096" y="3629025"/>
            <a:ext cx="1134630" cy="21739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161677" y="3795268"/>
            <a:ext cx="979034" cy="18346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8890" indent="-11303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spc="55" dirty="0">
                <a:latin typeface="Rockwell" panose="02060603020205020403" pitchFamily="18" charset="0"/>
                <a:cs typeface="Cambria"/>
              </a:rPr>
              <a:t>Apache 	</a:t>
            </a:r>
            <a:r>
              <a:rPr sz="1200" spc="35" dirty="0">
                <a:latin typeface="Rockwell" panose="02060603020205020403" pitchFamily="18" charset="0"/>
                <a:cs typeface="Cambria"/>
              </a:rPr>
              <a:t>redirige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automática 	</a:t>
            </a:r>
            <a:r>
              <a:rPr sz="1200" dirty="0">
                <a:latin typeface="Rockwell" panose="02060603020205020403" pitchFamily="18" charset="0"/>
                <a:cs typeface="Cambria"/>
              </a:rPr>
              <a:t>mente</a:t>
            </a:r>
            <a:r>
              <a:rPr sz="1200" spc="22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todo 	</a:t>
            </a:r>
            <a:r>
              <a:rPr sz="1200" spc="55" dirty="0">
                <a:latin typeface="Rockwell" panose="02060603020205020403" pitchFamily="18" charset="0"/>
                <a:cs typeface="Cambria"/>
              </a:rPr>
              <a:t>el</a:t>
            </a:r>
            <a:r>
              <a:rPr sz="12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tráfico 	</a:t>
            </a:r>
            <a:r>
              <a:rPr sz="1200" dirty="0">
                <a:latin typeface="Rockwell" panose="02060603020205020403" pitchFamily="18" charset="0"/>
                <a:cs typeface="Cambria"/>
              </a:rPr>
              <a:t>HTTP</a:t>
            </a:r>
            <a:r>
              <a:rPr sz="1200" spc="-25" dirty="0">
                <a:latin typeface="Rockwell" panose="02060603020205020403" pitchFamily="18" charset="0"/>
                <a:cs typeface="Cambria"/>
              </a:rPr>
              <a:t> al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puerto 	HTTPS.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7000" marR="5080">
              <a:lnSpc>
                <a:spcPts val="1270"/>
              </a:lnSpc>
              <a:spcBef>
                <a:spcPts val="5"/>
              </a:spcBef>
            </a:pPr>
            <a:r>
              <a:rPr sz="1200" spc="40" dirty="0">
                <a:latin typeface="Rockwell" panose="02060603020205020403" pitchFamily="18" charset="0"/>
                <a:cs typeface="Cambria"/>
              </a:rPr>
              <a:t>Configurad </a:t>
            </a:r>
            <a:r>
              <a:rPr sz="1200" dirty="0">
                <a:latin typeface="Rockwell" panose="02060603020205020403" pitchFamily="18" charset="0"/>
                <a:cs typeface="Cambria"/>
              </a:rPr>
              <a:t>o</a:t>
            </a:r>
            <a:r>
              <a:rPr sz="1200" spc="7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25" dirty="0">
                <a:latin typeface="Rockwell" panose="02060603020205020403" pitchFamily="18" charset="0"/>
                <a:cs typeface="Cambria"/>
              </a:rPr>
              <a:t>en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7000">
              <a:lnSpc>
                <a:spcPts val="1260"/>
              </a:lnSpc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VirtualHost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54972" y="3327019"/>
            <a:ext cx="466725" cy="466725"/>
            <a:chOff x="3874008" y="2671318"/>
            <a:chExt cx="466725" cy="46672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0358" y="2677668"/>
              <a:ext cx="453898" cy="45389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80358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86612" y="4491186"/>
            <a:ext cx="487313" cy="1323975"/>
          </a:xfrm>
          <a:prstGeom prst="rect">
            <a:avLst/>
          </a:prstGeom>
        </p:spPr>
        <p:txBody>
          <a:bodyPr vert="vert270" wrap="square" lIns="0" tIns="34925" rIns="0" bIns="0" rtlCol="0">
            <a:spAutoFit/>
          </a:bodyPr>
          <a:lstStyle/>
          <a:p>
            <a:pPr marL="12700" marR="5080">
              <a:lnSpc>
                <a:spcPts val="1910"/>
              </a:lnSpc>
              <a:spcBef>
                <a:spcPts val="275"/>
              </a:spcBef>
            </a:pPr>
            <a:r>
              <a:rPr sz="1800" spc="5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Backups</a:t>
            </a:r>
            <a:r>
              <a:rPr sz="1800" spc="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Automáticos</a:t>
            </a:r>
            <a:endParaRPr sz="1800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9304" y="3629025"/>
            <a:ext cx="1134630" cy="217398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840235" y="3796792"/>
            <a:ext cx="1020535" cy="1471557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0485" marR="36195" indent="-69215">
              <a:lnSpc>
                <a:spcPts val="1160"/>
              </a:lnSpc>
              <a:spcBef>
                <a:spcPts val="275"/>
              </a:spcBef>
              <a:buSzPct val="90909"/>
              <a:buChar char="•"/>
              <a:tabLst>
                <a:tab pos="70485" algn="l"/>
              </a:tabLst>
            </a:pPr>
            <a:r>
              <a:rPr sz="1100" spc="-10" dirty="0">
                <a:latin typeface="Rockwell" panose="02060603020205020403" pitchFamily="18" charset="0"/>
                <a:cs typeface="Cambria"/>
              </a:rPr>
              <a:t>Script mysqldump </a:t>
            </a:r>
            <a:r>
              <a:rPr sz="1100" spc="40" dirty="0">
                <a:latin typeface="Rockwell" panose="02060603020205020403" pitchFamily="18" charset="0"/>
                <a:cs typeface="Cambria"/>
              </a:rPr>
              <a:t>programado </a:t>
            </a:r>
            <a:r>
              <a:rPr sz="1100" dirty="0">
                <a:latin typeface="Rockwell" panose="02060603020205020403" pitchFamily="18" charset="0"/>
                <a:cs typeface="Cambria"/>
              </a:rPr>
              <a:t>via</a:t>
            </a:r>
            <a:r>
              <a:rPr sz="11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cron.</a:t>
            </a:r>
            <a:endParaRPr sz="1100" dirty="0">
              <a:latin typeface="Rockwell" panose="02060603020205020403" pitchFamily="18" charset="0"/>
              <a:cs typeface="Cambria"/>
            </a:endParaRPr>
          </a:p>
          <a:p>
            <a:pPr marL="70485" marR="128270" indent="-69215">
              <a:lnSpc>
                <a:spcPts val="1160"/>
              </a:lnSpc>
              <a:spcBef>
                <a:spcPts val="209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 panose="02060603020205020403" pitchFamily="18" charset="0"/>
                <a:cs typeface="Cambria"/>
              </a:rPr>
              <a:t>Diario</a:t>
            </a:r>
            <a:r>
              <a:rPr sz="1100" spc="13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dirty="0">
                <a:latin typeface="Rockwell" panose="02060603020205020403" pitchFamily="18" charset="0"/>
                <a:cs typeface="Cambria"/>
              </a:rPr>
              <a:t>a</a:t>
            </a:r>
            <a:r>
              <a:rPr sz="110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25" dirty="0">
                <a:latin typeface="Rockwell" panose="02060603020205020403" pitchFamily="18" charset="0"/>
                <a:cs typeface="Cambria"/>
              </a:rPr>
              <a:t>las </a:t>
            </a:r>
            <a:r>
              <a:rPr sz="1100" dirty="0">
                <a:latin typeface="Rockwell" panose="02060603020205020403" pitchFamily="18" charset="0"/>
                <a:cs typeface="Cambria"/>
              </a:rPr>
              <a:t>2:00 </a:t>
            </a:r>
            <a:r>
              <a:rPr sz="1100" spc="50" dirty="0">
                <a:latin typeface="Rockwell" panose="02060603020205020403" pitchFamily="18" charset="0"/>
                <a:cs typeface="Cambria"/>
              </a:rPr>
              <a:t>AM.</a:t>
            </a:r>
            <a:endParaRPr sz="1100" dirty="0">
              <a:latin typeface="Rockwell" panose="02060603020205020403" pitchFamily="18" charset="0"/>
              <a:cs typeface="Cambria"/>
            </a:endParaRPr>
          </a:p>
          <a:p>
            <a:pPr marL="70485" marR="5080" indent="-69215" algn="just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spc="10" dirty="0">
                <a:latin typeface="Rockwell" panose="02060603020205020403" pitchFamily="18" charset="0"/>
                <a:cs typeface="Cambria"/>
              </a:rPr>
              <a:t>Retención</a:t>
            </a:r>
            <a:r>
              <a:rPr sz="1100" spc="17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55" dirty="0">
                <a:latin typeface="Rockwell" panose="02060603020205020403" pitchFamily="18" charset="0"/>
                <a:cs typeface="Cambria"/>
              </a:rPr>
              <a:t>de </a:t>
            </a:r>
            <a:r>
              <a:rPr sz="1100" dirty="0">
                <a:latin typeface="Rockwell" panose="02060603020205020403" pitchFamily="18" charset="0"/>
                <a:cs typeface="Cambria"/>
              </a:rPr>
              <a:t>los</a:t>
            </a:r>
            <a:r>
              <a:rPr sz="1100" spc="5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dirty="0">
                <a:latin typeface="Rockwell" panose="02060603020205020403" pitchFamily="18" charset="0"/>
                <a:cs typeface="Cambria"/>
              </a:rPr>
              <a:t>7</a:t>
            </a:r>
            <a:r>
              <a:rPr sz="1100" spc="6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últimos </a:t>
            </a:r>
            <a:r>
              <a:rPr sz="1100" spc="45" dirty="0">
                <a:latin typeface="Rockwell" panose="02060603020205020403" pitchFamily="18" charset="0"/>
                <a:cs typeface="Cambria"/>
              </a:rPr>
              <a:t>backups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19179" y="3327019"/>
            <a:ext cx="466725" cy="466725"/>
            <a:chOff x="5538215" y="2671318"/>
            <a:chExt cx="466725" cy="466725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4565" y="2677668"/>
              <a:ext cx="453898" cy="45389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44565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147652" y="4056126"/>
            <a:ext cx="307777" cy="175904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95"/>
              </a:lnSpc>
            </a:pPr>
            <a:r>
              <a:rPr sz="2000" spc="1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Cron</a:t>
            </a:r>
            <a:r>
              <a:rPr sz="2000" spc="55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000" spc="9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Moodle</a:t>
            </a:r>
            <a:endParaRPr sz="2000" dirty="0">
              <a:solidFill>
                <a:schemeClr val="accent2">
                  <a:lumMod val="20000"/>
                  <a:lumOff val="80000"/>
                </a:schemeClr>
              </a:solidFill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13511" y="3629025"/>
            <a:ext cx="1134630" cy="217398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490473" y="3795268"/>
            <a:ext cx="1130376" cy="15241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5080" indent="-11303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100" dirty="0">
                <a:latin typeface="Rockwell" panose="02060603020205020403" pitchFamily="18" charset="0"/>
                <a:cs typeface="Cambria"/>
              </a:rPr>
              <a:t>Tarea</a:t>
            </a:r>
            <a:r>
              <a:rPr sz="1100" spc="10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20" dirty="0">
                <a:latin typeface="Rockwell" panose="02060603020205020403" pitchFamily="18" charset="0"/>
                <a:cs typeface="Cambria"/>
              </a:rPr>
              <a:t>cron 	</a:t>
            </a:r>
            <a:r>
              <a:rPr sz="1100" spc="35" dirty="0">
                <a:latin typeface="Rockwell" panose="02060603020205020403" pitchFamily="18" charset="0"/>
                <a:cs typeface="Cambria"/>
              </a:rPr>
              <a:t>ejecutada 	</a:t>
            </a:r>
            <a:r>
              <a:rPr sz="1100" spc="50" dirty="0">
                <a:latin typeface="Rockwell" panose="02060603020205020403" pitchFamily="18" charset="0"/>
                <a:cs typeface="Cambria"/>
              </a:rPr>
              <a:t>cada 	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minuto: 	notificacion 	</a:t>
            </a:r>
            <a:r>
              <a:rPr sz="1100" spc="75" dirty="0">
                <a:latin typeface="Rockwell" panose="02060603020205020403" pitchFamily="18" charset="0"/>
                <a:cs typeface="Cambria"/>
              </a:rPr>
              <a:t>es,</a:t>
            </a:r>
            <a:r>
              <a:rPr sz="1100" spc="-6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limpieza 	</a:t>
            </a:r>
            <a:r>
              <a:rPr sz="1100" spc="65" dirty="0">
                <a:latin typeface="Rockwell" panose="02060603020205020403" pitchFamily="18" charset="0"/>
                <a:cs typeface="Cambria"/>
              </a:rPr>
              <a:t>de</a:t>
            </a:r>
            <a:r>
              <a:rPr sz="1100" spc="500" dirty="0">
                <a:latin typeface="Rockwell" panose="02060603020205020403" pitchFamily="18" charset="0"/>
                <a:cs typeface="Cambria"/>
              </a:rPr>
              <a:t> 	</a:t>
            </a:r>
            <a:r>
              <a:rPr sz="1100" spc="35" dirty="0">
                <a:latin typeface="Rockwell" panose="02060603020205020403" pitchFamily="18" charset="0"/>
                <a:cs typeface="Cambria"/>
              </a:rPr>
              <a:t>sesiones, 	</a:t>
            </a:r>
            <a:r>
              <a:rPr sz="1100" spc="-10" dirty="0" err="1">
                <a:latin typeface="Rockwell" panose="02060603020205020403" pitchFamily="18" charset="0"/>
                <a:cs typeface="Cambria"/>
              </a:rPr>
              <a:t>sincronizaci</a:t>
            </a:r>
            <a:r>
              <a:rPr sz="1100" dirty="0" err="1">
                <a:latin typeface="Rockwell" panose="02060603020205020403" pitchFamily="18" charset="0"/>
                <a:cs typeface="Cambria"/>
              </a:rPr>
              <a:t>ón</a:t>
            </a:r>
            <a:r>
              <a:rPr sz="11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interna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183260" y="3327019"/>
            <a:ext cx="466725" cy="466725"/>
            <a:chOff x="7202296" y="2671318"/>
            <a:chExt cx="466725" cy="466725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8646" y="2677668"/>
              <a:ext cx="453898" cy="45389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08646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18449" y="4104184"/>
            <a:ext cx="246221" cy="171132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Roles</a:t>
            </a:r>
            <a:r>
              <a:rPr sz="1600" spc="17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600" spc="8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y</a:t>
            </a:r>
            <a:r>
              <a:rPr sz="1600" spc="15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600" spc="40" dirty="0">
                <a:solidFill>
                  <a:schemeClr val="accent2">
                    <a:lumMod val="20000"/>
                    <a:lumOff val="80000"/>
                  </a:schemeClr>
                </a:solidFill>
                <a:latin typeface="Rockwell" panose="02060603020205020403" pitchFamily="18" charset="0"/>
                <a:cs typeface="Cambria"/>
              </a:rPr>
              <a:t>permisos</a:t>
            </a:r>
            <a:endParaRPr sz="1600" dirty="0">
              <a:solidFill>
                <a:schemeClr val="accent2">
                  <a:lumMod val="20000"/>
                  <a:lumOff val="80000"/>
                </a:schemeClr>
              </a:solidFill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6195" y="3629025"/>
            <a:ext cx="1136154" cy="217398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9115179" y="3802634"/>
            <a:ext cx="1097170" cy="17107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47625" indent="-11303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Sistema 	granular 	</a:t>
            </a:r>
            <a:r>
              <a:rPr sz="1200" dirty="0">
                <a:latin typeface="Rockwell" panose="02060603020205020403" pitchFamily="18" charset="0"/>
                <a:cs typeface="Cambria"/>
              </a:rPr>
              <a:t>con</a:t>
            </a:r>
            <a:r>
              <a:rPr sz="1200" spc="10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dirty="0">
                <a:latin typeface="Rockwell" panose="02060603020205020403" pitchFamily="18" charset="0"/>
                <a:cs typeface="Cambria"/>
              </a:rPr>
              <a:t>3</a:t>
            </a:r>
            <a:r>
              <a:rPr sz="1200"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roles 	</a:t>
            </a:r>
            <a:r>
              <a:rPr sz="1200" spc="35" dirty="0">
                <a:latin typeface="Rockwell" panose="02060603020205020403" pitchFamily="18" charset="0"/>
                <a:cs typeface="Cambria"/>
              </a:rPr>
              <a:t>propios.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marR="5080" indent="-113030">
              <a:lnSpc>
                <a:spcPct val="87900"/>
              </a:lnSpc>
              <a:spcBef>
                <a:spcPts val="210"/>
              </a:spcBef>
              <a:buChar char="•"/>
              <a:tabLst>
                <a:tab pos="127000" algn="l"/>
              </a:tabLst>
            </a:pPr>
            <a:r>
              <a:rPr sz="1200" spc="-10" dirty="0" err="1">
                <a:latin typeface="Rockwell" panose="02060603020205020403" pitchFamily="18" charset="0"/>
                <a:cs typeface="Cambria"/>
              </a:rPr>
              <a:t>Confirmaci</a:t>
            </a:r>
            <a:r>
              <a:rPr sz="1200" dirty="0" err="1">
                <a:latin typeface="Rockwell" panose="02060603020205020403" pitchFamily="18" charset="0"/>
                <a:cs typeface="Cambria"/>
              </a:rPr>
              <a:t>ón</a:t>
            </a:r>
            <a:r>
              <a:rPr sz="12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manual 	</a:t>
            </a:r>
            <a:r>
              <a:rPr sz="1200" spc="95" dirty="0">
                <a:latin typeface="Rockwell" panose="02060603020205020403" pitchFamily="18" charset="0"/>
                <a:cs typeface="Cambria"/>
              </a:rPr>
              <a:t>de</a:t>
            </a:r>
            <a:r>
              <a:rPr sz="1200" spc="3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registro.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125730" marR="54610" indent="-113030">
              <a:lnSpc>
                <a:spcPct val="87900"/>
              </a:lnSpc>
              <a:spcBef>
                <a:spcPts val="220"/>
              </a:spcBef>
              <a:buChar char="•"/>
              <a:tabLst>
                <a:tab pos="127000" algn="l"/>
              </a:tabLst>
            </a:pPr>
            <a:r>
              <a:rPr sz="1200" spc="70" dirty="0">
                <a:latin typeface="Rockwell" panose="02060603020205020403" pitchFamily="18" charset="0"/>
                <a:cs typeface="Cambria"/>
              </a:rPr>
              <a:t>Acceso</a:t>
            </a:r>
            <a:r>
              <a:rPr sz="1200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70" dirty="0">
                <a:latin typeface="Rockwell" panose="02060603020205020403" pitchFamily="18" charset="0"/>
                <a:cs typeface="Cambria"/>
              </a:rPr>
              <a:t>de 	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invitados 	controlado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847469" y="3327019"/>
            <a:ext cx="466725" cy="466725"/>
            <a:chOff x="8866505" y="2671318"/>
            <a:chExt cx="466725" cy="466725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2855" y="2677668"/>
              <a:ext cx="453898" cy="45389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872855" y="267766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898"/>
                  </a:moveTo>
                  <a:lnTo>
                    <a:pt x="453898" y="453898"/>
                  </a:lnTo>
                  <a:lnTo>
                    <a:pt x="453898" y="0"/>
                  </a:lnTo>
                  <a:lnTo>
                    <a:pt x="0" y="0"/>
                  </a:lnTo>
                  <a:lnTo>
                    <a:pt x="0" y="4538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6" name="Vista general de diapositiva 45">
                <a:extLst>
                  <a:ext uri="{FF2B5EF4-FFF2-40B4-BE49-F238E27FC236}">
                    <a16:creationId xmlns:a16="http://schemas.microsoft.com/office/drawing/2014/main" id="{41589F1E-BE9A-6EAD-2846-B7EDB10DB2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8797930"/>
                  </p:ext>
                </p:extLst>
              </p:nvPr>
            </p:nvGraphicFramePr>
            <p:xfrm rot="16200000">
              <a:off x="5746713" y="3638360"/>
              <a:ext cx="64644" cy="45719"/>
            </p:xfrm>
            <a:graphic>
              <a:graphicData uri="http://schemas.microsoft.com/office/powerpoint/2016/slidezoom">
                <pslz:sldZm>
                  <pslz:sldZmObj sldId="266" cId="0">
                    <pslz:zmPr id="{0FEA8D57-2B0C-4D1A-A3F0-EB21ACC651B8}" returnToParent="0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0">
                          <a:off x="0" y="0"/>
                          <a:ext cx="64644" cy="45719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6" name="Vista general de diapositiva 45">
                <a:extLst>
                  <a:ext uri="{FF2B5EF4-FFF2-40B4-BE49-F238E27FC236}">
                    <a16:creationId xmlns:a16="http://schemas.microsoft.com/office/drawing/2014/main" id="{41589F1E-BE9A-6EAD-2846-B7EDB10DB2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16200000">
                <a:off x="5746713" y="3638360"/>
                <a:ext cx="64644" cy="45719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7675" y="2480945"/>
            <a:ext cx="1357630" cy="3728085"/>
            <a:chOff x="447675" y="2480945"/>
            <a:chExt cx="1357630" cy="3728085"/>
          </a:xfrm>
        </p:grpSpPr>
        <p:sp>
          <p:nvSpPr>
            <p:cNvPr id="3" name="object 3"/>
            <p:cNvSpPr/>
            <p:nvPr/>
          </p:nvSpPr>
          <p:spPr>
            <a:xfrm>
              <a:off x="457200" y="2490470"/>
              <a:ext cx="1338580" cy="3709035"/>
            </a:xfrm>
            <a:custGeom>
              <a:avLst/>
              <a:gdLst/>
              <a:ahLst/>
              <a:cxnLst/>
              <a:rect l="l" t="t" r="r" b="b"/>
              <a:pathLst>
                <a:path w="1338580" h="3709035">
                  <a:moveTo>
                    <a:pt x="1115441" y="0"/>
                  </a:moveTo>
                  <a:lnTo>
                    <a:pt x="223100" y="0"/>
                  </a:lnTo>
                  <a:lnTo>
                    <a:pt x="178138" y="4535"/>
                  </a:lnTo>
                  <a:lnTo>
                    <a:pt x="136259" y="17541"/>
                  </a:lnTo>
                  <a:lnTo>
                    <a:pt x="98362" y="38120"/>
                  </a:lnTo>
                  <a:lnTo>
                    <a:pt x="65344" y="65373"/>
                  </a:lnTo>
                  <a:lnTo>
                    <a:pt x="38102" y="98400"/>
                  </a:lnTo>
                  <a:lnTo>
                    <a:pt x="17532" y="136302"/>
                  </a:lnTo>
                  <a:lnTo>
                    <a:pt x="4532" y="178181"/>
                  </a:lnTo>
                  <a:lnTo>
                    <a:pt x="0" y="223139"/>
                  </a:lnTo>
                  <a:lnTo>
                    <a:pt x="0" y="3486023"/>
                  </a:lnTo>
                  <a:lnTo>
                    <a:pt x="4532" y="3530974"/>
                  </a:lnTo>
                  <a:lnTo>
                    <a:pt x="17532" y="3572839"/>
                  </a:lnTo>
                  <a:lnTo>
                    <a:pt x="38102" y="3610721"/>
                  </a:lnTo>
                  <a:lnTo>
                    <a:pt x="65344" y="3643725"/>
                  </a:lnTo>
                  <a:lnTo>
                    <a:pt x="98362" y="3670954"/>
                  </a:lnTo>
                  <a:lnTo>
                    <a:pt x="136259" y="3691512"/>
                  </a:lnTo>
                  <a:lnTo>
                    <a:pt x="178138" y="3704505"/>
                  </a:lnTo>
                  <a:lnTo>
                    <a:pt x="223100" y="3709035"/>
                  </a:lnTo>
                  <a:lnTo>
                    <a:pt x="1115441" y="3709035"/>
                  </a:lnTo>
                  <a:lnTo>
                    <a:pt x="1160398" y="3704505"/>
                  </a:lnTo>
                  <a:lnTo>
                    <a:pt x="1202277" y="3691512"/>
                  </a:lnTo>
                  <a:lnTo>
                    <a:pt x="1240179" y="3670954"/>
                  </a:lnTo>
                  <a:lnTo>
                    <a:pt x="1273206" y="3643725"/>
                  </a:lnTo>
                  <a:lnTo>
                    <a:pt x="1300459" y="3610721"/>
                  </a:lnTo>
                  <a:lnTo>
                    <a:pt x="1321038" y="3572839"/>
                  </a:lnTo>
                  <a:lnTo>
                    <a:pt x="1334044" y="3530974"/>
                  </a:lnTo>
                  <a:lnTo>
                    <a:pt x="1338580" y="3486023"/>
                  </a:lnTo>
                  <a:lnTo>
                    <a:pt x="1338580" y="223139"/>
                  </a:lnTo>
                  <a:lnTo>
                    <a:pt x="1334044" y="178181"/>
                  </a:lnTo>
                  <a:lnTo>
                    <a:pt x="1321038" y="136302"/>
                  </a:lnTo>
                  <a:lnTo>
                    <a:pt x="1300459" y="98400"/>
                  </a:lnTo>
                  <a:lnTo>
                    <a:pt x="1273206" y="65373"/>
                  </a:lnTo>
                  <a:lnTo>
                    <a:pt x="1240179" y="38120"/>
                  </a:lnTo>
                  <a:lnTo>
                    <a:pt x="1202277" y="17541"/>
                  </a:lnTo>
                  <a:lnTo>
                    <a:pt x="1160398" y="4535"/>
                  </a:lnTo>
                  <a:lnTo>
                    <a:pt x="1115441" y="0"/>
                  </a:lnTo>
                  <a:close/>
                </a:path>
              </a:pathLst>
            </a:custGeom>
            <a:solidFill>
              <a:srgbClr val="2AA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2490470"/>
              <a:ext cx="1338580" cy="3709035"/>
            </a:xfrm>
            <a:custGeom>
              <a:avLst/>
              <a:gdLst/>
              <a:ahLst/>
              <a:cxnLst/>
              <a:rect l="l" t="t" r="r" b="b"/>
              <a:pathLst>
                <a:path w="1338580" h="3709035">
                  <a:moveTo>
                    <a:pt x="0" y="223139"/>
                  </a:moveTo>
                  <a:lnTo>
                    <a:pt x="4532" y="178181"/>
                  </a:lnTo>
                  <a:lnTo>
                    <a:pt x="17532" y="136302"/>
                  </a:lnTo>
                  <a:lnTo>
                    <a:pt x="38102" y="98400"/>
                  </a:lnTo>
                  <a:lnTo>
                    <a:pt x="65344" y="65373"/>
                  </a:lnTo>
                  <a:lnTo>
                    <a:pt x="98362" y="38120"/>
                  </a:lnTo>
                  <a:lnTo>
                    <a:pt x="136259" y="17541"/>
                  </a:lnTo>
                  <a:lnTo>
                    <a:pt x="178138" y="4535"/>
                  </a:lnTo>
                  <a:lnTo>
                    <a:pt x="223100" y="0"/>
                  </a:lnTo>
                  <a:lnTo>
                    <a:pt x="1115441" y="0"/>
                  </a:lnTo>
                  <a:lnTo>
                    <a:pt x="1160398" y="4535"/>
                  </a:lnTo>
                  <a:lnTo>
                    <a:pt x="1202277" y="17541"/>
                  </a:lnTo>
                  <a:lnTo>
                    <a:pt x="1240179" y="38120"/>
                  </a:lnTo>
                  <a:lnTo>
                    <a:pt x="1273206" y="65373"/>
                  </a:lnTo>
                  <a:lnTo>
                    <a:pt x="1300459" y="98400"/>
                  </a:lnTo>
                  <a:lnTo>
                    <a:pt x="1321038" y="136302"/>
                  </a:lnTo>
                  <a:lnTo>
                    <a:pt x="1334044" y="178181"/>
                  </a:lnTo>
                  <a:lnTo>
                    <a:pt x="1338580" y="223139"/>
                  </a:lnTo>
                  <a:lnTo>
                    <a:pt x="1338580" y="3486023"/>
                  </a:lnTo>
                  <a:lnTo>
                    <a:pt x="1334044" y="3530974"/>
                  </a:lnTo>
                  <a:lnTo>
                    <a:pt x="1321038" y="3572839"/>
                  </a:lnTo>
                  <a:lnTo>
                    <a:pt x="1300459" y="3610721"/>
                  </a:lnTo>
                  <a:lnTo>
                    <a:pt x="1273206" y="3643725"/>
                  </a:lnTo>
                  <a:lnTo>
                    <a:pt x="1240179" y="3670954"/>
                  </a:lnTo>
                  <a:lnTo>
                    <a:pt x="1202277" y="3691512"/>
                  </a:lnTo>
                  <a:lnTo>
                    <a:pt x="1160398" y="3704505"/>
                  </a:lnTo>
                  <a:lnTo>
                    <a:pt x="1115441" y="3709035"/>
                  </a:lnTo>
                  <a:lnTo>
                    <a:pt x="223100" y="3709035"/>
                  </a:lnTo>
                  <a:lnTo>
                    <a:pt x="178138" y="3704505"/>
                  </a:lnTo>
                  <a:lnTo>
                    <a:pt x="136259" y="3691512"/>
                  </a:lnTo>
                  <a:lnTo>
                    <a:pt x="98362" y="3670954"/>
                  </a:lnTo>
                  <a:lnTo>
                    <a:pt x="65344" y="3643725"/>
                  </a:lnTo>
                  <a:lnTo>
                    <a:pt x="38102" y="3610721"/>
                  </a:lnTo>
                  <a:lnTo>
                    <a:pt x="17532" y="3572839"/>
                  </a:lnTo>
                  <a:lnTo>
                    <a:pt x="4532" y="3530974"/>
                  </a:lnTo>
                  <a:lnTo>
                    <a:pt x="0" y="3486023"/>
                  </a:lnTo>
                  <a:lnTo>
                    <a:pt x="0" y="223139"/>
                  </a:lnTo>
                  <a:close/>
                </a:path>
              </a:pathLst>
            </a:custGeom>
            <a:ln w="19050">
              <a:solidFill>
                <a:srgbClr val="2AA3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38345" y="2481326"/>
            <a:ext cx="5674360" cy="367030"/>
          </a:xfrm>
          <a:custGeom>
            <a:avLst/>
            <a:gdLst/>
            <a:ahLst/>
            <a:cxnLst/>
            <a:rect l="l" t="t" r="r" b="b"/>
            <a:pathLst>
              <a:path w="5674359" h="367030">
                <a:moveTo>
                  <a:pt x="5613146" y="0"/>
                </a:moveTo>
                <a:lnTo>
                  <a:pt x="61213" y="0"/>
                </a:lnTo>
                <a:lnTo>
                  <a:pt x="37397" y="4794"/>
                </a:lnTo>
                <a:lnTo>
                  <a:pt x="17938" y="17875"/>
                </a:lnTo>
                <a:lnTo>
                  <a:pt x="4814" y="37290"/>
                </a:lnTo>
                <a:lnTo>
                  <a:pt x="0" y="61087"/>
                </a:lnTo>
                <a:lnTo>
                  <a:pt x="0" y="305815"/>
                </a:lnTo>
                <a:lnTo>
                  <a:pt x="4814" y="329632"/>
                </a:lnTo>
                <a:lnTo>
                  <a:pt x="17938" y="349091"/>
                </a:lnTo>
                <a:lnTo>
                  <a:pt x="37397" y="362215"/>
                </a:lnTo>
                <a:lnTo>
                  <a:pt x="61213" y="367029"/>
                </a:lnTo>
                <a:lnTo>
                  <a:pt x="5613146" y="367029"/>
                </a:lnTo>
                <a:lnTo>
                  <a:pt x="5636962" y="362215"/>
                </a:lnTo>
                <a:lnTo>
                  <a:pt x="5656421" y="349091"/>
                </a:lnTo>
                <a:lnTo>
                  <a:pt x="5669545" y="329632"/>
                </a:lnTo>
                <a:lnTo>
                  <a:pt x="5674359" y="305815"/>
                </a:lnTo>
                <a:lnTo>
                  <a:pt x="5674359" y="61087"/>
                </a:lnTo>
                <a:lnTo>
                  <a:pt x="5669545" y="37290"/>
                </a:lnTo>
                <a:lnTo>
                  <a:pt x="5656421" y="17875"/>
                </a:lnTo>
                <a:lnTo>
                  <a:pt x="5636962" y="4794"/>
                </a:lnTo>
                <a:lnTo>
                  <a:pt x="5613146" y="0"/>
                </a:lnTo>
                <a:close/>
              </a:path>
            </a:pathLst>
          </a:custGeom>
          <a:solidFill>
            <a:srgbClr val="2AA3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30933" y="4624704"/>
            <a:ext cx="8600440" cy="1586865"/>
            <a:chOff x="1630933" y="4624704"/>
            <a:chExt cx="8600440" cy="1586865"/>
          </a:xfrm>
        </p:grpSpPr>
        <p:sp>
          <p:nvSpPr>
            <p:cNvPr id="7" name="object 7"/>
            <p:cNvSpPr/>
            <p:nvPr/>
          </p:nvSpPr>
          <p:spPr>
            <a:xfrm>
              <a:off x="4304664" y="5113273"/>
              <a:ext cx="5926455" cy="1090295"/>
            </a:xfrm>
            <a:custGeom>
              <a:avLst/>
              <a:gdLst/>
              <a:ahLst/>
              <a:cxnLst/>
              <a:rect l="l" t="t" r="r" b="b"/>
              <a:pathLst>
                <a:path w="5926455" h="1090295">
                  <a:moveTo>
                    <a:pt x="5744718" y="0"/>
                  </a:moveTo>
                  <a:lnTo>
                    <a:pt x="181737" y="0"/>
                  </a:lnTo>
                  <a:lnTo>
                    <a:pt x="133438" y="6485"/>
                  </a:lnTo>
                  <a:lnTo>
                    <a:pt x="90028" y="24793"/>
                  </a:lnTo>
                  <a:lnTo>
                    <a:pt x="53244" y="53197"/>
                  </a:lnTo>
                  <a:lnTo>
                    <a:pt x="24821" y="89972"/>
                  </a:lnTo>
                  <a:lnTo>
                    <a:pt x="6494" y="133394"/>
                  </a:lnTo>
                  <a:lnTo>
                    <a:pt x="0" y="181737"/>
                  </a:lnTo>
                  <a:lnTo>
                    <a:pt x="0" y="908557"/>
                  </a:lnTo>
                  <a:lnTo>
                    <a:pt x="6494" y="956856"/>
                  </a:lnTo>
                  <a:lnTo>
                    <a:pt x="24821" y="1000266"/>
                  </a:lnTo>
                  <a:lnTo>
                    <a:pt x="53244" y="1037050"/>
                  </a:lnTo>
                  <a:lnTo>
                    <a:pt x="90028" y="1065473"/>
                  </a:lnTo>
                  <a:lnTo>
                    <a:pt x="133438" y="1083800"/>
                  </a:lnTo>
                  <a:lnTo>
                    <a:pt x="181737" y="1090295"/>
                  </a:lnTo>
                  <a:lnTo>
                    <a:pt x="5744718" y="1090295"/>
                  </a:lnTo>
                  <a:lnTo>
                    <a:pt x="5793016" y="1083800"/>
                  </a:lnTo>
                  <a:lnTo>
                    <a:pt x="5836426" y="1065473"/>
                  </a:lnTo>
                  <a:lnTo>
                    <a:pt x="5873210" y="1037050"/>
                  </a:lnTo>
                  <a:lnTo>
                    <a:pt x="5901633" y="1000266"/>
                  </a:lnTo>
                  <a:lnTo>
                    <a:pt x="5919960" y="956856"/>
                  </a:lnTo>
                  <a:lnTo>
                    <a:pt x="5926455" y="908557"/>
                  </a:lnTo>
                  <a:lnTo>
                    <a:pt x="5926455" y="181737"/>
                  </a:lnTo>
                  <a:lnTo>
                    <a:pt x="5919960" y="133394"/>
                  </a:lnTo>
                  <a:lnTo>
                    <a:pt x="5901633" y="89972"/>
                  </a:lnTo>
                  <a:lnTo>
                    <a:pt x="5873210" y="53197"/>
                  </a:lnTo>
                  <a:lnTo>
                    <a:pt x="5836426" y="24793"/>
                  </a:lnTo>
                  <a:lnTo>
                    <a:pt x="5793016" y="6485"/>
                  </a:lnTo>
                  <a:lnTo>
                    <a:pt x="5744718" y="0"/>
                  </a:lnTo>
                  <a:close/>
                </a:path>
              </a:pathLst>
            </a:custGeom>
            <a:solidFill>
              <a:srgbClr val="CFF0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30933" y="4624704"/>
              <a:ext cx="2964815" cy="611505"/>
            </a:xfrm>
            <a:custGeom>
              <a:avLst/>
              <a:gdLst/>
              <a:ahLst/>
              <a:cxnLst/>
              <a:rect l="l" t="t" r="r" b="b"/>
              <a:pathLst>
                <a:path w="2964815" h="611504">
                  <a:moveTo>
                    <a:pt x="2964434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2964434" y="611124"/>
                  </a:lnTo>
                  <a:lnTo>
                    <a:pt x="2964434" y="0"/>
                  </a:lnTo>
                  <a:close/>
                </a:path>
              </a:pathLst>
            </a:custGeom>
            <a:solidFill>
              <a:srgbClr val="2AA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03114" y="4624704"/>
              <a:ext cx="5628005" cy="611505"/>
            </a:xfrm>
            <a:custGeom>
              <a:avLst/>
              <a:gdLst/>
              <a:ahLst/>
              <a:cxnLst/>
              <a:rect l="l" t="t" r="r" b="b"/>
              <a:pathLst>
                <a:path w="5628005" h="611504">
                  <a:moveTo>
                    <a:pt x="5627496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5627496" y="611124"/>
                  </a:lnTo>
                  <a:lnTo>
                    <a:pt x="5627496" y="0"/>
                  </a:lnTo>
                  <a:close/>
                </a:path>
              </a:pathLst>
            </a:custGeom>
            <a:solidFill>
              <a:srgbClr val="CFF0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7019" y="4624704"/>
              <a:ext cx="6350" cy="611505"/>
            </a:xfrm>
            <a:custGeom>
              <a:avLst/>
              <a:gdLst/>
              <a:ahLst/>
              <a:cxnLst/>
              <a:rect l="l" t="t" r="r" b="b"/>
              <a:pathLst>
                <a:path w="6350" h="611504">
                  <a:moveTo>
                    <a:pt x="6095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6095" y="611124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0933" y="5241924"/>
              <a:ext cx="2964815" cy="299085"/>
            </a:xfrm>
            <a:custGeom>
              <a:avLst/>
              <a:gdLst/>
              <a:ahLst/>
              <a:cxnLst/>
              <a:rect l="l" t="t" r="r" b="b"/>
              <a:pathLst>
                <a:path w="2964815" h="299085">
                  <a:moveTo>
                    <a:pt x="296443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964434" y="298704"/>
                  </a:lnTo>
                  <a:lnTo>
                    <a:pt x="2964434" y="0"/>
                  </a:lnTo>
                  <a:close/>
                </a:path>
              </a:pathLst>
            </a:custGeom>
            <a:solidFill>
              <a:srgbClr val="2AA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3114" y="5241924"/>
              <a:ext cx="5628005" cy="299085"/>
            </a:xfrm>
            <a:custGeom>
              <a:avLst/>
              <a:gdLst/>
              <a:ahLst/>
              <a:cxnLst/>
              <a:rect l="l" t="t" r="r" b="b"/>
              <a:pathLst>
                <a:path w="5628005" h="299085">
                  <a:moveTo>
                    <a:pt x="5627496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5627496" y="298704"/>
                  </a:lnTo>
                  <a:lnTo>
                    <a:pt x="5627496" y="0"/>
                  </a:lnTo>
                  <a:close/>
                </a:path>
              </a:pathLst>
            </a:custGeom>
            <a:solidFill>
              <a:srgbClr val="9FE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97019" y="5235828"/>
              <a:ext cx="6350" cy="304800"/>
            </a:xfrm>
            <a:custGeom>
              <a:avLst/>
              <a:gdLst/>
              <a:ahLst/>
              <a:cxnLst/>
              <a:rect l="l" t="t" r="r" b="b"/>
              <a:pathLst>
                <a:path w="6350" h="304800">
                  <a:moveTo>
                    <a:pt x="6083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0" y="304800"/>
                  </a:lnTo>
                  <a:lnTo>
                    <a:pt x="6083" y="304800"/>
                  </a:lnTo>
                  <a:lnTo>
                    <a:pt x="6083" y="6096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0933" y="5546801"/>
              <a:ext cx="2964815" cy="664845"/>
            </a:xfrm>
            <a:custGeom>
              <a:avLst/>
              <a:gdLst/>
              <a:ahLst/>
              <a:cxnLst/>
              <a:rect l="l" t="t" r="r" b="b"/>
              <a:pathLst>
                <a:path w="2964815" h="664845">
                  <a:moveTo>
                    <a:pt x="2964434" y="0"/>
                  </a:moveTo>
                  <a:lnTo>
                    <a:pt x="0" y="0"/>
                  </a:lnTo>
                  <a:lnTo>
                    <a:pt x="0" y="664768"/>
                  </a:lnTo>
                  <a:lnTo>
                    <a:pt x="2964434" y="664768"/>
                  </a:lnTo>
                  <a:lnTo>
                    <a:pt x="2964434" y="0"/>
                  </a:lnTo>
                  <a:close/>
                </a:path>
              </a:pathLst>
            </a:custGeom>
            <a:solidFill>
              <a:srgbClr val="2AA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97019" y="5540628"/>
              <a:ext cx="6350" cy="671195"/>
            </a:xfrm>
            <a:custGeom>
              <a:avLst/>
              <a:gdLst/>
              <a:ahLst/>
              <a:cxnLst/>
              <a:rect l="l" t="t" r="r" b="b"/>
              <a:pathLst>
                <a:path w="6350" h="671195">
                  <a:moveTo>
                    <a:pt x="6083" y="6172"/>
                  </a:moveTo>
                  <a:lnTo>
                    <a:pt x="0" y="6172"/>
                  </a:lnTo>
                  <a:lnTo>
                    <a:pt x="0" y="670941"/>
                  </a:lnTo>
                  <a:lnTo>
                    <a:pt x="6083" y="670941"/>
                  </a:lnTo>
                  <a:lnTo>
                    <a:pt x="6083" y="6172"/>
                  </a:lnTo>
                  <a:close/>
                </a:path>
                <a:path w="6350" h="671195">
                  <a:moveTo>
                    <a:pt x="6083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83" y="6096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624838" y="575818"/>
            <a:ext cx="6647053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ts val="4270"/>
              </a:lnSpc>
              <a:spcBef>
                <a:spcPts val="100"/>
              </a:spcBef>
            </a:pPr>
            <a:r>
              <a:rPr spc="310" dirty="0">
                <a:latin typeface="Bookman Old Style" panose="02050604050505020204" pitchFamily="18" charset="0"/>
              </a:rPr>
              <a:t>12</a:t>
            </a:r>
            <a:r>
              <a:rPr spc="645" dirty="0">
                <a:latin typeface="Bookman Old Style" panose="02050604050505020204" pitchFamily="18" charset="0"/>
              </a:rPr>
              <a:t> </a:t>
            </a:r>
            <a:r>
              <a:rPr spc="355" dirty="0">
                <a:latin typeface="Bookman Old Style" panose="02050604050505020204" pitchFamily="18" charset="0"/>
              </a:rPr>
              <a:t>Pruebas</a:t>
            </a:r>
          </a:p>
          <a:p>
            <a:pPr algn="ctr">
              <a:lnSpc>
                <a:spcPts val="4270"/>
              </a:lnSpc>
            </a:pPr>
            <a:r>
              <a:rPr spc="310" dirty="0">
                <a:latin typeface="Bookman Old Style" panose="02050604050505020204" pitchFamily="18" charset="0"/>
              </a:rPr>
              <a:t>12</a:t>
            </a:r>
            <a:r>
              <a:rPr spc="645" dirty="0">
                <a:latin typeface="Bookman Old Style" panose="02050604050505020204" pitchFamily="18" charset="0"/>
              </a:rPr>
              <a:t> </a:t>
            </a:r>
            <a:r>
              <a:rPr spc="370" dirty="0">
                <a:latin typeface="Bookman Old Style" panose="02050604050505020204" pitchFamily="18" charset="0"/>
              </a:rPr>
              <a:t>Resultados</a:t>
            </a:r>
            <a:r>
              <a:rPr spc="645" dirty="0">
                <a:latin typeface="Bookman Old Style" panose="02050604050505020204" pitchFamily="18" charset="0"/>
              </a:rPr>
              <a:t> </a:t>
            </a:r>
            <a:r>
              <a:rPr spc="320" dirty="0">
                <a:latin typeface="Bookman Old Style" panose="02050604050505020204" pitchFamily="18" charset="0"/>
              </a:rPr>
              <a:t>Correctos</a:t>
            </a:r>
          </a:p>
        </p:txBody>
      </p:sp>
      <p:sp>
        <p:nvSpPr>
          <p:cNvPr id="17" name="object 17"/>
          <p:cNvSpPr/>
          <p:nvPr/>
        </p:nvSpPr>
        <p:spPr>
          <a:xfrm>
            <a:off x="533400" y="504444"/>
            <a:ext cx="9606280" cy="9525"/>
          </a:xfrm>
          <a:custGeom>
            <a:avLst/>
            <a:gdLst/>
            <a:ahLst/>
            <a:cxnLst/>
            <a:rect l="l" t="t" r="r" b="b"/>
            <a:pathLst>
              <a:path w="9606280" h="9525">
                <a:moveTo>
                  <a:pt x="9605772" y="0"/>
                </a:moveTo>
                <a:lnTo>
                  <a:pt x="0" y="0"/>
                </a:lnTo>
                <a:lnTo>
                  <a:pt x="0" y="9144"/>
                </a:lnTo>
                <a:lnTo>
                  <a:pt x="9605772" y="9144"/>
                </a:lnTo>
                <a:lnTo>
                  <a:pt x="960577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3400" y="1827530"/>
            <a:ext cx="9606280" cy="9525"/>
          </a:xfrm>
          <a:custGeom>
            <a:avLst/>
            <a:gdLst/>
            <a:ahLst/>
            <a:cxnLst/>
            <a:rect l="l" t="t" r="r" b="b"/>
            <a:pathLst>
              <a:path w="9606280" h="9525">
                <a:moveTo>
                  <a:pt x="9605772" y="0"/>
                </a:moveTo>
                <a:lnTo>
                  <a:pt x="0" y="0"/>
                </a:lnTo>
                <a:lnTo>
                  <a:pt x="0" y="9144"/>
                </a:lnTo>
                <a:lnTo>
                  <a:pt x="9605772" y="9144"/>
                </a:lnTo>
                <a:lnTo>
                  <a:pt x="960577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571" y="863854"/>
            <a:ext cx="508494" cy="54347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8641778" y="800735"/>
            <a:ext cx="1468755" cy="661670"/>
            <a:chOff x="8641778" y="800735"/>
            <a:chExt cx="1468755" cy="66167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1778" y="800735"/>
              <a:ext cx="690466" cy="66166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0049" y="877443"/>
              <a:ext cx="820420" cy="56832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07451" y="2562225"/>
            <a:ext cx="314702" cy="350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95"/>
              </a:lnSpc>
            </a:pPr>
            <a:r>
              <a:rPr sz="2800" b="1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PLAN</a:t>
            </a:r>
            <a:r>
              <a:rPr sz="2800" b="1" spc="13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800" b="1" spc="1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DE</a:t>
            </a:r>
            <a:r>
              <a:rPr sz="2800" b="1" spc="13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PRUEBAS</a:t>
            </a:r>
            <a:endParaRPr sz="2800" b="1" dirty="0">
              <a:latin typeface="Rockwell" panose="02060603020205020403" pitchFamily="18" charset="0"/>
              <a:cs typeface="Cambria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940022"/>
              </p:ext>
            </p:extLst>
          </p:nvPr>
        </p:nvGraphicFramePr>
        <p:xfrm>
          <a:off x="1624838" y="2481326"/>
          <a:ext cx="8579484" cy="3728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PRUEBAS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2AA3AC"/>
                    </a:solidFill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5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RESULTADO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6350" marB="0">
                    <a:lnL w="6350">
                      <a:solidFill>
                        <a:srgbClr val="FFFFFF"/>
                      </a:solidFill>
                      <a:prstDash val="solid"/>
                    </a:lnL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10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Acceso</a:t>
                      </a:r>
                      <a:r>
                        <a:rPr sz="1400" spc="5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como</a:t>
                      </a:r>
                      <a:r>
                        <a:rPr sz="1400" spc="4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Invitado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42240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2AA3A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invitado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85" dirty="0">
                          <a:latin typeface="Rockwell" panose="02060603020205020403" pitchFamily="18" charset="0"/>
                          <a:cs typeface="Cambria"/>
                        </a:rPr>
                        <a:t>navega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por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las</a:t>
                      </a:r>
                      <a:r>
                        <a:rPr sz="1400" spc="1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categorías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80" dirty="0">
                          <a:latin typeface="Rockwell" panose="02060603020205020403" pitchFamily="18" charset="0"/>
                          <a:cs typeface="Cambria"/>
                        </a:rPr>
                        <a:t>y</a:t>
                      </a:r>
                      <a:r>
                        <a:rPr sz="1400" spc="1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lang="es-ES" sz="1400">
                          <a:latin typeface="Rockwell" panose="02060603020205020403" pitchFamily="18" charset="0"/>
                          <a:cs typeface="Cambria"/>
                        </a:rPr>
                        <a:t>cursos,</a:t>
                      </a:r>
                      <a:r>
                        <a:rPr sz="1400" spc="145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70" dirty="0">
                          <a:latin typeface="Rockwell" panose="02060603020205020403" pitchFamily="18" charset="0"/>
                          <a:cs typeface="Cambria"/>
                        </a:rPr>
                        <a:t>pero</a:t>
                      </a:r>
                      <a:r>
                        <a:rPr sz="1400" spc="13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25" dirty="0">
                          <a:latin typeface="Rockwell" panose="02060603020205020403" pitchFamily="18" charset="0"/>
                          <a:cs typeface="Cambria"/>
                        </a:rPr>
                        <a:t>no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tiene</a:t>
                      </a:r>
                      <a:r>
                        <a:rPr sz="1400" spc="16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85" dirty="0">
                          <a:latin typeface="Rockwell" panose="02060603020205020403" pitchFamily="18" charset="0"/>
                          <a:cs typeface="Cambria"/>
                        </a:rPr>
                        <a:t>acceso</a:t>
                      </a:r>
                      <a:r>
                        <a:rPr sz="1400" spc="1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al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contenido.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9FE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Registro</a:t>
                      </a:r>
                      <a:r>
                        <a:rPr sz="1400" spc="16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2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16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Nuevo</a:t>
                      </a:r>
                      <a:r>
                        <a:rPr sz="1400" spc="15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Usuario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42875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2AA3A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Usuario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registrado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correctamente.</a:t>
                      </a:r>
                      <a:r>
                        <a:rPr sz="1400" spc="12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Confirmación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latin typeface="Rockwell" panose="02060603020205020403" pitchFamily="18" charset="0"/>
                          <a:cs typeface="Cambria"/>
                        </a:rPr>
                        <a:t>manual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por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parte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90" dirty="0">
                          <a:latin typeface="Rockwell" panose="02060603020205020403" pitchFamily="18" charset="0"/>
                          <a:cs typeface="Cambria"/>
                        </a:rPr>
                        <a:t>del</a:t>
                      </a:r>
                      <a:r>
                        <a:rPr sz="1400" spc="14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35" dirty="0">
                          <a:latin typeface="Rockwell" panose="02060603020205020403" pitchFamily="18" charset="0"/>
                          <a:cs typeface="Cambria"/>
                        </a:rPr>
                        <a:t>Administrador.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CF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spc="5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Seguimiento</a:t>
                      </a:r>
                      <a:r>
                        <a:rPr sz="1400" spc="6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2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7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4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Módulos</a:t>
                      </a:r>
                      <a:endParaRPr sz="14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42875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2AA3A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1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sistema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registra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80" dirty="0">
                          <a:latin typeface="Rockwell" panose="02060603020205020403" pitchFamily="18" charset="0"/>
                          <a:cs typeface="Cambria"/>
                        </a:rPr>
                        <a:t>y</a:t>
                      </a:r>
                      <a:r>
                        <a:rPr sz="1400" spc="1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elimina</a:t>
                      </a:r>
                      <a:r>
                        <a:rPr sz="1400" spc="1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75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seguimiento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correctamente.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9FE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Solicitud</a:t>
                      </a:r>
                      <a:r>
                        <a:rPr sz="1400" spc="23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Rol</a:t>
                      </a:r>
                      <a:r>
                        <a:rPr sz="1400" spc="25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Colaborador</a:t>
                      </a:r>
                      <a:endParaRPr sz="14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204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flujo</a:t>
                      </a:r>
                      <a:r>
                        <a:rPr sz="1400" spc="204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funciona</a:t>
                      </a:r>
                      <a:r>
                        <a:rPr sz="1400" spc="2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correctamente.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i="1" dirty="0" err="1">
                          <a:latin typeface="Rockwell" panose="02060603020205020403" pitchFamily="18" charset="0"/>
                          <a:cs typeface="Cambria"/>
                        </a:rPr>
                        <a:t>Solicitar</a:t>
                      </a:r>
                      <a:r>
                        <a:rPr sz="1400" i="1" spc="2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i="1" spc="60" dirty="0" err="1">
                          <a:latin typeface="Rockwell" panose="02060603020205020403" pitchFamily="18" charset="0"/>
                          <a:cs typeface="Cambria"/>
                        </a:rPr>
                        <a:t>acceso</a:t>
                      </a:r>
                      <a:r>
                        <a:rPr lang="es-ES" sz="1400" spc="60" dirty="0">
                          <a:latin typeface="Rockwell" panose="02060603020205020403" pitchFamily="18" charset="0"/>
                          <a:cs typeface="Symbol"/>
                          <a:sym typeface="Symbol" panose="05050102010706020507" pitchFamily="18" charset="2"/>
                        </a:rPr>
                        <a:t>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Times New Roman"/>
                        </a:rPr>
                        <a:t> </a:t>
                      </a:r>
                      <a:r>
                        <a:rPr sz="1400" i="1" dirty="0">
                          <a:latin typeface="Rockwell" panose="02060603020205020403" pitchFamily="18" charset="0"/>
                          <a:cs typeface="Cambria"/>
                        </a:rPr>
                        <a:t>Solicitud</a:t>
                      </a:r>
                      <a:r>
                        <a:rPr sz="1400" i="1" spc="229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i="1" spc="55" dirty="0" err="1">
                          <a:latin typeface="Rockwell" panose="02060603020205020403" pitchFamily="18" charset="0"/>
                          <a:cs typeface="Cambria"/>
                        </a:rPr>
                        <a:t>pendiente</a:t>
                      </a:r>
                      <a:r>
                        <a:rPr lang="es-ES" sz="1400" spc="55" dirty="0">
                          <a:latin typeface="Rockwell" panose="02060603020205020403" pitchFamily="18" charset="0"/>
                          <a:cs typeface="Symbol"/>
                          <a:sym typeface="Symbol" panose="05050102010706020507" pitchFamily="18" charset="2"/>
                        </a:rPr>
                        <a:t>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Times New Roman"/>
                        </a:rPr>
                        <a:t> </a:t>
                      </a:r>
                      <a:r>
                        <a:rPr sz="1400" i="1" dirty="0">
                          <a:latin typeface="Rockwell" panose="02060603020205020403" pitchFamily="18" charset="0"/>
                          <a:cs typeface="Cambria"/>
                        </a:rPr>
                        <a:t>Solicitud</a:t>
                      </a:r>
                      <a:r>
                        <a:rPr sz="1400" i="1" spc="2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i="1" spc="45" dirty="0">
                          <a:latin typeface="Rockwell" panose="02060603020205020403" pitchFamily="18" charset="0"/>
                          <a:cs typeface="Cambria"/>
                        </a:rPr>
                        <a:t>aprobada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spc="6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Subida </a:t>
                      </a:r>
                      <a:r>
                        <a:rPr sz="1400" spc="12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5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archivos</a:t>
                      </a:r>
                      <a:endParaRPr sz="14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colaborador</a:t>
                      </a:r>
                      <a:r>
                        <a:rPr sz="1400" spc="16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95" dirty="0">
                          <a:latin typeface="Rockwell" panose="02060603020205020403" pitchFamily="18" charset="0"/>
                          <a:cs typeface="Cambria"/>
                        </a:rPr>
                        <a:t>puede</a:t>
                      </a:r>
                      <a:r>
                        <a:rPr sz="1400" spc="1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subir</a:t>
                      </a:r>
                      <a:r>
                        <a:rPr sz="1400" spc="1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archivos</a:t>
                      </a:r>
                      <a:r>
                        <a:rPr sz="1400" spc="1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PDF,</a:t>
                      </a:r>
                      <a:r>
                        <a:rPr sz="1400" spc="1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80" dirty="0">
                          <a:latin typeface="Rockwell" panose="02060603020205020403" pitchFamily="18" charset="0"/>
                          <a:cs typeface="Cambria"/>
                        </a:rPr>
                        <a:t>DOCX,</a:t>
                      </a:r>
                      <a:r>
                        <a:rPr sz="1400" spc="16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70" dirty="0">
                          <a:latin typeface="Rockwell" panose="02060603020205020403" pitchFamily="18" charset="0"/>
                          <a:cs typeface="Cambria"/>
                        </a:rPr>
                        <a:t>etc.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8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Descarga</a:t>
                      </a:r>
                      <a:r>
                        <a:rPr sz="1400" spc="6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25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6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ckwell" panose="02060603020205020403" pitchFamily="18" charset="0"/>
                          <a:cs typeface="Cambria"/>
                        </a:rPr>
                        <a:t>archivos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76530" marB="0" anchor="ctr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El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usuario</a:t>
                      </a:r>
                      <a:r>
                        <a:rPr sz="1400" spc="12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Alumno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95" dirty="0">
                          <a:latin typeface="Rockwell" panose="02060603020205020403" pitchFamily="18" charset="0"/>
                          <a:cs typeface="Cambria"/>
                        </a:rPr>
                        <a:t>puede</a:t>
                      </a:r>
                      <a:r>
                        <a:rPr sz="1400" spc="12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ver</a:t>
                      </a:r>
                      <a:r>
                        <a:rPr sz="1400" spc="1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80" dirty="0">
                          <a:latin typeface="Rockwell" panose="02060603020205020403" pitchFamily="18" charset="0"/>
                          <a:cs typeface="Cambria"/>
                        </a:rPr>
                        <a:t>y</a:t>
                      </a:r>
                      <a:r>
                        <a:rPr sz="1400" spc="13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75" dirty="0">
                          <a:latin typeface="Rockwell" panose="02060603020205020403" pitchFamily="18" charset="0"/>
                          <a:cs typeface="Cambria"/>
                        </a:rPr>
                        <a:t>descargar</a:t>
                      </a:r>
                      <a:r>
                        <a:rPr sz="1400" spc="13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los</a:t>
                      </a:r>
                      <a:r>
                        <a:rPr sz="1400" spc="13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recursos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25" dirty="0">
                          <a:latin typeface="Rockwell" panose="02060603020205020403" pitchFamily="18" charset="0"/>
                          <a:cs typeface="Cambria"/>
                        </a:rPr>
                        <a:t>sin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restricciones.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016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Vista general de diapositiva 25">
                <a:extLst>
                  <a:ext uri="{FF2B5EF4-FFF2-40B4-BE49-F238E27FC236}">
                    <a16:creationId xmlns:a16="http://schemas.microsoft.com/office/drawing/2014/main" id="{84CAF7D6-9A30-CEF8-8EB9-650691E7CB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7333514"/>
                  </p:ext>
                </p:extLst>
              </p:nvPr>
            </p:nvGraphicFramePr>
            <p:xfrm rot="17891438" flipH="1">
              <a:off x="973279" y="2737317"/>
              <a:ext cx="64644" cy="45719"/>
            </p:xfrm>
            <a:graphic>
              <a:graphicData uri="http://schemas.microsoft.com/office/powerpoint/2016/slidezoom">
                <pslz:sldZm>
                  <pslz:sldZmObj sldId="267" cId="0">
                    <pslz:zmPr id="{5879D34C-688C-45BD-9E15-7BB1788BE5D6}" returnToParent="0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7891438" flipH="1">
                          <a:off x="0" y="0"/>
                          <a:ext cx="64644" cy="4571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Vista general de diapositiva 2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4CAF7D6-9A30-CEF8-8EB9-650691E7CB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7891438" flipH="1">
                <a:off x="973279" y="2737317"/>
                <a:ext cx="64644" cy="4571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9026" y="1247902"/>
            <a:ext cx="697357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23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Cada</a:t>
            </a:r>
            <a:r>
              <a:rPr sz="2000" i="1" spc="16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1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incidencia</a:t>
            </a:r>
            <a:r>
              <a:rPr sz="2000" i="1" spc="15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4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documentada</a:t>
            </a:r>
            <a:r>
              <a:rPr sz="2000" i="1" spc="15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con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0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diagnóstico</a:t>
            </a:r>
            <a:r>
              <a:rPr sz="2000" i="1" spc="1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2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y</a:t>
            </a:r>
            <a:r>
              <a:rPr sz="2000" i="1" spc="1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9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solución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2698" y="487426"/>
            <a:ext cx="6095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45" dirty="0"/>
              <a:t>Dificultades</a:t>
            </a:r>
            <a:r>
              <a:rPr spc="665" dirty="0"/>
              <a:t> </a:t>
            </a:r>
            <a:r>
              <a:rPr spc="125" dirty="0"/>
              <a:t>y</a:t>
            </a:r>
            <a:r>
              <a:rPr spc="665" dirty="0"/>
              <a:t> </a:t>
            </a:r>
            <a:r>
              <a:rPr spc="360" dirty="0"/>
              <a:t>Soluciones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4923" y="504444"/>
            <a:ext cx="9624060" cy="685165"/>
            <a:chOff x="534923" y="504444"/>
            <a:chExt cx="9624060" cy="685165"/>
          </a:xfrm>
        </p:grpSpPr>
        <p:sp>
          <p:nvSpPr>
            <p:cNvPr id="5" name="object 5"/>
            <p:cNvSpPr/>
            <p:nvPr/>
          </p:nvSpPr>
          <p:spPr>
            <a:xfrm>
              <a:off x="534923" y="504444"/>
              <a:ext cx="9624060" cy="9525"/>
            </a:xfrm>
            <a:custGeom>
              <a:avLst/>
              <a:gdLst/>
              <a:ahLst/>
              <a:cxnLst/>
              <a:rect l="l" t="t" r="r" b="b"/>
              <a:pathLst>
                <a:path w="9624060" h="9525">
                  <a:moveTo>
                    <a:pt x="962406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4060" y="9144"/>
                  </a:lnTo>
                  <a:lnTo>
                    <a:pt x="9624060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684" y="504825"/>
              <a:ext cx="621029" cy="6845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4425" y="547243"/>
              <a:ext cx="1413510" cy="56832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534923" y="1240790"/>
            <a:ext cx="9624060" cy="9525"/>
          </a:xfrm>
          <a:custGeom>
            <a:avLst/>
            <a:gdLst/>
            <a:ahLst/>
            <a:cxnLst/>
            <a:rect l="l" t="t" r="r" b="b"/>
            <a:pathLst>
              <a:path w="9624060" h="9525">
                <a:moveTo>
                  <a:pt x="9624060" y="0"/>
                </a:moveTo>
                <a:lnTo>
                  <a:pt x="0" y="0"/>
                </a:lnTo>
                <a:lnTo>
                  <a:pt x="0" y="9144"/>
                </a:lnTo>
                <a:lnTo>
                  <a:pt x="9624060" y="9144"/>
                </a:lnTo>
                <a:lnTo>
                  <a:pt x="9624060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55539" y="5473400"/>
            <a:ext cx="8754745" cy="701675"/>
            <a:chOff x="955539" y="5473400"/>
            <a:chExt cx="8754745" cy="7016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539" y="5473400"/>
              <a:ext cx="8754634" cy="7011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1643" y="5786653"/>
              <a:ext cx="8740140" cy="3626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21714" y="5797474"/>
              <a:ext cx="8625205" cy="259079"/>
            </a:xfrm>
            <a:custGeom>
              <a:avLst/>
              <a:gdLst/>
              <a:ahLst/>
              <a:cxnLst/>
              <a:rect l="l" t="t" r="r" b="b"/>
              <a:pathLst>
                <a:path w="8625205" h="259079">
                  <a:moveTo>
                    <a:pt x="8625205" y="0"/>
                  </a:moveTo>
                  <a:lnTo>
                    <a:pt x="0" y="0"/>
                  </a:lnTo>
                  <a:lnTo>
                    <a:pt x="0" y="258775"/>
                  </a:lnTo>
                  <a:lnTo>
                    <a:pt x="8625205" y="258775"/>
                  </a:lnTo>
                  <a:lnTo>
                    <a:pt x="8625205" y="0"/>
                  </a:lnTo>
                  <a:close/>
                </a:path>
              </a:pathLst>
            </a:custGeom>
            <a:solidFill>
              <a:srgbClr val="D2E2D7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1714" y="5797474"/>
              <a:ext cx="8625205" cy="259079"/>
            </a:xfrm>
            <a:custGeom>
              <a:avLst/>
              <a:gdLst/>
              <a:ahLst/>
              <a:cxnLst/>
              <a:rect l="l" t="t" r="r" b="b"/>
              <a:pathLst>
                <a:path w="8625205" h="259079">
                  <a:moveTo>
                    <a:pt x="0" y="258775"/>
                  </a:moveTo>
                  <a:lnTo>
                    <a:pt x="8625205" y="258775"/>
                  </a:lnTo>
                  <a:lnTo>
                    <a:pt x="8625205" y="0"/>
                  </a:lnTo>
                  <a:lnTo>
                    <a:pt x="0" y="0"/>
                  </a:lnTo>
                  <a:lnTo>
                    <a:pt x="0" y="258775"/>
                  </a:lnTo>
                  <a:close/>
                </a:path>
              </a:pathLst>
            </a:custGeom>
            <a:ln w="12700">
              <a:solidFill>
                <a:srgbClr val="D2E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32636" y="5396229"/>
            <a:ext cx="6100064" cy="6790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>
              <a:lnSpc>
                <a:spcPts val="3050"/>
              </a:lnSpc>
              <a:spcBef>
                <a:spcPts val="95"/>
              </a:spcBef>
            </a:pP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5.</a:t>
            </a:r>
            <a:r>
              <a:rPr sz="2400" spc="-12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Roles</a:t>
            </a:r>
            <a:r>
              <a:rPr sz="2400" spc="8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bloqueando</a:t>
            </a:r>
            <a:r>
              <a:rPr sz="2400" spc="8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permisos</a:t>
            </a:r>
            <a:endParaRPr sz="24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ts val="2090"/>
              </a:lnSpc>
            </a:pPr>
            <a:r>
              <a:rPr sz="2000" dirty="0">
                <a:latin typeface="Rockwell" panose="02060603020205020403" pitchFamily="18" charset="0"/>
                <a:cs typeface="Cambria"/>
              </a:rPr>
              <a:t>'</a:t>
            </a:r>
            <a:r>
              <a:rPr sz="2000" dirty="0" err="1">
                <a:latin typeface="Rockwell" panose="02060603020205020403" pitchFamily="18" charset="0"/>
                <a:cs typeface="Cambria"/>
              </a:rPr>
              <a:t>Prohibido</a:t>
            </a:r>
            <a:r>
              <a:rPr sz="2000" dirty="0">
                <a:latin typeface="Rockwell" panose="02060603020205020403" pitchFamily="18" charset="0"/>
                <a:cs typeface="Cambria"/>
              </a:rPr>
              <a:t>'</a:t>
            </a:r>
            <a:r>
              <a:rPr lang="es-ES" sz="2000" dirty="0">
                <a:latin typeface="Rockwell" panose="02060603020205020403" pitchFamily="18" charset="0"/>
                <a:cs typeface="Symbol"/>
                <a:sym typeface="Symbol" panose="05050102010706020507" pitchFamily="18" charset="2"/>
              </a:rPr>
              <a:t></a:t>
            </a:r>
            <a:r>
              <a:rPr sz="2000" spc="60" dirty="0">
                <a:latin typeface="Rockwell" panose="02060603020205020403" pitchFamily="18" charset="0"/>
                <a:cs typeface="Times New Roman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'No</a:t>
            </a:r>
            <a:r>
              <a:rPr sz="200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ajustado'</a:t>
            </a:r>
            <a:r>
              <a:rPr sz="20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100" dirty="0">
                <a:latin typeface="Rockwell" panose="02060603020205020403" pitchFamily="18" charset="0"/>
                <a:cs typeface="Cambria"/>
              </a:rPr>
              <a:t>en</a:t>
            </a:r>
            <a:r>
              <a:rPr sz="2000" spc="16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rol</a:t>
            </a:r>
            <a:r>
              <a:rPr sz="200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60" dirty="0">
                <a:latin typeface="Rockwell" panose="02060603020205020403" pitchFamily="18" charset="0"/>
                <a:cs typeface="Cambria"/>
              </a:rPr>
              <a:t>Alumno</a:t>
            </a:r>
            <a:r>
              <a:rPr sz="20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55" dirty="0">
                <a:latin typeface="Rockwell" panose="02060603020205020403" pitchFamily="18" charset="0"/>
                <a:cs typeface="Cambria"/>
              </a:rPr>
              <a:t>BiViR@</a:t>
            </a:r>
            <a:endParaRPr sz="20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832" y="4472940"/>
            <a:ext cx="8782050" cy="115595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60956" y="4575429"/>
            <a:ext cx="45477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4.</a:t>
            </a:r>
            <a:r>
              <a:rPr sz="2400" spc="-7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SMTP</a:t>
            </a:r>
            <a:r>
              <a:rPr sz="2400" spc="14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sin</a:t>
            </a:r>
            <a:r>
              <a:rPr sz="2400" spc="15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solución</a:t>
            </a:r>
            <a:r>
              <a:rPr sz="2400" spc="14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completa</a:t>
            </a:r>
            <a:endParaRPr sz="24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1644" y="4940833"/>
            <a:ext cx="8740140" cy="3626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21714" y="4951857"/>
            <a:ext cx="8625205" cy="243656"/>
          </a:xfrm>
          <a:prstGeom prst="rect">
            <a:avLst/>
          </a:prstGeom>
          <a:solidFill>
            <a:srgbClr val="D3E7D0">
              <a:alpha val="90194"/>
            </a:srgbClr>
          </a:solidFill>
          <a:ln w="12700">
            <a:solidFill>
              <a:srgbClr val="D3E7D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984">
              <a:lnSpc>
                <a:spcPts val="1930"/>
              </a:lnSpc>
            </a:pPr>
            <a:r>
              <a:rPr sz="1700" spc="65" dirty="0">
                <a:latin typeface="Rockwell" panose="02060603020205020403" pitchFamily="18" charset="0"/>
                <a:cs typeface="Cambria"/>
              </a:rPr>
              <a:t>Confirmación</a:t>
            </a:r>
            <a:r>
              <a:rPr sz="1700" spc="180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dirty="0">
                <a:latin typeface="Rockwell" panose="02060603020205020403" pitchFamily="18" charset="0"/>
                <a:cs typeface="Cambria"/>
              </a:rPr>
              <a:t>manual</a:t>
            </a:r>
            <a:r>
              <a:rPr sz="17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spc="80" dirty="0">
                <a:latin typeface="Rockwell" panose="02060603020205020403" pitchFamily="18" charset="0"/>
                <a:cs typeface="Cambria"/>
              </a:rPr>
              <a:t>como</a:t>
            </a:r>
            <a:r>
              <a:rPr sz="1700" spc="195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dirty="0">
                <a:latin typeface="Rockwell" panose="02060603020205020403" pitchFamily="18" charset="0"/>
                <a:cs typeface="Cambria"/>
              </a:rPr>
              <a:t>workaround</a:t>
            </a:r>
            <a:r>
              <a:rPr sz="1700" spc="175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dirty="0">
                <a:latin typeface="Rockwell" panose="02060603020205020403" pitchFamily="18" charset="0"/>
                <a:cs typeface="Cambria"/>
              </a:rPr>
              <a:t>·</a:t>
            </a:r>
            <a:r>
              <a:rPr sz="170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dirty="0">
                <a:latin typeface="Rockwell" panose="02060603020205020403" pitchFamily="18" charset="0"/>
                <a:cs typeface="Cambria"/>
              </a:rPr>
              <a:t>SMTP</a:t>
            </a:r>
            <a:r>
              <a:rPr sz="1700" spc="190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dirty="0">
                <a:latin typeface="Rockwell" panose="02060603020205020403" pitchFamily="18" charset="0"/>
                <a:cs typeface="Cambria"/>
              </a:rPr>
              <a:t>institucional</a:t>
            </a:r>
            <a:r>
              <a:rPr sz="1700" spc="185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spc="90" dirty="0">
                <a:latin typeface="Rockwell" panose="02060603020205020403" pitchFamily="18" charset="0"/>
                <a:cs typeface="Cambria"/>
              </a:rPr>
              <a:t>en</a:t>
            </a:r>
            <a:r>
              <a:rPr sz="1700" spc="165" dirty="0">
                <a:latin typeface="Rockwell" panose="02060603020205020403" pitchFamily="18" charset="0"/>
                <a:cs typeface="Cambria"/>
              </a:rPr>
              <a:t> </a:t>
            </a:r>
            <a:r>
              <a:rPr sz="1700" spc="55" dirty="0">
                <a:latin typeface="Rockwell" panose="02060603020205020403" pitchFamily="18" charset="0"/>
                <a:cs typeface="Cambria"/>
              </a:rPr>
              <a:t>producción</a:t>
            </a:r>
            <a:endParaRPr sz="17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1832" y="3630167"/>
            <a:ext cx="8782050" cy="114223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563368" y="3732657"/>
            <a:ext cx="317373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3.</a:t>
            </a:r>
            <a:r>
              <a:rPr sz="2400" spc="-114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Conflictos</a:t>
            </a: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17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de</a:t>
            </a: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IP</a:t>
            </a:r>
            <a:endParaRPr sz="24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4084345"/>
            <a:ext cx="8740140" cy="36268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1714" y="4094988"/>
            <a:ext cx="8625205" cy="259079"/>
          </a:xfrm>
          <a:prstGeom prst="rect">
            <a:avLst/>
          </a:prstGeom>
          <a:solidFill>
            <a:srgbClr val="E0EBCE">
              <a:alpha val="90194"/>
            </a:srgbClr>
          </a:solidFill>
          <a:ln w="12700">
            <a:solidFill>
              <a:srgbClr val="E0EBC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3240">
              <a:lnSpc>
                <a:spcPts val="2025"/>
              </a:lnSpc>
            </a:pPr>
            <a:r>
              <a:rPr sz="2000" spc="60" dirty="0">
                <a:latin typeface="Rockwell" panose="02060603020205020403" pitchFamily="18" charset="0"/>
                <a:cs typeface="Cambria"/>
              </a:rPr>
              <a:t>Nueva </a:t>
            </a:r>
            <a:r>
              <a:rPr sz="2000" dirty="0">
                <a:latin typeface="Rockwell" panose="02060603020205020403" pitchFamily="18" charset="0"/>
                <a:cs typeface="Cambria"/>
              </a:rPr>
              <a:t>IP</a:t>
            </a:r>
            <a:r>
              <a:rPr sz="20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fija</a:t>
            </a:r>
            <a:r>
              <a:rPr sz="2000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220" dirty="0">
                <a:latin typeface="Rockwell" panose="02060603020205020403" pitchFamily="18" charset="0"/>
                <a:cs typeface="Cambria"/>
              </a:rPr>
              <a:t>+</a:t>
            </a:r>
            <a:r>
              <a:rPr sz="20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114" dirty="0">
                <a:latin typeface="Rockwell" panose="02060603020205020403" pitchFamily="18" charset="0"/>
                <a:cs typeface="Cambria"/>
              </a:rPr>
              <a:t>sed</a:t>
            </a:r>
            <a:r>
              <a:rPr sz="20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100" dirty="0">
                <a:latin typeface="Rockwell" panose="02060603020205020403" pitchFamily="18" charset="0"/>
                <a:cs typeface="Cambria"/>
              </a:rPr>
              <a:t>en</a:t>
            </a:r>
            <a:r>
              <a:rPr sz="20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95" dirty="0">
                <a:latin typeface="Rockwell" panose="02060603020205020403" pitchFamily="18" charset="0"/>
                <a:cs typeface="Cambria"/>
              </a:rPr>
              <a:t>config.php</a:t>
            </a:r>
            <a:r>
              <a:rPr sz="20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220" dirty="0">
                <a:latin typeface="Rockwell" panose="02060603020205020403" pitchFamily="18" charset="0"/>
                <a:cs typeface="Cambria"/>
              </a:rPr>
              <a:t>+</a:t>
            </a:r>
            <a:r>
              <a:rPr sz="2000" spc="8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105" dirty="0">
                <a:latin typeface="Rockwell" panose="02060603020205020403" pitchFamily="18" charset="0"/>
                <a:cs typeface="Cambria"/>
              </a:rPr>
              <a:t>purge_caches</a:t>
            </a:r>
            <a:endParaRPr sz="20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1832" y="2711196"/>
            <a:ext cx="8782050" cy="120472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560957" y="2867025"/>
            <a:ext cx="340474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9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2.</a:t>
            </a:r>
            <a:r>
              <a:rPr sz="2400" spc="-10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Disco </a:t>
            </a:r>
            <a:r>
              <a:rPr sz="28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LVM</a:t>
            </a:r>
            <a:r>
              <a:rPr sz="2800" spc="3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al</a:t>
            </a:r>
            <a:r>
              <a:rPr sz="2400" spc="1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100%</a:t>
            </a:r>
            <a:endParaRPr sz="24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644" y="3227844"/>
            <a:ext cx="8740140" cy="3626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21714" y="3238246"/>
            <a:ext cx="8625205" cy="259079"/>
          </a:xfrm>
          <a:prstGeom prst="rect">
            <a:avLst/>
          </a:prstGeom>
          <a:solidFill>
            <a:srgbClr val="EEE9CD">
              <a:alpha val="90194"/>
            </a:srgbClr>
          </a:solidFill>
          <a:ln w="12700">
            <a:solidFill>
              <a:srgbClr val="EEE9C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1815">
              <a:lnSpc>
                <a:spcPts val="2035"/>
              </a:lnSpc>
            </a:pPr>
            <a:r>
              <a:rPr sz="2000" spc="90" dirty="0">
                <a:latin typeface="Rockwell" panose="02060603020205020403" pitchFamily="18" charset="0"/>
                <a:cs typeface="Cambria"/>
              </a:rPr>
              <a:t>docker</a:t>
            </a:r>
            <a:r>
              <a:rPr sz="2000" spc="7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80" dirty="0">
                <a:latin typeface="Rockwell" panose="02060603020205020403" pitchFamily="18" charset="0"/>
                <a:cs typeface="Cambria"/>
              </a:rPr>
              <a:t>builder </a:t>
            </a:r>
            <a:r>
              <a:rPr sz="2000" spc="75" dirty="0">
                <a:latin typeface="Rockwell" panose="02060603020205020403" pitchFamily="18" charset="0"/>
                <a:cs typeface="Cambria"/>
              </a:rPr>
              <a:t>prune</a:t>
            </a:r>
            <a:r>
              <a:rPr sz="2000" spc="8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220" dirty="0">
                <a:latin typeface="Rockwell" panose="02060603020205020403" pitchFamily="18" charset="0"/>
                <a:cs typeface="Cambria"/>
              </a:rPr>
              <a:t>+</a:t>
            </a:r>
            <a:r>
              <a:rPr sz="2000"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65" dirty="0">
                <a:latin typeface="Rockwell" panose="02060603020205020403" pitchFamily="18" charset="0"/>
                <a:cs typeface="Cambria"/>
              </a:rPr>
              <a:t>Ivextend</a:t>
            </a:r>
            <a:r>
              <a:rPr sz="2000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220" dirty="0">
                <a:latin typeface="Rockwell" panose="02060603020205020403" pitchFamily="18" charset="0"/>
                <a:cs typeface="Cambria"/>
              </a:rPr>
              <a:t>+</a:t>
            </a:r>
            <a:r>
              <a:rPr sz="2000"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resize2fs</a:t>
            </a:r>
            <a:r>
              <a:rPr sz="2000" spc="7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dirty="0">
                <a:latin typeface="Rockwell" panose="02060603020205020403" pitchFamily="18" charset="0"/>
                <a:cs typeface="Cambria"/>
              </a:rPr>
              <a:t>·</a:t>
            </a:r>
            <a:r>
              <a:rPr sz="2000"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65" dirty="0">
                <a:latin typeface="Rockwell" panose="02060603020205020403" pitchFamily="18" charset="0"/>
                <a:cs typeface="Cambria"/>
              </a:rPr>
              <a:t>19GB</a:t>
            </a:r>
            <a:r>
              <a:rPr sz="2000" spc="70" dirty="0">
                <a:latin typeface="Rockwell" panose="02060603020205020403" pitchFamily="18" charset="0"/>
                <a:cs typeface="Cambria"/>
              </a:rPr>
              <a:t> </a:t>
            </a:r>
            <a:r>
              <a:rPr lang="es-ES" sz="2000" dirty="0">
                <a:latin typeface="Rockwell" panose="02060603020205020403" pitchFamily="18" charset="0"/>
                <a:cs typeface="Symbol"/>
                <a:sym typeface="Symbol" panose="05050102010706020507" pitchFamily="18" charset="2"/>
              </a:rPr>
              <a:t></a:t>
            </a:r>
            <a:r>
              <a:rPr sz="2000" spc="25" dirty="0">
                <a:latin typeface="Rockwell" panose="02060603020205020403" pitchFamily="18" charset="0"/>
                <a:cs typeface="Times New Roman"/>
              </a:rPr>
              <a:t> </a:t>
            </a:r>
            <a:r>
              <a:rPr sz="2000" spc="45" dirty="0">
                <a:latin typeface="Rockwell" panose="02060603020205020403" pitchFamily="18" charset="0"/>
                <a:cs typeface="Cambria"/>
              </a:rPr>
              <a:t>38GB</a:t>
            </a:r>
            <a:endParaRPr sz="20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1832" y="1854695"/>
            <a:ext cx="8782050" cy="120473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563368" y="2028825"/>
            <a:ext cx="637413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9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1.</a:t>
            </a:r>
            <a:r>
              <a:rPr sz="2400" spc="-13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cloud-</a:t>
            </a:r>
            <a:r>
              <a:rPr sz="240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init</a:t>
            </a:r>
            <a:r>
              <a:rPr sz="2400" spc="11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125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sobreescribiendo</a:t>
            </a:r>
            <a:r>
              <a:rPr sz="2400" spc="8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Rockwell" panose="02060603020205020403" pitchFamily="18" charset="0"/>
                <a:cs typeface="Cambria"/>
              </a:rPr>
              <a:t>red</a:t>
            </a:r>
            <a:endParaRPr sz="24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644" y="2371356"/>
            <a:ext cx="8740140" cy="36269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21714" y="2455546"/>
            <a:ext cx="8625205" cy="259079"/>
          </a:xfrm>
          <a:prstGeom prst="rect">
            <a:avLst/>
          </a:prstGeom>
          <a:solidFill>
            <a:srgbClr val="F1D7CA">
              <a:alpha val="90194"/>
            </a:srgbClr>
          </a:solidFill>
          <a:ln w="12700">
            <a:solidFill>
              <a:srgbClr val="F1D7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7375">
              <a:lnSpc>
                <a:spcPts val="2020"/>
              </a:lnSpc>
            </a:pPr>
            <a:r>
              <a:rPr sz="2000" spc="110" dirty="0">
                <a:latin typeface="Rockwell" panose="02060603020205020403" pitchFamily="18" charset="0"/>
                <a:cs typeface="Cambria"/>
              </a:rPr>
              <a:t>Crear</a:t>
            </a:r>
            <a:r>
              <a:rPr sz="2000" spc="375" dirty="0">
                <a:latin typeface="Rockwell" panose="02060603020205020403" pitchFamily="18" charset="0"/>
                <a:cs typeface="Cambria"/>
              </a:rPr>
              <a:t> </a:t>
            </a:r>
            <a:r>
              <a:rPr sz="2000" spc="55" dirty="0">
                <a:latin typeface="Rockwell" panose="02060603020205020403" pitchFamily="18" charset="0"/>
                <a:cs typeface="Cambria"/>
              </a:rPr>
              <a:t>/etc/cloud/cloud.cfg.d/99-</a:t>
            </a:r>
            <a:r>
              <a:rPr sz="2000" spc="80" dirty="0">
                <a:latin typeface="Rockwell" panose="02060603020205020403" pitchFamily="18" charset="0"/>
                <a:cs typeface="Cambria"/>
              </a:rPr>
              <a:t>disable-</a:t>
            </a:r>
            <a:r>
              <a:rPr sz="2000" dirty="0">
                <a:latin typeface="Rockwell" panose="02060603020205020403" pitchFamily="18" charset="0"/>
                <a:cs typeface="Cambria"/>
              </a:rPr>
              <a:t>network-</a:t>
            </a:r>
            <a:r>
              <a:rPr sz="2000" spc="90" dirty="0">
                <a:latin typeface="Rockwell" panose="02060603020205020403" pitchFamily="18" charset="0"/>
                <a:cs typeface="Cambria"/>
              </a:rPr>
              <a:t>config.cgf</a:t>
            </a:r>
            <a:endParaRPr sz="200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72210" y="2094230"/>
            <a:ext cx="336550" cy="3692651"/>
            <a:chOff x="1172210" y="2094230"/>
            <a:chExt cx="336550" cy="3692651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2215" y="2094230"/>
              <a:ext cx="296545" cy="2787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1260" y="2931795"/>
              <a:ext cx="296545" cy="2787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2210" y="4653407"/>
              <a:ext cx="296545" cy="2787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2210" y="5508117"/>
              <a:ext cx="296545" cy="278764"/>
            </a:xfrm>
            <a:prstGeom prst="rect">
              <a:avLst/>
            </a:prstGeom>
          </p:spPr>
        </p:pic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8" name="Vista general de diapositiva 37">
                <a:extLst>
                  <a:ext uri="{FF2B5EF4-FFF2-40B4-BE49-F238E27FC236}">
                    <a16:creationId xmlns:a16="http://schemas.microsoft.com/office/drawing/2014/main" id="{0E5EE6F0-F391-7052-0B6A-1DBCDDD185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1765460"/>
                  </p:ext>
                </p:extLst>
              </p:nvPr>
            </p:nvGraphicFramePr>
            <p:xfrm>
              <a:off x="1160547" y="3773436"/>
              <a:ext cx="343638" cy="343638"/>
            </p:xfrm>
            <a:graphic>
              <a:graphicData uri="http://schemas.microsoft.com/office/powerpoint/2016/slidezoom">
                <pslz:sldZm>
                  <pslz:sldZmObj sldId="268" cId="0">
                    <pslz:zmPr id="{D179A1B0-2EA8-4A0B-9D4B-85A0318BBF04}" returnToParent="0" imageType="cover" transitionDur="1000">
                      <p166:blipFill xmlns:p166="http://schemas.microsoft.com/office/powerpoint/2016/6/main">
                        <a:blip r:embed="rId13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3638" cy="34363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8" name="Vista general de diapositiva 37">
                <a:extLst>
                  <a:ext uri="{FF2B5EF4-FFF2-40B4-BE49-F238E27FC236}">
                    <a16:creationId xmlns:a16="http://schemas.microsoft.com/office/drawing/2014/main" id="{0E5EE6F0-F391-7052-0B6A-1DBCDDD185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0547" y="3773436"/>
                <a:ext cx="343638" cy="34363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525" y="3543554"/>
            <a:ext cx="4524375" cy="2209800"/>
          </a:xfrm>
          <a:custGeom>
            <a:avLst/>
            <a:gdLst/>
            <a:ahLst/>
            <a:cxnLst/>
            <a:rect l="l" t="t" r="r" b="b"/>
            <a:pathLst>
              <a:path w="4524375" h="2209800">
                <a:moveTo>
                  <a:pt x="4156075" y="0"/>
                </a:moveTo>
                <a:lnTo>
                  <a:pt x="368312" y="0"/>
                </a:lnTo>
                <a:lnTo>
                  <a:pt x="322111" y="2868"/>
                </a:lnTo>
                <a:lnTo>
                  <a:pt x="277623" y="11245"/>
                </a:lnTo>
                <a:lnTo>
                  <a:pt x="235193" y="24784"/>
                </a:lnTo>
                <a:lnTo>
                  <a:pt x="195165" y="43142"/>
                </a:lnTo>
                <a:lnTo>
                  <a:pt x="157886" y="65974"/>
                </a:lnTo>
                <a:lnTo>
                  <a:pt x="123700" y="92934"/>
                </a:lnTo>
                <a:lnTo>
                  <a:pt x="92952" y="123678"/>
                </a:lnTo>
                <a:lnTo>
                  <a:pt x="65988" y="157861"/>
                </a:lnTo>
                <a:lnTo>
                  <a:pt x="43153" y="195139"/>
                </a:lnTo>
                <a:lnTo>
                  <a:pt x="24791" y="235166"/>
                </a:lnTo>
                <a:lnTo>
                  <a:pt x="11248" y="277599"/>
                </a:lnTo>
                <a:lnTo>
                  <a:pt x="2869" y="322091"/>
                </a:lnTo>
                <a:lnTo>
                  <a:pt x="0" y="368300"/>
                </a:lnTo>
                <a:lnTo>
                  <a:pt x="0" y="1841500"/>
                </a:lnTo>
                <a:lnTo>
                  <a:pt x="2869" y="1887708"/>
                </a:lnTo>
                <a:lnTo>
                  <a:pt x="11248" y="1932200"/>
                </a:lnTo>
                <a:lnTo>
                  <a:pt x="24791" y="1974633"/>
                </a:lnTo>
                <a:lnTo>
                  <a:pt x="43153" y="2014660"/>
                </a:lnTo>
                <a:lnTo>
                  <a:pt x="65988" y="2051938"/>
                </a:lnTo>
                <a:lnTo>
                  <a:pt x="92952" y="2086121"/>
                </a:lnTo>
                <a:lnTo>
                  <a:pt x="123700" y="2116865"/>
                </a:lnTo>
                <a:lnTo>
                  <a:pt x="157886" y="2143825"/>
                </a:lnTo>
                <a:lnTo>
                  <a:pt x="195165" y="2166657"/>
                </a:lnTo>
                <a:lnTo>
                  <a:pt x="235193" y="2185015"/>
                </a:lnTo>
                <a:lnTo>
                  <a:pt x="277623" y="2198554"/>
                </a:lnTo>
                <a:lnTo>
                  <a:pt x="322111" y="2206931"/>
                </a:lnTo>
                <a:lnTo>
                  <a:pt x="368312" y="2209800"/>
                </a:lnTo>
                <a:lnTo>
                  <a:pt x="4156075" y="2209800"/>
                </a:lnTo>
                <a:lnTo>
                  <a:pt x="4202283" y="2206931"/>
                </a:lnTo>
                <a:lnTo>
                  <a:pt x="4246775" y="2198554"/>
                </a:lnTo>
                <a:lnTo>
                  <a:pt x="4289208" y="2185015"/>
                </a:lnTo>
                <a:lnTo>
                  <a:pt x="4329235" y="2166657"/>
                </a:lnTo>
                <a:lnTo>
                  <a:pt x="4366513" y="2143825"/>
                </a:lnTo>
                <a:lnTo>
                  <a:pt x="4400696" y="2116865"/>
                </a:lnTo>
                <a:lnTo>
                  <a:pt x="4431440" y="2086121"/>
                </a:lnTo>
                <a:lnTo>
                  <a:pt x="4458400" y="2051938"/>
                </a:lnTo>
                <a:lnTo>
                  <a:pt x="4481232" y="2014660"/>
                </a:lnTo>
                <a:lnTo>
                  <a:pt x="4499590" y="1974633"/>
                </a:lnTo>
                <a:lnTo>
                  <a:pt x="4513129" y="1932200"/>
                </a:lnTo>
                <a:lnTo>
                  <a:pt x="4521506" y="1887708"/>
                </a:lnTo>
                <a:lnTo>
                  <a:pt x="4524375" y="1841500"/>
                </a:lnTo>
                <a:lnTo>
                  <a:pt x="4524375" y="368300"/>
                </a:lnTo>
                <a:lnTo>
                  <a:pt x="4521506" y="322091"/>
                </a:lnTo>
                <a:lnTo>
                  <a:pt x="4513129" y="277599"/>
                </a:lnTo>
                <a:lnTo>
                  <a:pt x="4499590" y="235166"/>
                </a:lnTo>
                <a:lnTo>
                  <a:pt x="4481232" y="195139"/>
                </a:lnTo>
                <a:lnTo>
                  <a:pt x="4458400" y="157861"/>
                </a:lnTo>
                <a:lnTo>
                  <a:pt x="4431440" y="123678"/>
                </a:lnTo>
                <a:lnTo>
                  <a:pt x="4400696" y="92934"/>
                </a:lnTo>
                <a:lnTo>
                  <a:pt x="4366513" y="65974"/>
                </a:lnTo>
                <a:lnTo>
                  <a:pt x="4329235" y="43142"/>
                </a:lnTo>
                <a:lnTo>
                  <a:pt x="4289208" y="24784"/>
                </a:lnTo>
                <a:lnTo>
                  <a:pt x="4246775" y="11245"/>
                </a:lnTo>
                <a:lnTo>
                  <a:pt x="4202283" y="2868"/>
                </a:lnTo>
                <a:lnTo>
                  <a:pt x="4156075" y="0"/>
                </a:lnTo>
                <a:close/>
              </a:path>
            </a:pathLst>
          </a:custGeom>
          <a:solidFill>
            <a:srgbClr val="2AA3AC">
              <a:alpha val="2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52217" y="568197"/>
            <a:ext cx="617791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ts val="4270"/>
              </a:lnSpc>
              <a:spcBef>
                <a:spcPts val="100"/>
              </a:spcBef>
            </a:pPr>
            <a:r>
              <a:rPr spc="315" dirty="0"/>
              <a:t>Viabilidad</a:t>
            </a:r>
          </a:p>
          <a:p>
            <a:pPr algn="ctr">
              <a:lnSpc>
                <a:spcPts val="4270"/>
              </a:lnSpc>
            </a:pPr>
            <a:r>
              <a:rPr spc="370" dirty="0"/>
              <a:t>Coste</a:t>
            </a:r>
            <a:r>
              <a:rPr spc="665" dirty="0"/>
              <a:t> </a:t>
            </a:r>
            <a:r>
              <a:rPr spc="345" dirty="0"/>
              <a:t>prácticamente</a:t>
            </a:r>
            <a:r>
              <a:rPr spc="670" dirty="0"/>
              <a:t> </a:t>
            </a:r>
            <a:r>
              <a:rPr spc="340" dirty="0"/>
              <a:t>nulo</a:t>
            </a:r>
          </a:p>
        </p:txBody>
      </p:sp>
      <p:sp>
        <p:nvSpPr>
          <p:cNvPr id="4" name="object 4"/>
          <p:cNvSpPr/>
          <p:nvPr/>
        </p:nvSpPr>
        <p:spPr>
          <a:xfrm>
            <a:off x="554736" y="496824"/>
            <a:ext cx="9606280" cy="9525"/>
          </a:xfrm>
          <a:custGeom>
            <a:avLst/>
            <a:gdLst/>
            <a:ahLst/>
            <a:cxnLst/>
            <a:rect l="l" t="t" r="r" b="b"/>
            <a:pathLst>
              <a:path w="9606280" h="9525">
                <a:moveTo>
                  <a:pt x="9605772" y="0"/>
                </a:moveTo>
                <a:lnTo>
                  <a:pt x="0" y="0"/>
                </a:lnTo>
                <a:lnTo>
                  <a:pt x="0" y="9144"/>
                </a:lnTo>
                <a:lnTo>
                  <a:pt x="9605772" y="9144"/>
                </a:lnTo>
                <a:lnTo>
                  <a:pt x="960577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4736" y="1813814"/>
            <a:ext cx="9606280" cy="9525"/>
          </a:xfrm>
          <a:custGeom>
            <a:avLst/>
            <a:gdLst/>
            <a:ahLst/>
            <a:cxnLst/>
            <a:rect l="l" t="t" r="r" b="b"/>
            <a:pathLst>
              <a:path w="9606280" h="9525">
                <a:moveTo>
                  <a:pt x="9605772" y="0"/>
                </a:moveTo>
                <a:lnTo>
                  <a:pt x="0" y="0"/>
                </a:lnTo>
                <a:lnTo>
                  <a:pt x="0" y="9144"/>
                </a:lnTo>
                <a:lnTo>
                  <a:pt x="9605772" y="9144"/>
                </a:lnTo>
                <a:lnTo>
                  <a:pt x="960577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556" y="846709"/>
            <a:ext cx="508494" cy="543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3973" y="755650"/>
            <a:ext cx="590488" cy="5638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25340" y="744134"/>
            <a:ext cx="803845" cy="55173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23289" y="2044700"/>
            <a:ext cx="2313305" cy="953769"/>
            <a:chOff x="923289" y="2044700"/>
            <a:chExt cx="2313305" cy="953769"/>
          </a:xfrm>
        </p:grpSpPr>
        <p:sp>
          <p:nvSpPr>
            <p:cNvPr id="10" name="object 10"/>
            <p:cNvSpPr/>
            <p:nvPr/>
          </p:nvSpPr>
          <p:spPr>
            <a:xfrm>
              <a:off x="932814" y="2054225"/>
              <a:ext cx="2294255" cy="934719"/>
            </a:xfrm>
            <a:custGeom>
              <a:avLst/>
              <a:gdLst/>
              <a:ahLst/>
              <a:cxnLst/>
              <a:rect l="l" t="t" r="r" b="b"/>
              <a:pathLst>
                <a:path w="2294255" h="934719">
                  <a:moveTo>
                    <a:pt x="2138426" y="0"/>
                  </a:moveTo>
                  <a:lnTo>
                    <a:pt x="155790" y="0"/>
                  </a:lnTo>
                  <a:lnTo>
                    <a:pt x="106548" y="7952"/>
                  </a:lnTo>
                  <a:lnTo>
                    <a:pt x="63782" y="30089"/>
                  </a:lnTo>
                  <a:lnTo>
                    <a:pt x="30058" y="63834"/>
                  </a:lnTo>
                  <a:lnTo>
                    <a:pt x="7942" y="106606"/>
                  </a:lnTo>
                  <a:lnTo>
                    <a:pt x="0" y="155828"/>
                  </a:lnTo>
                  <a:lnTo>
                    <a:pt x="0" y="779017"/>
                  </a:lnTo>
                  <a:lnTo>
                    <a:pt x="7942" y="828226"/>
                  </a:lnTo>
                  <a:lnTo>
                    <a:pt x="30058" y="870968"/>
                  </a:lnTo>
                  <a:lnTo>
                    <a:pt x="63782" y="904674"/>
                  </a:lnTo>
                  <a:lnTo>
                    <a:pt x="106548" y="926780"/>
                  </a:lnTo>
                  <a:lnTo>
                    <a:pt x="155790" y="934719"/>
                  </a:lnTo>
                  <a:lnTo>
                    <a:pt x="2138426" y="934719"/>
                  </a:lnTo>
                  <a:lnTo>
                    <a:pt x="2187696" y="926780"/>
                  </a:lnTo>
                  <a:lnTo>
                    <a:pt x="2230475" y="904674"/>
                  </a:lnTo>
                  <a:lnTo>
                    <a:pt x="2264201" y="870968"/>
                  </a:lnTo>
                  <a:lnTo>
                    <a:pt x="2286314" y="828226"/>
                  </a:lnTo>
                  <a:lnTo>
                    <a:pt x="2294254" y="779017"/>
                  </a:lnTo>
                  <a:lnTo>
                    <a:pt x="2294254" y="155828"/>
                  </a:lnTo>
                  <a:lnTo>
                    <a:pt x="2286314" y="106606"/>
                  </a:lnTo>
                  <a:lnTo>
                    <a:pt x="2264201" y="63834"/>
                  </a:lnTo>
                  <a:lnTo>
                    <a:pt x="2230475" y="30089"/>
                  </a:lnTo>
                  <a:lnTo>
                    <a:pt x="2187696" y="7952"/>
                  </a:lnTo>
                  <a:lnTo>
                    <a:pt x="2138426" y="0"/>
                  </a:lnTo>
                  <a:close/>
                </a:path>
              </a:pathLst>
            </a:custGeom>
            <a:solidFill>
              <a:srgbClr val="B7DD7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2814" y="2054225"/>
              <a:ext cx="2294255" cy="934719"/>
            </a:xfrm>
            <a:custGeom>
              <a:avLst/>
              <a:gdLst/>
              <a:ahLst/>
              <a:cxnLst/>
              <a:rect l="l" t="t" r="r" b="b"/>
              <a:pathLst>
                <a:path w="2294255" h="934719">
                  <a:moveTo>
                    <a:pt x="0" y="155828"/>
                  </a:moveTo>
                  <a:lnTo>
                    <a:pt x="7942" y="106606"/>
                  </a:lnTo>
                  <a:lnTo>
                    <a:pt x="30058" y="63834"/>
                  </a:lnTo>
                  <a:lnTo>
                    <a:pt x="63782" y="30089"/>
                  </a:lnTo>
                  <a:lnTo>
                    <a:pt x="106548" y="7952"/>
                  </a:lnTo>
                  <a:lnTo>
                    <a:pt x="155790" y="0"/>
                  </a:lnTo>
                  <a:lnTo>
                    <a:pt x="2138426" y="0"/>
                  </a:lnTo>
                  <a:lnTo>
                    <a:pt x="2187696" y="7952"/>
                  </a:lnTo>
                  <a:lnTo>
                    <a:pt x="2230475" y="30089"/>
                  </a:lnTo>
                  <a:lnTo>
                    <a:pt x="2264201" y="63834"/>
                  </a:lnTo>
                  <a:lnTo>
                    <a:pt x="2286314" y="106606"/>
                  </a:lnTo>
                  <a:lnTo>
                    <a:pt x="2294254" y="155828"/>
                  </a:lnTo>
                  <a:lnTo>
                    <a:pt x="2294254" y="779017"/>
                  </a:lnTo>
                  <a:lnTo>
                    <a:pt x="2286314" y="828226"/>
                  </a:lnTo>
                  <a:lnTo>
                    <a:pt x="2264201" y="870968"/>
                  </a:lnTo>
                  <a:lnTo>
                    <a:pt x="2230475" y="904674"/>
                  </a:lnTo>
                  <a:lnTo>
                    <a:pt x="2187696" y="926780"/>
                  </a:lnTo>
                  <a:lnTo>
                    <a:pt x="2138426" y="934719"/>
                  </a:lnTo>
                  <a:lnTo>
                    <a:pt x="155790" y="934719"/>
                  </a:lnTo>
                  <a:lnTo>
                    <a:pt x="106548" y="926780"/>
                  </a:lnTo>
                  <a:lnTo>
                    <a:pt x="63782" y="904674"/>
                  </a:lnTo>
                  <a:lnTo>
                    <a:pt x="30058" y="870968"/>
                  </a:lnTo>
                  <a:lnTo>
                    <a:pt x="7942" y="828226"/>
                  </a:lnTo>
                  <a:lnTo>
                    <a:pt x="0" y="779017"/>
                  </a:lnTo>
                  <a:lnTo>
                    <a:pt x="0" y="155828"/>
                  </a:lnTo>
                  <a:close/>
                </a:path>
              </a:pathLst>
            </a:custGeom>
            <a:ln w="19050">
              <a:solidFill>
                <a:srgbClr val="415A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148454" y="2049780"/>
            <a:ext cx="2400300" cy="916305"/>
            <a:chOff x="4148454" y="2049780"/>
            <a:chExt cx="2400300" cy="916305"/>
          </a:xfrm>
        </p:grpSpPr>
        <p:sp>
          <p:nvSpPr>
            <p:cNvPr id="13" name="object 13"/>
            <p:cNvSpPr/>
            <p:nvPr/>
          </p:nvSpPr>
          <p:spPr>
            <a:xfrm>
              <a:off x="4157979" y="2059305"/>
              <a:ext cx="2381250" cy="897255"/>
            </a:xfrm>
            <a:custGeom>
              <a:avLst/>
              <a:gdLst/>
              <a:ahLst/>
              <a:cxnLst/>
              <a:rect l="l" t="t" r="r" b="b"/>
              <a:pathLst>
                <a:path w="2381250" h="897255">
                  <a:moveTo>
                    <a:pt x="2231644" y="0"/>
                  </a:moveTo>
                  <a:lnTo>
                    <a:pt x="149606" y="0"/>
                  </a:lnTo>
                  <a:lnTo>
                    <a:pt x="102299" y="7634"/>
                  </a:lnTo>
                  <a:lnTo>
                    <a:pt x="61228" y="28886"/>
                  </a:lnTo>
                  <a:lnTo>
                    <a:pt x="28850" y="61283"/>
                  </a:lnTo>
                  <a:lnTo>
                    <a:pt x="7622" y="102347"/>
                  </a:lnTo>
                  <a:lnTo>
                    <a:pt x="0" y="149606"/>
                  </a:lnTo>
                  <a:lnTo>
                    <a:pt x="0" y="747776"/>
                  </a:lnTo>
                  <a:lnTo>
                    <a:pt x="7622" y="795021"/>
                  </a:lnTo>
                  <a:lnTo>
                    <a:pt x="28850" y="836054"/>
                  </a:lnTo>
                  <a:lnTo>
                    <a:pt x="61228" y="868412"/>
                  </a:lnTo>
                  <a:lnTo>
                    <a:pt x="102299" y="889633"/>
                  </a:lnTo>
                  <a:lnTo>
                    <a:pt x="149606" y="897255"/>
                  </a:lnTo>
                  <a:lnTo>
                    <a:pt x="2231644" y="897255"/>
                  </a:lnTo>
                  <a:lnTo>
                    <a:pt x="2278950" y="889633"/>
                  </a:lnTo>
                  <a:lnTo>
                    <a:pt x="2320021" y="868412"/>
                  </a:lnTo>
                  <a:lnTo>
                    <a:pt x="2352399" y="836054"/>
                  </a:lnTo>
                  <a:lnTo>
                    <a:pt x="2373627" y="795021"/>
                  </a:lnTo>
                  <a:lnTo>
                    <a:pt x="2381250" y="747776"/>
                  </a:lnTo>
                  <a:lnTo>
                    <a:pt x="2381250" y="149606"/>
                  </a:lnTo>
                  <a:lnTo>
                    <a:pt x="2373627" y="102347"/>
                  </a:lnTo>
                  <a:lnTo>
                    <a:pt x="2352399" y="61283"/>
                  </a:lnTo>
                  <a:lnTo>
                    <a:pt x="2320021" y="28886"/>
                  </a:lnTo>
                  <a:lnTo>
                    <a:pt x="2278950" y="7634"/>
                  </a:lnTo>
                  <a:lnTo>
                    <a:pt x="2231644" y="0"/>
                  </a:lnTo>
                  <a:close/>
                </a:path>
              </a:pathLst>
            </a:custGeom>
            <a:solidFill>
              <a:srgbClr val="9FE2E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57979" y="2059305"/>
              <a:ext cx="2381250" cy="897255"/>
            </a:xfrm>
            <a:custGeom>
              <a:avLst/>
              <a:gdLst/>
              <a:ahLst/>
              <a:cxnLst/>
              <a:rect l="l" t="t" r="r" b="b"/>
              <a:pathLst>
                <a:path w="2381250" h="897255">
                  <a:moveTo>
                    <a:pt x="0" y="149606"/>
                  </a:moveTo>
                  <a:lnTo>
                    <a:pt x="7622" y="102347"/>
                  </a:lnTo>
                  <a:lnTo>
                    <a:pt x="28850" y="61283"/>
                  </a:lnTo>
                  <a:lnTo>
                    <a:pt x="61228" y="28886"/>
                  </a:lnTo>
                  <a:lnTo>
                    <a:pt x="102299" y="7634"/>
                  </a:lnTo>
                  <a:lnTo>
                    <a:pt x="149606" y="0"/>
                  </a:lnTo>
                  <a:lnTo>
                    <a:pt x="2231644" y="0"/>
                  </a:lnTo>
                  <a:lnTo>
                    <a:pt x="2278950" y="7634"/>
                  </a:lnTo>
                  <a:lnTo>
                    <a:pt x="2320021" y="28886"/>
                  </a:lnTo>
                  <a:lnTo>
                    <a:pt x="2352399" y="61283"/>
                  </a:lnTo>
                  <a:lnTo>
                    <a:pt x="2373627" y="102347"/>
                  </a:lnTo>
                  <a:lnTo>
                    <a:pt x="2381250" y="149606"/>
                  </a:lnTo>
                  <a:lnTo>
                    <a:pt x="2381250" y="747776"/>
                  </a:lnTo>
                  <a:lnTo>
                    <a:pt x="2373627" y="795021"/>
                  </a:lnTo>
                  <a:lnTo>
                    <a:pt x="2352399" y="836054"/>
                  </a:lnTo>
                  <a:lnTo>
                    <a:pt x="2320021" y="868412"/>
                  </a:lnTo>
                  <a:lnTo>
                    <a:pt x="2278950" y="889633"/>
                  </a:lnTo>
                  <a:lnTo>
                    <a:pt x="2231644" y="897255"/>
                  </a:lnTo>
                  <a:lnTo>
                    <a:pt x="149606" y="897255"/>
                  </a:lnTo>
                  <a:lnTo>
                    <a:pt x="102299" y="889633"/>
                  </a:lnTo>
                  <a:lnTo>
                    <a:pt x="61228" y="868412"/>
                  </a:lnTo>
                  <a:lnTo>
                    <a:pt x="28850" y="836054"/>
                  </a:lnTo>
                  <a:lnTo>
                    <a:pt x="7622" y="795021"/>
                  </a:lnTo>
                  <a:lnTo>
                    <a:pt x="0" y="747776"/>
                  </a:lnTo>
                  <a:lnTo>
                    <a:pt x="0" y="149606"/>
                  </a:lnTo>
                  <a:close/>
                </a:path>
              </a:pathLst>
            </a:custGeom>
            <a:ln w="19049">
              <a:solidFill>
                <a:srgbClr val="1F7A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702550" y="2025650"/>
            <a:ext cx="2094230" cy="932815"/>
            <a:chOff x="7702550" y="2025650"/>
            <a:chExt cx="2094230" cy="932815"/>
          </a:xfrm>
        </p:grpSpPr>
        <p:sp>
          <p:nvSpPr>
            <p:cNvPr id="16" name="object 16"/>
            <p:cNvSpPr/>
            <p:nvPr/>
          </p:nvSpPr>
          <p:spPr>
            <a:xfrm>
              <a:off x="7712075" y="2035175"/>
              <a:ext cx="2075180" cy="913765"/>
            </a:xfrm>
            <a:custGeom>
              <a:avLst/>
              <a:gdLst/>
              <a:ahLst/>
              <a:cxnLst/>
              <a:rect l="l" t="t" r="r" b="b"/>
              <a:pathLst>
                <a:path w="2075179" h="913764">
                  <a:moveTo>
                    <a:pt x="1922906" y="0"/>
                  </a:moveTo>
                  <a:lnTo>
                    <a:pt x="152273" y="0"/>
                  </a:lnTo>
                  <a:lnTo>
                    <a:pt x="104152" y="7766"/>
                  </a:lnTo>
                  <a:lnTo>
                    <a:pt x="62352" y="29394"/>
                  </a:lnTo>
                  <a:lnTo>
                    <a:pt x="29386" y="62380"/>
                  </a:lnTo>
                  <a:lnTo>
                    <a:pt x="7765" y="104217"/>
                  </a:lnTo>
                  <a:lnTo>
                    <a:pt x="0" y="152400"/>
                  </a:lnTo>
                  <a:lnTo>
                    <a:pt x="0" y="761491"/>
                  </a:lnTo>
                  <a:lnTo>
                    <a:pt x="7765" y="809612"/>
                  </a:lnTo>
                  <a:lnTo>
                    <a:pt x="29386" y="851412"/>
                  </a:lnTo>
                  <a:lnTo>
                    <a:pt x="62352" y="884378"/>
                  </a:lnTo>
                  <a:lnTo>
                    <a:pt x="104152" y="905999"/>
                  </a:lnTo>
                  <a:lnTo>
                    <a:pt x="152273" y="913764"/>
                  </a:lnTo>
                  <a:lnTo>
                    <a:pt x="1922906" y="913764"/>
                  </a:lnTo>
                  <a:lnTo>
                    <a:pt x="1971027" y="905999"/>
                  </a:lnTo>
                  <a:lnTo>
                    <a:pt x="2012827" y="884378"/>
                  </a:lnTo>
                  <a:lnTo>
                    <a:pt x="2045793" y="851412"/>
                  </a:lnTo>
                  <a:lnTo>
                    <a:pt x="2067414" y="809612"/>
                  </a:lnTo>
                  <a:lnTo>
                    <a:pt x="2075179" y="761491"/>
                  </a:lnTo>
                  <a:lnTo>
                    <a:pt x="2075179" y="152400"/>
                  </a:lnTo>
                  <a:lnTo>
                    <a:pt x="2067414" y="104217"/>
                  </a:lnTo>
                  <a:lnTo>
                    <a:pt x="2045793" y="62380"/>
                  </a:lnTo>
                  <a:lnTo>
                    <a:pt x="2012827" y="29394"/>
                  </a:lnTo>
                  <a:lnTo>
                    <a:pt x="1971027" y="7766"/>
                  </a:lnTo>
                  <a:lnTo>
                    <a:pt x="1922906" y="0"/>
                  </a:lnTo>
                  <a:close/>
                </a:path>
              </a:pathLst>
            </a:custGeom>
            <a:solidFill>
              <a:srgbClr val="FDCF8D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12075" y="2035175"/>
              <a:ext cx="2075180" cy="913765"/>
            </a:xfrm>
            <a:custGeom>
              <a:avLst/>
              <a:gdLst/>
              <a:ahLst/>
              <a:cxnLst/>
              <a:rect l="l" t="t" r="r" b="b"/>
              <a:pathLst>
                <a:path w="2075179" h="913764">
                  <a:moveTo>
                    <a:pt x="0" y="152400"/>
                  </a:moveTo>
                  <a:lnTo>
                    <a:pt x="7765" y="104217"/>
                  </a:lnTo>
                  <a:lnTo>
                    <a:pt x="29386" y="62380"/>
                  </a:lnTo>
                  <a:lnTo>
                    <a:pt x="62352" y="29394"/>
                  </a:lnTo>
                  <a:lnTo>
                    <a:pt x="104152" y="7766"/>
                  </a:lnTo>
                  <a:lnTo>
                    <a:pt x="152273" y="0"/>
                  </a:lnTo>
                  <a:lnTo>
                    <a:pt x="1922906" y="0"/>
                  </a:lnTo>
                  <a:lnTo>
                    <a:pt x="1971027" y="7766"/>
                  </a:lnTo>
                  <a:lnTo>
                    <a:pt x="2012827" y="29394"/>
                  </a:lnTo>
                  <a:lnTo>
                    <a:pt x="2045793" y="62380"/>
                  </a:lnTo>
                  <a:lnTo>
                    <a:pt x="2067414" y="104217"/>
                  </a:lnTo>
                  <a:lnTo>
                    <a:pt x="2075179" y="152400"/>
                  </a:lnTo>
                  <a:lnTo>
                    <a:pt x="2075179" y="761491"/>
                  </a:lnTo>
                  <a:lnTo>
                    <a:pt x="2067414" y="809612"/>
                  </a:lnTo>
                  <a:lnTo>
                    <a:pt x="2045793" y="851412"/>
                  </a:lnTo>
                  <a:lnTo>
                    <a:pt x="2012827" y="884378"/>
                  </a:lnTo>
                  <a:lnTo>
                    <a:pt x="1971027" y="905999"/>
                  </a:lnTo>
                  <a:lnTo>
                    <a:pt x="1922906" y="913764"/>
                  </a:lnTo>
                  <a:lnTo>
                    <a:pt x="152273" y="913764"/>
                  </a:lnTo>
                  <a:lnTo>
                    <a:pt x="104152" y="905999"/>
                  </a:lnTo>
                  <a:lnTo>
                    <a:pt x="62352" y="884378"/>
                  </a:lnTo>
                  <a:lnTo>
                    <a:pt x="29386" y="851412"/>
                  </a:lnTo>
                  <a:lnTo>
                    <a:pt x="7765" y="809612"/>
                  </a:lnTo>
                  <a:lnTo>
                    <a:pt x="0" y="761491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A660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499100" y="3739837"/>
            <a:ext cx="4800600" cy="1748147"/>
          </a:xfrm>
          <a:custGeom>
            <a:avLst/>
            <a:gdLst/>
            <a:ahLst/>
            <a:cxnLst/>
            <a:rect l="l" t="t" r="r" b="b"/>
            <a:pathLst>
              <a:path w="4241800" h="1778000">
                <a:moveTo>
                  <a:pt x="3945508" y="0"/>
                </a:moveTo>
                <a:lnTo>
                  <a:pt x="296290" y="0"/>
                </a:lnTo>
                <a:lnTo>
                  <a:pt x="248245" y="3879"/>
                </a:lnTo>
                <a:lnTo>
                  <a:pt x="202663" y="15111"/>
                </a:lnTo>
                <a:lnTo>
                  <a:pt x="160155" y="33086"/>
                </a:lnTo>
                <a:lnTo>
                  <a:pt x="121331" y="57192"/>
                </a:lnTo>
                <a:lnTo>
                  <a:pt x="86804" y="86820"/>
                </a:lnTo>
                <a:lnTo>
                  <a:pt x="57184" y="121359"/>
                </a:lnTo>
                <a:lnTo>
                  <a:pt x="33082" y="160198"/>
                </a:lnTo>
                <a:lnTo>
                  <a:pt x="15110" y="202728"/>
                </a:lnTo>
                <a:lnTo>
                  <a:pt x="3879" y="248338"/>
                </a:lnTo>
                <a:lnTo>
                  <a:pt x="0" y="296417"/>
                </a:lnTo>
                <a:lnTo>
                  <a:pt x="0" y="1481708"/>
                </a:lnTo>
                <a:lnTo>
                  <a:pt x="3879" y="1529784"/>
                </a:lnTo>
                <a:lnTo>
                  <a:pt x="15110" y="1575385"/>
                </a:lnTo>
                <a:lnTo>
                  <a:pt x="33082" y="1617900"/>
                </a:lnTo>
                <a:lnTo>
                  <a:pt x="57184" y="1656723"/>
                </a:lnTo>
                <a:lnTo>
                  <a:pt x="86804" y="1691243"/>
                </a:lnTo>
                <a:lnTo>
                  <a:pt x="121331" y="1720852"/>
                </a:lnTo>
                <a:lnTo>
                  <a:pt x="160155" y="1744941"/>
                </a:lnTo>
                <a:lnTo>
                  <a:pt x="202663" y="1762901"/>
                </a:lnTo>
                <a:lnTo>
                  <a:pt x="248245" y="1774123"/>
                </a:lnTo>
                <a:lnTo>
                  <a:pt x="296290" y="1777999"/>
                </a:lnTo>
                <a:lnTo>
                  <a:pt x="3945508" y="1777999"/>
                </a:lnTo>
                <a:lnTo>
                  <a:pt x="3993554" y="1774123"/>
                </a:lnTo>
                <a:lnTo>
                  <a:pt x="4039136" y="1762901"/>
                </a:lnTo>
                <a:lnTo>
                  <a:pt x="4081644" y="1744941"/>
                </a:lnTo>
                <a:lnTo>
                  <a:pt x="4120468" y="1720852"/>
                </a:lnTo>
                <a:lnTo>
                  <a:pt x="4154995" y="1691243"/>
                </a:lnTo>
                <a:lnTo>
                  <a:pt x="4184615" y="1656723"/>
                </a:lnTo>
                <a:lnTo>
                  <a:pt x="4208717" y="1617900"/>
                </a:lnTo>
                <a:lnTo>
                  <a:pt x="4226689" y="1575385"/>
                </a:lnTo>
                <a:lnTo>
                  <a:pt x="4237920" y="1529784"/>
                </a:lnTo>
                <a:lnTo>
                  <a:pt x="4241800" y="1481708"/>
                </a:lnTo>
                <a:lnTo>
                  <a:pt x="4241800" y="296417"/>
                </a:lnTo>
                <a:lnTo>
                  <a:pt x="4237920" y="248338"/>
                </a:lnTo>
                <a:lnTo>
                  <a:pt x="4226689" y="202728"/>
                </a:lnTo>
                <a:lnTo>
                  <a:pt x="4208717" y="160198"/>
                </a:lnTo>
                <a:lnTo>
                  <a:pt x="4184615" y="121359"/>
                </a:lnTo>
                <a:lnTo>
                  <a:pt x="4154995" y="86820"/>
                </a:lnTo>
                <a:lnTo>
                  <a:pt x="4120468" y="57192"/>
                </a:lnTo>
                <a:lnTo>
                  <a:pt x="4081644" y="33086"/>
                </a:lnTo>
                <a:lnTo>
                  <a:pt x="4039136" y="15111"/>
                </a:lnTo>
                <a:lnTo>
                  <a:pt x="3993554" y="3879"/>
                </a:lnTo>
                <a:lnTo>
                  <a:pt x="3945508" y="0"/>
                </a:lnTo>
                <a:close/>
              </a:path>
            </a:pathLst>
          </a:custGeom>
          <a:solidFill>
            <a:srgbClr val="9ECFB3">
              <a:alpha val="2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69849"/>
              </p:ext>
            </p:extLst>
          </p:nvPr>
        </p:nvGraphicFramePr>
        <p:xfrm>
          <a:off x="792480" y="3574613"/>
          <a:ext cx="4472304" cy="2102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998219">
                        <a:lnSpc>
                          <a:spcPts val="2060"/>
                        </a:lnSpc>
                      </a:pPr>
                      <a:r>
                        <a:rPr sz="1800" spc="70" dirty="0">
                          <a:latin typeface="Rockwell" panose="02060603020205020403" pitchFamily="18" charset="0"/>
                          <a:cs typeface="Cambria"/>
                        </a:rPr>
                        <a:t>SOFTWARE</a:t>
                      </a:r>
                      <a:r>
                        <a:rPr sz="1800" spc="6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Rockwell" panose="02060603020205020403" pitchFamily="18" charset="0"/>
                          <a:cs typeface="Cambria"/>
                        </a:rPr>
                        <a:t>UTILIZADO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Rockwell" panose="02060603020205020403" pitchFamily="18" charset="0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70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Ubuntu</a:t>
                      </a:r>
                      <a:r>
                        <a:rPr sz="1600" spc="12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Rockwell" panose="02060603020205020403" pitchFamily="18" charset="0"/>
                          <a:cs typeface="Cambria"/>
                        </a:rPr>
                        <a:t>Server</a:t>
                      </a:r>
                      <a:r>
                        <a:rPr sz="1600" spc="10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22.01</a:t>
                      </a:r>
                      <a:r>
                        <a:rPr sz="1600" spc="12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Rockwell" panose="02060603020205020403" pitchFamily="18" charset="0"/>
                          <a:cs typeface="Cambria"/>
                        </a:rPr>
                        <a:t>LTS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70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70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spc="75" dirty="0">
                          <a:latin typeface="Rockwell" panose="02060603020205020403" pitchFamily="18" charset="0"/>
                          <a:cs typeface="Cambria"/>
                        </a:rPr>
                        <a:t>Moodle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4.3</a:t>
                      </a:r>
                      <a:r>
                        <a:rPr sz="1600" spc="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95" dirty="0">
                          <a:latin typeface="Rockwell" panose="02060603020205020403" pitchFamily="18" charset="0"/>
                          <a:cs typeface="Cambria"/>
                        </a:rPr>
                        <a:t>(GNU</a:t>
                      </a:r>
                      <a:r>
                        <a:rPr sz="16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90" dirty="0">
                          <a:latin typeface="Rockwell" panose="02060603020205020403" pitchFamily="18" charset="0"/>
                          <a:cs typeface="Cambria"/>
                        </a:rPr>
                        <a:t>GPL</a:t>
                      </a:r>
                      <a:r>
                        <a:rPr sz="1600" spc="8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Rockwell" panose="02060603020205020403" pitchFamily="18" charset="0"/>
                          <a:cs typeface="Cambria"/>
                        </a:rPr>
                        <a:t>v3)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70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70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spc="80" dirty="0">
                          <a:latin typeface="Rockwell" panose="02060603020205020403" pitchFamily="18" charset="0"/>
                          <a:cs typeface="Cambria"/>
                        </a:rPr>
                        <a:t>Docker</a:t>
                      </a:r>
                      <a:r>
                        <a:rPr sz="1600" spc="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165" dirty="0">
                          <a:latin typeface="Rockwell" panose="02060603020205020403" pitchFamily="18" charset="0"/>
                          <a:cs typeface="Cambria"/>
                        </a:rPr>
                        <a:t>+</a:t>
                      </a:r>
                      <a:r>
                        <a:rPr sz="1600" spc="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Rockwell" panose="02060603020205020403" pitchFamily="18" charset="0"/>
                          <a:cs typeface="Cambria"/>
                        </a:rPr>
                        <a:t>Docker</a:t>
                      </a:r>
                      <a:r>
                        <a:rPr sz="1600" spc="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95" dirty="0">
                          <a:latin typeface="Rockwell" panose="02060603020205020403" pitchFamily="18" charset="0"/>
                          <a:cs typeface="Cambria"/>
                        </a:rPr>
                        <a:t>Compose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70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80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MariaDB</a:t>
                      </a:r>
                      <a:r>
                        <a:rPr sz="1600" spc="30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-20" dirty="0">
                          <a:latin typeface="Rockwell" panose="02060603020205020403" pitchFamily="18" charset="0"/>
                          <a:cs typeface="Cambria"/>
                        </a:rPr>
                        <a:t>10.6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80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70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spc="90" dirty="0">
                          <a:latin typeface="Rockwell" panose="02060603020205020403" pitchFamily="18" charset="0"/>
                          <a:cs typeface="Cambria"/>
                        </a:rPr>
                        <a:t>Apache</a:t>
                      </a:r>
                      <a:r>
                        <a:rPr sz="16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2.4</a:t>
                      </a:r>
                      <a:r>
                        <a:rPr sz="1600" spc="9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165" dirty="0">
                          <a:latin typeface="Rockwell" panose="02060603020205020403" pitchFamily="18" charset="0"/>
                          <a:cs typeface="Cambria"/>
                        </a:rPr>
                        <a:t>+</a:t>
                      </a:r>
                      <a:r>
                        <a:rPr sz="1600" spc="8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PHP</a:t>
                      </a:r>
                      <a:r>
                        <a:rPr sz="1600" spc="7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Rockwell" panose="02060603020205020403" pitchFamily="18" charset="0"/>
                          <a:cs typeface="Cambria"/>
                        </a:rPr>
                        <a:t>8.2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70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L="525145" indent="-227965">
                        <a:lnSpc>
                          <a:spcPts val="1814"/>
                        </a:lnSpc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525145" algn="l"/>
                        </a:tabLst>
                      </a:pPr>
                      <a:r>
                        <a:rPr sz="1600" spc="75" dirty="0">
                          <a:latin typeface="Rockwell" panose="02060603020205020403" pitchFamily="18" charset="0"/>
                          <a:cs typeface="Cambria"/>
                        </a:rPr>
                        <a:t>OpenSSL</a:t>
                      </a:r>
                      <a:r>
                        <a:rPr sz="1600" spc="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165" dirty="0">
                          <a:latin typeface="Rockwell" panose="02060603020205020403" pitchFamily="18" charset="0"/>
                          <a:cs typeface="Cambria"/>
                        </a:rPr>
                        <a:t>+</a:t>
                      </a:r>
                      <a:r>
                        <a:rPr sz="16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Rockwell" panose="02060603020205020403" pitchFamily="18" charset="0"/>
                          <a:cs typeface="Cambria"/>
                        </a:rPr>
                        <a:t>UFW</a:t>
                      </a:r>
                      <a:r>
                        <a:rPr sz="1600" spc="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165" dirty="0">
                          <a:latin typeface="Rockwell" panose="02060603020205020403" pitchFamily="18" charset="0"/>
                          <a:cs typeface="Cambria"/>
                        </a:rPr>
                        <a:t>+</a:t>
                      </a:r>
                      <a:r>
                        <a:rPr sz="1600" spc="55" dirty="0">
                          <a:latin typeface="Rockwell" panose="02060603020205020403" pitchFamily="18" charset="0"/>
                          <a:cs typeface="Cambria"/>
                        </a:rPr>
                        <a:t> Git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1814"/>
                        </a:lnSpc>
                      </a:pPr>
                      <a:r>
                        <a:rPr sz="1600" spc="-25" dirty="0">
                          <a:solidFill>
                            <a:srgbClr val="00AF5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6FD4D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19082"/>
              </p:ext>
            </p:extLst>
          </p:nvPr>
        </p:nvGraphicFramePr>
        <p:xfrm>
          <a:off x="5499100" y="3788979"/>
          <a:ext cx="4686301" cy="171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10"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ts val="2035"/>
                        </a:lnSpc>
                      </a:pPr>
                      <a:r>
                        <a:rPr sz="1800" spc="130" dirty="0">
                          <a:latin typeface="Rockwell" panose="02060603020205020403" pitchFamily="18" charset="0"/>
                          <a:cs typeface="Cambria"/>
                        </a:rPr>
                        <a:t>OPCIONES</a:t>
                      </a:r>
                      <a:r>
                        <a:rPr sz="18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800" spc="100" dirty="0"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800" spc="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800" spc="125" dirty="0">
                          <a:latin typeface="Rockwell" panose="02060603020205020403" pitchFamily="18" charset="0"/>
                          <a:cs typeface="Cambria"/>
                        </a:rPr>
                        <a:t>PRODUCCIÓN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🏆</a:t>
                      </a:r>
                      <a:r>
                        <a:rPr sz="1600" spc="165" dirty="0" err="1">
                          <a:latin typeface="Rockwell" panose="02060603020205020403" pitchFamily="18" charset="0"/>
                          <a:cs typeface="Cambria"/>
                        </a:rPr>
                        <a:t>Servi</a:t>
                      </a:r>
                      <a:r>
                        <a:rPr sz="1600" spc="170" dirty="0" err="1">
                          <a:latin typeface="Rockwell" panose="02060603020205020403" pitchFamily="18" charset="0"/>
                          <a:cs typeface="Cambria"/>
                        </a:rPr>
                        <a:t>d</a:t>
                      </a:r>
                      <a:r>
                        <a:rPr sz="1600" spc="165" dirty="0" err="1">
                          <a:latin typeface="Rockwell" panose="02060603020205020403" pitchFamily="18" charset="0"/>
                          <a:cs typeface="Cambria"/>
                        </a:rPr>
                        <a:t>or</a:t>
                      </a:r>
                      <a:r>
                        <a:rPr sz="1600" spc="14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Educastur</a:t>
                      </a:r>
                      <a:r>
                        <a:rPr sz="1600" spc="145" dirty="0">
                          <a:latin typeface="Rockwell" panose="02060603020205020403" pitchFamily="18" charset="0"/>
                          <a:cs typeface="Cambria"/>
                        </a:rPr>
                        <a:t>  </a:t>
                      </a:r>
                      <a:r>
                        <a:rPr sz="1600" spc="-20" dirty="0">
                          <a:latin typeface="Rockwell" panose="02060603020205020403" pitchFamily="18" charset="0"/>
                          <a:cs typeface="Cambria"/>
                        </a:rPr>
                        <a:t>IDEAL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905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ts val="1855"/>
                        </a:lnSpc>
                      </a:pPr>
                      <a:r>
                        <a:rPr sz="1600" spc="-1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0€/mes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💡</a:t>
                      </a:r>
                      <a:r>
                        <a:rPr sz="1600" spc="155" dirty="0">
                          <a:latin typeface="Rockwell" panose="02060603020205020403" pitchFamily="18" charset="0"/>
                          <a:cs typeface="Cambria"/>
                        </a:rPr>
                        <a:t>He</a:t>
                      </a:r>
                      <a:r>
                        <a:rPr sz="1600" spc="145" dirty="0">
                          <a:latin typeface="Rockwell" panose="02060603020205020403" pitchFamily="18" charset="0"/>
                          <a:cs typeface="Cambria"/>
                        </a:rPr>
                        <a:t>t</a:t>
                      </a:r>
                      <a:r>
                        <a:rPr sz="1600" spc="155" dirty="0">
                          <a:latin typeface="Rockwell" panose="02060603020205020403" pitchFamily="18" charset="0"/>
                          <a:cs typeface="Cambria"/>
                        </a:rPr>
                        <a:t>z</a:t>
                      </a:r>
                      <a:r>
                        <a:rPr sz="1600" spc="160" dirty="0">
                          <a:latin typeface="Rockwell" panose="02060603020205020403" pitchFamily="18" charset="0"/>
                          <a:cs typeface="Cambria"/>
                        </a:rPr>
                        <a:t>n</a:t>
                      </a:r>
                      <a:r>
                        <a:rPr sz="1600" spc="155" dirty="0">
                          <a:latin typeface="Rockwell" panose="02060603020205020403" pitchFamily="18" charset="0"/>
                          <a:cs typeface="Cambria"/>
                        </a:rPr>
                        <a:t>er</a:t>
                      </a:r>
                      <a:r>
                        <a:rPr sz="1600" spc="2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100" dirty="0">
                          <a:latin typeface="Rockwell" panose="02060603020205020403" pitchFamily="18" charset="0"/>
                          <a:cs typeface="Cambria"/>
                        </a:rPr>
                        <a:t>Cloud</a:t>
                      </a:r>
                      <a:r>
                        <a:rPr sz="1600" spc="3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Rockwell" panose="02060603020205020403" pitchFamily="18" charset="0"/>
                          <a:cs typeface="Cambria"/>
                        </a:rPr>
                        <a:t>CX32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905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1870"/>
                        </a:lnSpc>
                      </a:pPr>
                      <a:r>
                        <a:rPr sz="1600" spc="-1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~8€/mes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440" dirty="0">
                          <a:solidFill>
                            <a:srgbClr val="B4ACBB"/>
                          </a:solidFill>
                          <a:latin typeface="Rockwell" panose="02060603020205020403" pitchFamily="18" charset="0"/>
                          <a:cs typeface="Segoe UI Emoji"/>
                        </a:rPr>
                        <a:t> </a:t>
                      </a: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☁️</a:t>
                      </a:r>
                      <a:r>
                        <a:rPr sz="1600" spc="155" dirty="0" err="1">
                          <a:latin typeface="Rockwell" panose="02060603020205020403" pitchFamily="18" charset="0"/>
                          <a:cs typeface="Cambria"/>
                        </a:rPr>
                        <a:t>DigitalOcean</a:t>
                      </a:r>
                      <a:r>
                        <a:rPr sz="1600" spc="5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Rockwell" panose="02060603020205020403" pitchFamily="18" charset="0"/>
                          <a:cs typeface="Cambria"/>
                        </a:rPr>
                        <a:t>Droplet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905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855"/>
                        </a:lnSpc>
                      </a:pPr>
                      <a:r>
                        <a:rPr sz="1600" spc="-1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~24€/mes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🖥️</a:t>
                      </a:r>
                      <a:r>
                        <a:rPr sz="1600" spc="155" dirty="0">
                          <a:latin typeface="Rockwell" panose="02060603020205020403" pitchFamily="18" charset="0"/>
                          <a:cs typeface="Cambria"/>
                        </a:rPr>
                        <a:t>Servid</a:t>
                      </a:r>
                      <a:r>
                        <a:rPr sz="1600" spc="160" dirty="0">
                          <a:latin typeface="Rockwell" panose="02060603020205020403" pitchFamily="18" charset="0"/>
                          <a:cs typeface="Cambria"/>
                        </a:rPr>
                        <a:t>or </a:t>
                      </a:r>
                      <a:r>
                        <a:rPr sz="1600" spc="85" dirty="0">
                          <a:latin typeface="Rockwell" panose="02060603020205020403" pitchFamily="18" charset="0"/>
                          <a:cs typeface="Cambria"/>
                        </a:rPr>
                        <a:t>dedicado</a:t>
                      </a:r>
                      <a:r>
                        <a:rPr sz="1600" spc="17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Rockwell" panose="02060603020205020403" pitchFamily="18" charset="0"/>
                          <a:cs typeface="Cambria"/>
                        </a:rPr>
                        <a:t>propio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905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ts val="1870"/>
                        </a:lnSpc>
                      </a:pPr>
                      <a:r>
                        <a:rPr sz="160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1</a:t>
                      </a:r>
                      <a:r>
                        <a:rPr sz="1600" spc="15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8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pago</a:t>
                      </a:r>
                      <a:endParaRPr sz="160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9DCFB1"/>
                      </a:solidFill>
                      <a:prstDash val="solid"/>
                    </a:lnT>
                    <a:lnB w="6350">
                      <a:solidFill>
                        <a:srgbClr val="9DCFB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  <a:spcBef>
                          <a:spcPts val="150"/>
                        </a:spcBef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☁️</a:t>
                      </a:r>
                      <a:r>
                        <a:rPr sz="1600" spc="340" dirty="0">
                          <a:latin typeface="Rockwell" panose="02060603020205020403" pitchFamily="18" charset="0"/>
                          <a:cs typeface="Cambria"/>
                        </a:rPr>
                        <a:t>AWS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 /</a:t>
                      </a:r>
                      <a:r>
                        <a:rPr sz="1600" spc="-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200" dirty="0">
                          <a:latin typeface="Rockwell" panose="02060603020205020403" pitchFamily="18" charset="0"/>
                          <a:cs typeface="Cambria"/>
                        </a:rPr>
                        <a:t>GCP</a:t>
                      </a:r>
                      <a:r>
                        <a:rPr sz="1600" spc="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Rockwell" panose="02060603020205020403" pitchFamily="18" charset="0"/>
                          <a:cs typeface="Cambria"/>
                        </a:rPr>
                        <a:t>/</a:t>
                      </a:r>
                      <a:r>
                        <a:rPr sz="1600" spc="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600" spc="-20" dirty="0">
                          <a:latin typeface="Rockwell" panose="02060603020205020403" pitchFamily="18" charset="0"/>
                          <a:cs typeface="Cambria"/>
                        </a:rPr>
                        <a:t>Azure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19050" marB="0">
                    <a:lnT w="6350">
                      <a:solidFill>
                        <a:srgbClr val="9DCFB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870"/>
                        </a:lnSpc>
                      </a:pPr>
                      <a:r>
                        <a:rPr sz="1600" spc="-2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30-</a:t>
                      </a:r>
                      <a:r>
                        <a:rPr sz="1600" spc="-10" dirty="0">
                          <a:solidFill>
                            <a:srgbClr val="6CACD0"/>
                          </a:solidFill>
                          <a:latin typeface="Rockwell" panose="02060603020205020403" pitchFamily="18" charset="0"/>
                          <a:cs typeface="Cambria"/>
                        </a:rPr>
                        <a:t>50€/mes</a:t>
                      </a:r>
                      <a:endParaRPr sz="16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9DCFB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7937500" y="4086225"/>
            <a:ext cx="733645" cy="304800"/>
            <a:chOff x="8011794" y="4157853"/>
            <a:chExt cx="609600" cy="203200"/>
          </a:xfrm>
        </p:grpSpPr>
        <p:sp>
          <p:nvSpPr>
            <p:cNvPr id="22" name="object 22"/>
            <p:cNvSpPr/>
            <p:nvPr/>
          </p:nvSpPr>
          <p:spPr>
            <a:xfrm>
              <a:off x="8018144" y="4164203"/>
              <a:ext cx="596900" cy="190500"/>
            </a:xfrm>
            <a:custGeom>
              <a:avLst/>
              <a:gdLst/>
              <a:ahLst/>
              <a:cxnLst/>
              <a:rect l="l" t="t" r="r" b="b"/>
              <a:pathLst>
                <a:path w="596900" h="190500">
                  <a:moveTo>
                    <a:pt x="565150" y="0"/>
                  </a:moveTo>
                  <a:lnTo>
                    <a:pt x="31750" y="0"/>
                  </a:lnTo>
                  <a:lnTo>
                    <a:pt x="19395" y="2496"/>
                  </a:lnTo>
                  <a:lnTo>
                    <a:pt x="9302" y="9302"/>
                  </a:lnTo>
                  <a:lnTo>
                    <a:pt x="2496" y="19395"/>
                  </a:lnTo>
                  <a:lnTo>
                    <a:pt x="0" y="31750"/>
                  </a:lnTo>
                  <a:lnTo>
                    <a:pt x="0" y="158750"/>
                  </a:lnTo>
                  <a:lnTo>
                    <a:pt x="2496" y="171104"/>
                  </a:lnTo>
                  <a:lnTo>
                    <a:pt x="9302" y="181197"/>
                  </a:lnTo>
                  <a:lnTo>
                    <a:pt x="19395" y="188003"/>
                  </a:lnTo>
                  <a:lnTo>
                    <a:pt x="31750" y="190500"/>
                  </a:lnTo>
                  <a:lnTo>
                    <a:pt x="565150" y="190500"/>
                  </a:lnTo>
                  <a:lnTo>
                    <a:pt x="577504" y="188003"/>
                  </a:lnTo>
                  <a:lnTo>
                    <a:pt x="587597" y="181197"/>
                  </a:lnTo>
                  <a:lnTo>
                    <a:pt x="594403" y="171104"/>
                  </a:lnTo>
                  <a:lnTo>
                    <a:pt x="596900" y="158750"/>
                  </a:lnTo>
                  <a:lnTo>
                    <a:pt x="596900" y="31750"/>
                  </a:lnTo>
                  <a:lnTo>
                    <a:pt x="594403" y="19395"/>
                  </a:lnTo>
                  <a:lnTo>
                    <a:pt x="587597" y="9302"/>
                  </a:lnTo>
                  <a:lnTo>
                    <a:pt x="577504" y="2496"/>
                  </a:lnTo>
                  <a:lnTo>
                    <a:pt x="565150" y="0"/>
                  </a:lnTo>
                  <a:close/>
                </a:path>
              </a:pathLst>
            </a:custGeom>
            <a:solidFill>
              <a:srgbClr val="82B32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18144" y="4164203"/>
              <a:ext cx="596900" cy="190500"/>
            </a:xfrm>
            <a:custGeom>
              <a:avLst/>
              <a:gdLst/>
              <a:ahLst/>
              <a:cxnLst/>
              <a:rect l="l" t="t" r="r" b="b"/>
              <a:pathLst>
                <a:path w="596900" h="190500">
                  <a:moveTo>
                    <a:pt x="0" y="31750"/>
                  </a:moveTo>
                  <a:lnTo>
                    <a:pt x="2496" y="19395"/>
                  </a:lnTo>
                  <a:lnTo>
                    <a:pt x="9302" y="9302"/>
                  </a:lnTo>
                  <a:lnTo>
                    <a:pt x="19395" y="2496"/>
                  </a:lnTo>
                  <a:lnTo>
                    <a:pt x="31750" y="0"/>
                  </a:lnTo>
                  <a:lnTo>
                    <a:pt x="565150" y="0"/>
                  </a:lnTo>
                  <a:lnTo>
                    <a:pt x="577504" y="2496"/>
                  </a:lnTo>
                  <a:lnTo>
                    <a:pt x="587597" y="9302"/>
                  </a:lnTo>
                  <a:lnTo>
                    <a:pt x="594403" y="19395"/>
                  </a:lnTo>
                  <a:lnTo>
                    <a:pt x="596900" y="31750"/>
                  </a:lnTo>
                  <a:lnTo>
                    <a:pt x="596900" y="158750"/>
                  </a:lnTo>
                  <a:lnTo>
                    <a:pt x="594403" y="171104"/>
                  </a:lnTo>
                  <a:lnTo>
                    <a:pt x="587597" y="181197"/>
                  </a:lnTo>
                  <a:lnTo>
                    <a:pt x="577504" y="188003"/>
                  </a:lnTo>
                  <a:lnTo>
                    <a:pt x="565150" y="190500"/>
                  </a:lnTo>
                  <a:lnTo>
                    <a:pt x="31750" y="190500"/>
                  </a:lnTo>
                  <a:lnTo>
                    <a:pt x="19395" y="188003"/>
                  </a:lnTo>
                  <a:lnTo>
                    <a:pt x="9302" y="181197"/>
                  </a:lnTo>
                  <a:lnTo>
                    <a:pt x="2496" y="171104"/>
                  </a:lnTo>
                  <a:lnTo>
                    <a:pt x="0" y="158750"/>
                  </a:lnTo>
                  <a:lnTo>
                    <a:pt x="0" y="31750"/>
                  </a:lnTo>
                  <a:close/>
                </a:path>
              </a:pathLst>
            </a:custGeom>
            <a:ln w="12700">
              <a:solidFill>
                <a:srgbClr val="6185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11732" y="1958933"/>
            <a:ext cx="2125168" cy="9502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spc="-25" dirty="0">
                <a:solidFill>
                  <a:srgbClr val="405816"/>
                </a:solidFill>
                <a:latin typeface="Rockwell" panose="02060603020205020403" pitchFamily="18" charset="0"/>
                <a:cs typeface="Cambria"/>
              </a:rPr>
              <a:t>0€</a:t>
            </a:r>
            <a:endParaRPr sz="20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400" spc="110" dirty="0">
                <a:latin typeface="Rockwell" panose="02060603020205020403" pitchFamily="18" charset="0"/>
                <a:cs typeface="Cambria"/>
              </a:rPr>
              <a:t>COSTE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75" dirty="0">
                <a:latin typeface="Rockwell" panose="02060603020205020403" pitchFamily="18" charset="0"/>
                <a:cs typeface="Cambria"/>
              </a:rPr>
              <a:t>DE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50" dirty="0">
                <a:latin typeface="Rockwell" panose="02060603020205020403" pitchFamily="18" charset="0"/>
                <a:cs typeface="Cambria"/>
              </a:rPr>
              <a:t>SOFTWARE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Todo</a:t>
            </a:r>
            <a:r>
              <a:rPr sz="1200" spc="11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65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es</a:t>
            </a:r>
            <a:r>
              <a:rPr sz="1200" spc="12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stack</a:t>
            </a:r>
            <a:r>
              <a:rPr sz="1200" spc="114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65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es</a:t>
            </a:r>
            <a:r>
              <a:rPr sz="1200" spc="12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3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libre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9415" y="1958933"/>
            <a:ext cx="2381250" cy="9502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spc="-10" dirty="0">
                <a:solidFill>
                  <a:srgbClr val="1F7980"/>
                </a:solidFill>
                <a:latin typeface="Rockwell" panose="02060603020205020403" pitchFamily="18" charset="0"/>
                <a:cs typeface="Cambria"/>
              </a:rPr>
              <a:t>~106€</a:t>
            </a:r>
            <a:endParaRPr sz="20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400" spc="20" dirty="0">
                <a:latin typeface="Rockwell" panose="02060603020205020403" pitchFamily="18" charset="0"/>
                <a:cs typeface="Cambria"/>
              </a:rPr>
              <a:t>INFRAESTRUCTURA</a:t>
            </a:r>
            <a:r>
              <a:rPr sz="1400" spc="9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20" dirty="0">
                <a:latin typeface="Rockwell" panose="02060603020205020403" pitchFamily="18" charset="0"/>
                <a:cs typeface="Cambria"/>
              </a:rPr>
              <a:t>/</a:t>
            </a:r>
            <a:r>
              <a:rPr sz="1400" spc="90" dirty="0">
                <a:latin typeface="Rockwell" panose="02060603020205020403" pitchFamily="18" charset="0"/>
                <a:cs typeface="Cambria"/>
              </a:rPr>
              <a:t> AÑO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Hetzner</a:t>
            </a:r>
            <a:r>
              <a:rPr sz="1200" spc="114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75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Cloud</a:t>
            </a:r>
            <a:r>
              <a:rPr sz="1200" spc="12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55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CX32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94497" y="1955234"/>
            <a:ext cx="2075180" cy="95218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000" spc="-10" dirty="0">
                <a:solidFill>
                  <a:srgbClr val="A45F00"/>
                </a:solidFill>
                <a:latin typeface="Rockwell" panose="02060603020205020403" pitchFamily="18" charset="0"/>
                <a:cs typeface="Cambria"/>
              </a:rPr>
              <a:t>3.000€</a:t>
            </a:r>
            <a:endParaRPr sz="20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400" spc="75" dirty="0">
                <a:latin typeface="Rockwell" panose="02060603020205020403" pitchFamily="18" charset="0"/>
                <a:cs typeface="Cambria"/>
              </a:rPr>
              <a:t>VALOR</a:t>
            </a:r>
            <a:r>
              <a:rPr sz="1400" spc="4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60" dirty="0">
                <a:latin typeface="Rockwell" panose="02060603020205020403" pitchFamily="18" charset="0"/>
                <a:cs typeface="Cambria"/>
              </a:rPr>
              <a:t>EN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100" dirty="0">
                <a:latin typeface="Rockwell" panose="02060603020205020403" pitchFamily="18" charset="0"/>
                <a:cs typeface="Cambria"/>
              </a:rPr>
              <a:t>MERCADO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Estimación</a:t>
            </a:r>
            <a:r>
              <a:rPr sz="1200" spc="310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 </a:t>
            </a:r>
            <a:r>
              <a:rPr sz="1200" spc="35" dirty="0">
                <a:solidFill>
                  <a:srgbClr val="21526B"/>
                </a:solidFill>
                <a:latin typeface="Rockwell" panose="02060603020205020403" pitchFamily="18" charset="0"/>
                <a:cs typeface="Cambria"/>
              </a:rPr>
              <a:t>aproximada</a:t>
            </a:r>
            <a:endParaRPr sz="1200" dirty="0">
              <a:latin typeface="Rockwell" panose="02060603020205020403" pitchFamily="18" charset="0"/>
              <a:cs typeface="Cambri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Vista general de diapositiva 27">
                <a:extLst>
                  <a:ext uri="{FF2B5EF4-FFF2-40B4-BE49-F238E27FC236}">
                    <a16:creationId xmlns:a16="http://schemas.microsoft.com/office/drawing/2014/main" id="{1C91A6BB-D874-1CCB-DD4C-87E31933D7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14597155"/>
                  </p:ext>
                </p:extLst>
              </p:nvPr>
            </p:nvGraphicFramePr>
            <p:xfrm>
              <a:off x="5651500" y="5002935"/>
              <a:ext cx="152400" cy="107784"/>
            </p:xfrm>
            <a:graphic>
              <a:graphicData uri="http://schemas.microsoft.com/office/powerpoint/2016/slidezoom">
                <pslz:sldZm>
                  <pslz:sldZmObj sldId="269" cId="0">
                    <pslz:zmPr id="{4B0CB94C-DCBB-43BB-B489-2AD7B833C566}" returnToParent="0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400" cy="10778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Vista general de diapositiva 2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C91A6BB-D874-1CCB-DD4C-87E31933D7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1500" y="5002935"/>
                <a:ext cx="152400" cy="10778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9650" y="3048127"/>
            <a:ext cx="9056370" cy="2480310"/>
          </a:xfrm>
          <a:custGeom>
            <a:avLst/>
            <a:gdLst/>
            <a:ahLst/>
            <a:cxnLst/>
            <a:rect l="l" t="t" r="r" b="b"/>
            <a:pathLst>
              <a:path w="9056370" h="2480310">
                <a:moveTo>
                  <a:pt x="8642985" y="0"/>
                </a:moveTo>
                <a:lnTo>
                  <a:pt x="413384" y="0"/>
                </a:lnTo>
                <a:lnTo>
                  <a:pt x="365175" y="2780"/>
                </a:lnTo>
                <a:lnTo>
                  <a:pt x="318599" y="10915"/>
                </a:lnTo>
                <a:lnTo>
                  <a:pt x="273966" y="24095"/>
                </a:lnTo>
                <a:lnTo>
                  <a:pt x="231588" y="42009"/>
                </a:lnTo>
                <a:lnTo>
                  <a:pt x="191773" y="64349"/>
                </a:lnTo>
                <a:lnTo>
                  <a:pt x="154833" y="90803"/>
                </a:lnTo>
                <a:lnTo>
                  <a:pt x="121077" y="121062"/>
                </a:lnTo>
                <a:lnTo>
                  <a:pt x="90815" y="154817"/>
                </a:lnTo>
                <a:lnTo>
                  <a:pt x="64358" y="191756"/>
                </a:lnTo>
                <a:lnTo>
                  <a:pt x="42016" y="231571"/>
                </a:lnTo>
                <a:lnTo>
                  <a:pt x="24099" y="273951"/>
                </a:lnTo>
                <a:lnTo>
                  <a:pt x="10917" y="318587"/>
                </a:lnTo>
                <a:lnTo>
                  <a:pt x="2781" y="365168"/>
                </a:lnTo>
                <a:lnTo>
                  <a:pt x="0" y="413385"/>
                </a:lnTo>
                <a:lnTo>
                  <a:pt x="0" y="2066925"/>
                </a:lnTo>
                <a:lnTo>
                  <a:pt x="2781" y="2115118"/>
                </a:lnTo>
                <a:lnTo>
                  <a:pt x="10917" y="2161682"/>
                </a:lnTo>
                <a:lnTo>
                  <a:pt x="24099" y="2206308"/>
                </a:lnTo>
                <a:lnTo>
                  <a:pt x="42016" y="2248683"/>
                </a:lnTo>
                <a:lnTo>
                  <a:pt x="64358" y="2288497"/>
                </a:lnTo>
                <a:lnTo>
                  <a:pt x="90815" y="2325439"/>
                </a:lnTo>
                <a:lnTo>
                  <a:pt x="121077" y="2359199"/>
                </a:lnTo>
                <a:lnTo>
                  <a:pt x="154833" y="2389466"/>
                </a:lnTo>
                <a:lnTo>
                  <a:pt x="191773" y="2415929"/>
                </a:lnTo>
                <a:lnTo>
                  <a:pt x="231588" y="2438277"/>
                </a:lnTo>
                <a:lnTo>
                  <a:pt x="273966" y="2456200"/>
                </a:lnTo>
                <a:lnTo>
                  <a:pt x="318599" y="2469387"/>
                </a:lnTo>
                <a:lnTo>
                  <a:pt x="365175" y="2477527"/>
                </a:lnTo>
                <a:lnTo>
                  <a:pt x="413384" y="2480310"/>
                </a:lnTo>
                <a:lnTo>
                  <a:pt x="8642985" y="2480310"/>
                </a:lnTo>
                <a:lnTo>
                  <a:pt x="8691201" y="2477527"/>
                </a:lnTo>
                <a:lnTo>
                  <a:pt x="8737782" y="2469387"/>
                </a:lnTo>
                <a:lnTo>
                  <a:pt x="8782418" y="2456200"/>
                </a:lnTo>
                <a:lnTo>
                  <a:pt x="8824798" y="2438277"/>
                </a:lnTo>
                <a:lnTo>
                  <a:pt x="8864613" y="2415929"/>
                </a:lnTo>
                <a:lnTo>
                  <a:pt x="8901552" y="2389466"/>
                </a:lnTo>
                <a:lnTo>
                  <a:pt x="8935307" y="2359199"/>
                </a:lnTo>
                <a:lnTo>
                  <a:pt x="8965566" y="2325439"/>
                </a:lnTo>
                <a:lnTo>
                  <a:pt x="8992020" y="2288497"/>
                </a:lnTo>
                <a:lnTo>
                  <a:pt x="9014360" y="2248683"/>
                </a:lnTo>
                <a:lnTo>
                  <a:pt x="9032274" y="2206308"/>
                </a:lnTo>
                <a:lnTo>
                  <a:pt x="9045454" y="2161682"/>
                </a:lnTo>
                <a:lnTo>
                  <a:pt x="9053589" y="2115118"/>
                </a:lnTo>
                <a:lnTo>
                  <a:pt x="9056370" y="2066925"/>
                </a:lnTo>
                <a:lnTo>
                  <a:pt x="9056370" y="413385"/>
                </a:lnTo>
                <a:lnTo>
                  <a:pt x="9053589" y="365168"/>
                </a:lnTo>
                <a:lnTo>
                  <a:pt x="9045454" y="318587"/>
                </a:lnTo>
                <a:lnTo>
                  <a:pt x="9032274" y="273951"/>
                </a:lnTo>
                <a:lnTo>
                  <a:pt x="9014360" y="231571"/>
                </a:lnTo>
                <a:lnTo>
                  <a:pt x="8992020" y="191756"/>
                </a:lnTo>
                <a:lnTo>
                  <a:pt x="8965566" y="154817"/>
                </a:lnTo>
                <a:lnTo>
                  <a:pt x="8935307" y="121062"/>
                </a:lnTo>
                <a:lnTo>
                  <a:pt x="8901552" y="90803"/>
                </a:lnTo>
                <a:lnTo>
                  <a:pt x="8864613" y="64349"/>
                </a:lnTo>
                <a:lnTo>
                  <a:pt x="8824798" y="42009"/>
                </a:lnTo>
                <a:lnTo>
                  <a:pt x="8782418" y="24095"/>
                </a:lnTo>
                <a:lnTo>
                  <a:pt x="8737782" y="10915"/>
                </a:lnTo>
                <a:lnTo>
                  <a:pt x="8691201" y="2780"/>
                </a:lnTo>
                <a:lnTo>
                  <a:pt x="8642985" y="0"/>
                </a:lnTo>
                <a:close/>
              </a:path>
            </a:pathLst>
          </a:custGeom>
          <a:solidFill>
            <a:srgbClr val="9FE2E8">
              <a:alpha val="2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pc="285" dirty="0"/>
              <a:t>BiViR@</a:t>
            </a:r>
            <a:r>
              <a:rPr spc="645" dirty="0"/>
              <a:t> </a:t>
            </a:r>
            <a:r>
              <a:rPr spc="254" dirty="0"/>
              <a:t>vs</a:t>
            </a:r>
            <a:r>
              <a:rPr spc="640" dirty="0"/>
              <a:t> </a:t>
            </a:r>
            <a:r>
              <a:rPr spc="305" dirty="0"/>
              <a:t>Alternativas</a:t>
            </a:r>
          </a:p>
        </p:txBody>
      </p:sp>
      <p:sp>
        <p:nvSpPr>
          <p:cNvPr id="4" name="object 4"/>
          <p:cNvSpPr/>
          <p:nvPr/>
        </p:nvSpPr>
        <p:spPr>
          <a:xfrm>
            <a:off x="539495" y="504444"/>
            <a:ext cx="9621520" cy="9525"/>
          </a:xfrm>
          <a:custGeom>
            <a:avLst/>
            <a:gdLst/>
            <a:ahLst/>
            <a:cxnLst/>
            <a:rect l="l" t="t" r="r" b="b"/>
            <a:pathLst>
              <a:path w="9621520" h="9525">
                <a:moveTo>
                  <a:pt x="9621012" y="0"/>
                </a:moveTo>
                <a:lnTo>
                  <a:pt x="0" y="0"/>
                </a:lnTo>
                <a:lnTo>
                  <a:pt x="0" y="9144"/>
                </a:lnTo>
                <a:lnTo>
                  <a:pt x="9621012" y="9144"/>
                </a:lnTo>
                <a:lnTo>
                  <a:pt x="9621012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39495" y="595544"/>
            <a:ext cx="9621520" cy="696595"/>
            <a:chOff x="539495" y="595544"/>
            <a:chExt cx="9621520" cy="696595"/>
          </a:xfrm>
        </p:grpSpPr>
        <p:sp>
          <p:nvSpPr>
            <p:cNvPr id="6" name="object 6"/>
            <p:cNvSpPr/>
            <p:nvPr/>
          </p:nvSpPr>
          <p:spPr>
            <a:xfrm>
              <a:off x="539495" y="1262126"/>
              <a:ext cx="9621520" cy="9525"/>
            </a:xfrm>
            <a:custGeom>
              <a:avLst/>
              <a:gdLst/>
              <a:ahLst/>
              <a:cxnLst/>
              <a:rect l="l" t="t" r="r" b="b"/>
              <a:pathLst>
                <a:path w="9621520" h="9525">
                  <a:moveTo>
                    <a:pt x="962101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21012" y="9144"/>
                  </a:lnTo>
                  <a:lnTo>
                    <a:pt x="9621012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804" y="607060"/>
              <a:ext cx="621030" cy="6845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8573" y="601980"/>
              <a:ext cx="590488" cy="563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9940" y="595544"/>
              <a:ext cx="803845" cy="551731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446932"/>
              </p:ext>
            </p:extLst>
          </p:nvPr>
        </p:nvGraphicFramePr>
        <p:xfrm>
          <a:off x="1094536" y="3045587"/>
          <a:ext cx="8909048" cy="2437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490220">
                        <a:lnSpc>
                          <a:spcPts val="2065"/>
                        </a:lnSpc>
                      </a:pPr>
                      <a:r>
                        <a:rPr sz="1800" spc="80" dirty="0">
                          <a:latin typeface="Rockwell" panose="02060603020205020403" pitchFamily="18" charset="0"/>
                          <a:cs typeface="Cambria"/>
                        </a:rPr>
                        <a:t>CARACTERÍSTICAS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B w="190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45" dirty="0">
                          <a:latin typeface="Rockwell" panose="02060603020205020403" pitchFamily="18" charset="0"/>
                          <a:cs typeface="Cambria"/>
                        </a:rPr>
                        <a:t>BiViR@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B w="19050">
                      <a:solidFill>
                        <a:srgbClr val="6FD4DC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50" dirty="0">
                          <a:latin typeface="Rockwell" panose="02060603020205020403" pitchFamily="18" charset="0"/>
                          <a:cs typeface="Cambria"/>
                        </a:rPr>
                        <a:t>Docsity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B w="190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40" dirty="0">
                          <a:latin typeface="Rockwell" panose="02060603020205020403" pitchFamily="18" charset="0"/>
                          <a:cs typeface="Cambria"/>
                        </a:rPr>
                        <a:t>Woulah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B w="190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-10" dirty="0">
                          <a:latin typeface="Rockwell" panose="02060603020205020403" pitchFamily="18" charset="0"/>
                          <a:cs typeface="Cambria"/>
                        </a:rPr>
                        <a:t>Stuvia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B w="19050">
                      <a:solidFill>
                        <a:srgbClr val="6FD4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90" dirty="0">
                          <a:latin typeface="Rockwell" panose="02060603020205020403" pitchFamily="18" charset="0"/>
                          <a:cs typeface="Cambria"/>
                        </a:rPr>
                        <a:t>Moodle</a:t>
                      </a:r>
                      <a:r>
                        <a:rPr sz="1800" spc="6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Rockwell" panose="02060603020205020403" pitchFamily="18" charset="0"/>
                          <a:cs typeface="Cambria"/>
                        </a:rPr>
                        <a:t>Educastur</a:t>
                      </a:r>
                      <a:endParaRPr sz="18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9FE2E7"/>
                      </a:solidFill>
                      <a:prstDash val="solid"/>
                    </a:lnL>
                    <a:lnB w="19050">
                      <a:solidFill>
                        <a:srgbClr val="6FD4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Rockwell" panose="02060603020205020403" pitchFamily="18" charset="0"/>
                          <a:cs typeface="Cambria"/>
                        </a:rPr>
                        <a:t>Gratuito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635" marB="0">
                    <a:lnR w="6350">
                      <a:solidFill>
                        <a:srgbClr val="9FE2E7"/>
                      </a:solidFill>
                      <a:prstDash val="solid"/>
                    </a:lnR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lang="es-ES" sz="1100" dirty="0">
                        <a:solidFill>
                          <a:srgbClr val="00B050"/>
                        </a:solidFill>
                        <a:latin typeface="Segoe UI Emoji"/>
                        <a:cs typeface="Segoe UI Emoj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lang="es-ES" sz="1100" spc="-10" dirty="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10" dirty="0">
                          <a:latin typeface="Rockwell" panose="02060603020205020403" pitchFamily="18" charset="0"/>
                          <a:cs typeface="Cambria"/>
                        </a:rPr>
                        <a:t>Freemium</a:t>
                      </a:r>
                      <a:endParaRPr sz="11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lang="es-ES" sz="1100" spc="-10" dirty="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10" dirty="0" err="1">
                          <a:latin typeface="Rockwell" panose="02060603020205020403" pitchFamily="18" charset="0"/>
                          <a:cs typeface="Cambria"/>
                        </a:rPr>
                        <a:t>Freemi</a:t>
                      </a:r>
                      <a:r>
                        <a:rPr lang="es-ES" sz="1100" spc="-10" dirty="0">
                          <a:latin typeface="Rockwell" panose="02060603020205020403" pitchFamily="18" charset="0"/>
                          <a:cs typeface="Cambria"/>
                        </a:rPr>
                        <a:t>u</a:t>
                      </a:r>
                      <a:r>
                        <a:rPr sz="1100" spc="-10" dirty="0">
                          <a:latin typeface="Rockwell" panose="02060603020205020403" pitchFamily="18" charset="0"/>
                          <a:cs typeface="Cambria"/>
                        </a:rPr>
                        <a:t>m</a:t>
                      </a:r>
                      <a:endParaRPr sz="11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2159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19050">
                      <a:solidFill>
                        <a:srgbClr val="6FD4DC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68580">
                        <a:lnSpc>
                          <a:spcPts val="1830"/>
                        </a:lnSpc>
                      </a:pPr>
                      <a:r>
                        <a:rPr sz="1400" spc="65" dirty="0">
                          <a:latin typeface="Rockwell" panose="02060603020205020403" pitchFamily="18" charset="0"/>
                          <a:cs typeface="Cambria"/>
                        </a:rPr>
                        <a:t>Adaptado</a:t>
                      </a: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 a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FP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latin typeface="Rockwell" panose="02060603020205020403" pitchFamily="18" charset="0"/>
                          <a:cs typeface="Cambria"/>
                        </a:rPr>
                        <a:t>Asturias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Subida </a:t>
                      </a: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por </a:t>
                      </a:r>
                      <a:r>
                        <a:rPr sz="1400" spc="-10" dirty="0">
                          <a:latin typeface="Rockwell" panose="02060603020205020403" pitchFamily="18" charset="0"/>
                          <a:cs typeface="Cambria"/>
                        </a:rPr>
                        <a:t>estudiantes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68580">
                        <a:lnSpc>
                          <a:spcPts val="1830"/>
                        </a:lnSpc>
                      </a:pP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Sin</a:t>
                      </a:r>
                      <a:r>
                        <a:rPr sz="14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5" dirty="0">
                          <a:latin typeface="Rockwell" panose="02060603020205020403" pitchFamily="18" charset="0"/>
                          <a:cs typeface="Cambria"/>
                        </a:rPr>
                        <a:t>modelo</a:t>
                      </a:r>
                      <a:r>
                        <a:rPr sz="1400" spc="8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7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45" dirty="0">
                          <a:latin typeface="Rockwell" panose="02060603020205020403" pitchFamily="18" charset="0"/>
                          <a:cs typeface="Cambria"/>
                        </a:rPr>
                        <a:t>compraventa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68580">
                        <a:lnSpc>
                          <a:spcPts val="1830"/>
                        </a:lnSpc>
                      </a:pPr>
                      <a:r>
                        <a:rPr sz="1400" spc="100" dirty="0">
                          <a:latin typeface="Rockwell" panose="02060603020205020403" pitchFamily="18" charset="0"/>
                          <a:cs typeface="Cambria"/>
                        </a:rPr>
                        <a:t>Acceso</a:t>
                      </a:r>
                      <a:r>
                        <a:rPr sz="1400" spc="2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transversal</a:t>
                      </a:r>
                      <a:r>
                        <a:rPr sz="1400" spc="24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Rockwell" panose="02060603020205020403" pitchFamily="18" charset="0"/>
                          <a:cs typeface="Cambria"/>
                        </a:rPr>
                        <a:t>entre</a:t>
                      </a:r>
                      <a:r>
                        <a:rPr sz="1400" spc="2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ciclos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68580">
                        <a:lnSpc>
                          <a:spcPts val="1830"/>
                        </a:lnSpc>
                      </a:pPr>
                      <a:r>
                        <a:rPr sz="1400" spc="55" dirty="0">
                          <a:latin typeface="Rockwell" panose="02060603020205020403" pitchFamily="18" charset="0"/>
                          <a:cs typeface="Cambria"/>
                        </a:rPr>
                        <a:t>Control</a:t>
                      </a:r>
                      <a:r>
                        <a:rPr sz="1400" spc="7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-10" dirty="0">
                          <a:latin typeface="Rockwell" panose="02060603020205020403" pitchFamily="18" charset="0"/>
                          <a:cs typeface="Cambria"/>
                        </a:rPr>
                        <a:t>institucional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Código</a:t>
                      </a:r>
                      <a:r>
                        <a:rPr sz="1400" spc="5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35" dirty="0">
                          <a:latin typeface="Rockwell" panose="02060603020205020403" pitchFamily="18" charset="0"/>
                          <a:cs typeface="Cambria"/>
                        </a:rPr>
                        <a:t>abierto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  <a:lnB w="6350">
                      <a:solidFill>
                        <a:srgbClr val="9FE2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68580">
                        <a:lnSpc>
                          <a:spcPts val="1810"/>
                        </a:lnSpc>
                      </a:pPr>
                      <a:r>
                        <a:rPr sz="1400" spc="20" dirty="0">
                          <a:latin typeface="Rockwell" panose="02060603020205020403" pitchFamily="18" charset="0"/>
                          <a:cs typeface="Cambria"/>
                        </a:rPr>
                        <a:t>Participación</a:t>
                      </a:r>
                      <a:r>
                        <a:rPr sz="1400" spc="180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125" dirty="0">
                          <a:latin typeface="Rockwell" panose="02060603020205020403" pitchFamily="18" charset="0"/>
                          <a:cs typeface="Cambria"/>
                        </a:rPr>
                        <a:t>de</a:t>
                      </a:r>
                      <a:r>
                        <a:rPr sz="1400" spc="195" dirty="0">
                          <a:latin typeface="Rockwell" panose="02060603020205020403" pitchFamily="18" charset="0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Rockwell" panose="02060603020205020403" pitchFamily="18" charset="0"/>
                          <a:cs typeface="Cambria"/>
                        </a:rPr>
                        <a:t>docentes</a:t>
                      </a:r>
                      <a:endParaRPr sz="1400" dirty="0">
                        <a:latin typeface="Rockwell" panose="02060603020205020403" pitchFamily="18" charset="0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  <a:solidFill>
                      <a:srgbClr val="CF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R w="6350">
                      <a:solidFill>
                        <a:srgbClr val="9FE2E7"/>
                      </a:solidFill>
                      <a:prstDash val="solid"/>
                    </a:lnR>
                    <a:lnT w="6350">
                      <a:solidFill>
                        <a:srgbClr val="9FE2E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Segoe UI Emoji"/>
                        <a:cs typeface="Segoe UI Emoj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9FE2E7"/>
                      </a:solidFill>
                      <a:prstDash val="solid"/>
                    </a:lnL>
                    <a:lnT w="6350">
                      <a:solidFill>
                        <a:srgbClr val="9FE2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143D5A20-4BE5-2015-FA95-C55C6B8D7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3454213"/>
            <a:ext cx="212022" cy="212022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EE86AFA6-BC36-9CF9-1622-46C3BAFEF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3781425"/>
            <a:ext cx="212022" cy="212022"/>
          </a:xfrm>
          <a:prstGeom prst="rect">
            <a:avLst/>
          </a:prstGeom>
        </p:spPr>
      </p:pic>
      <p:pic>
        <p:nvPicPr>
          <p:cNvPr id="17" name="Gráfico 16" descr="Marca de verificación con relleno sólido">
            <a:extLst>
              <a:ext uri="{FF2B5EF4-FFF2-40B4-BE49-F238E27FC236}">
                <a16:creationId xmlns:a16="http://schemas.microsoft.com/office/drawing/2014/main" id="{AA363991-F8A4-1F15-04C3-D23CA484E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4038151"/>
            <a:ext cx="212022" cy="212022"/>
          </a:xfrm>
          <a:prstGeom prst="rect">
            <a:avLst/>
          </a:prstGeom>
        </p:spPr>
      </p:pic>
      <p:pic>
        <p:nvPicPr>
          <p:cNvPr id="18" name="Gráfico 17" descr="Marca de verificación con relleno sólido">
            <a:extLst>
              <a:ext uri="{FF2B5EF4-FFF2-40B4-BE49-F238E27FC236}">
                <a16:creationId xmlns:a16="http://schemas.microsoft.com/office/drawing/2014/main" id="{5F23E95A-5E6C-37BE-7396-AEAFE10CC0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4288282"/>
            <a:ext cx="212022" cy="212022"/>
          </a:xfrm>
          <a:prstGeom prst="rect">
            <a:avLst/>
          </a:prstGeom>
        </p:spPr>
      </p:pic>
      <p:pic>
        <p:nvPicPr>
          <p:cNvPr id="19" name="Gráfico 18" descr="Marca de verificación con relleno sólido">
            <a:extLst>
              <a:ext uri="{FF2B5EF4-FFF2-40B4-BE49-F238E27FC236}">
                <a16:creationId xmlns:a16="http://schemas.microsoft.com/office/drawing/2014/main" id="{E0867C10-0923-24CA-C2E8-BFC121A0A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4538413"/>
            <a:ext cx="212022" cy="212022"/>
          </a:xfrm>
          <a:prstGeom prst="rect">
            <a:avLst/>
          </a:prstGeom>
        </p:spPr>
      </p:pic>
      <p:pic>
        <p:nvPicPr>
          <p:cNvPr id="20" name="Gráfico 19" descr="Marca de verificación con relleno sólido">
            <a:extLst>
              <a:ext uri="{FF2B5EF4-FFF2-40B4-BE49-F238E27FC236}">
                <a16:creationId xmlns:a16="http://schemas.microsoft.com/office/drawing/2014/main" id="{32C0790E-ECD7-EEE4-7CB9-644DA686D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4798542"/>
            <a:ext cx="212022" cy="212022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B02225EE-E683-8A87-3613-728A7A347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9780" y="5034618"/>
            <a:ext cx="212022" cy="212022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4C188414-47E1-CD2B-C929-D1474550D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5277006"/>
            <a:ext cx="212022" cy="212022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599104FA-B8C5-6E26-D501-E0F93D9FA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0055" y="4038151"/>
            <a:ext cx="212022" cy="212022"/>
          </a:xfrm>
          <a:prstGeom prst="rect">
            <a:avLst/>
          </a:prstGeom>
        </p:spPr>
      </p:pic>
      <p:pic>
        <p:nvPicPr>
          <p:cNvPr id="24" name="Gráfico 23" descr="Marca de verificación con relleno sólido">
            <a:extLst>
              <a:ext uri="{FF2B5EF4-FFF2-40B4-BE49-F238E27FC236}">
                <a16:creationId xmlns:a16="http://schemas.microsoft.com/office/drawing/2014/main" id="{E61AB911-9281-2FF6-8016-47C618937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3660" y="4525078"/>
            <a:ext cx="212022" cy="212022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E3677124-31AA-C3CA-471B-73BF1012D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5410" y="4038794"/>
            <a:ext cx="212022" cy="212022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B74E28-C512-FCB8-42A8-4CE1DA001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2870" y="4538413"/>
            <a:ext cx="212022" cy="212022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D98C08AF-CC25-7EA0-DDCB-9CB708AC8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9702" y="4052129"/>
            <a:ext cx="212022" cy="212022"/>
          </a:xfrm>
          <a:prstGeom prst="rect">
            <a:avLst/>
          </a:prstGeom>
        </p:spPr>
      </p:pic>
      <p:pic>
        <p:nvPicPr>
          <p:cNvPr id="28" name="Gráfico 27" descr="Marca de verificación con relleno sólido">
            <a:extLst>
              <a:ext uri="{FF2B5EF4-FFF2-40B4-BE49-F238E27FC236}">
                <a16:creationId xmlns:a16="http://schemas.microsoft.com/office/drawing/2014/main" id="{0B3BD048-A24C-D2D1-7153-4A3CDE598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9702" y="4525078"/>
            <a:ext cx="212022" cy="212022"/>
          </a:xfrm>
          <a:prstGeom prst="rect">
            <a:avLst/>
          </a:prstGeom>
        </p:spPr>
      </p:pic>
      <p:pic>
        <p:nvPicPr>
          <p:cNvPr id="29" name="Gráfico 28" descr="Marca de verificación con relleno sólido">
            <a:extLst>
              <a:ext uri="{FF2B5EF4-FFF2-40B4-BE49-F238E27FC236}">
                <a16:creationId xmlns:a16="http://schemas.microsoft.com/office/drawing/2014/main" id="{DED8770D-2353-F994-8FC4-5A589DF43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5074" y="3462689"/>
            <a:ext cx="212022" cy="212022"/>
          </a:xfrm>
          <a:prstGeom prst="rect">
            <a:avLst/>
          </a:prstGeom>
        </p:spPr>
      </p:pic>
      <p:pic>
        <p:nvPicPr>
          <p:cNvPr id="30" name="Gráfico 29" descr="Marca de verificación con relleno sólido">
            <a:extLst>
              <a:ext uri="{FF2B5EF4-FFF2-40B4-BE49-F238E27FC236}">
                <a16:creationId xmlns:a16="http://schemas.microsoft.com/office/drawing/2014/main" id="{2EDB8531-B69D-B414-06A0-7A292DC2F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7806" y="3781425"/>
            <a:ext cx="212022" cy="212022"/>
          </a:xfrm>
          <a:prstGeom prst="rect">
            <a:avLst/>
          </a:prstGeom>
        </p:spPr>
      </p:pic>
      <p:pic>
        <p:nvPicPr>
          <p:cNvPr id="31" name="Gráfico 30" descr="Marca de verificación con relleno sólido">
            <a:extLst>
              <a:ext uri="{FF2B5EF4-FFF2-40B4-BE49-F238E27FC236}">
                <a16:creationId xmlns:a16="http://schemas.microsoft.com/office/drawing/2014/main" id="{A6E594E8-A371-F1B5-A67A-0F5940621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7806" y="4288282"/>
            <a:ext cx="212022" cy="212022"/>
          </a:xfrm>
          <a:prstGeom prst="rect">
            <a:avLst/>
          </a:prstGeom>
        </p:spPr>
      </p:pic>
      <p:pic>
        <p:nvPicPr>
          <p:cNvPr id="32" name="Gráfico 31" descr="Marca de verificación con relleno sólido">
            <a:extLst>
              <a:ext uri="{FF2B5EF4-FFF2-40B4-BE49-F238E27FC236}">
                <a16:creationId xmlns:a16="http://schemas.microsoft.com/office/drawing/2014/main" id="{5619EE88-E9B0-FC41-7A4A-4E22A83F4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7806" y="4779488"/>
            <a:ext cx="212022" cy="212022"/>
          </a:xfrm>
          <a:prstGeom prst="rect">
            <a:avLst/>
          </a:prstGeom>
        </p:spPr>
      </p:pic>
      <p:pic>
        <p:nvPicPr>
          <p:cNvPr id="33" name="Gráfico 32" descr="Marca de verificación con relleno sólido">
            <a:extLst>
              <a:ext uri="{FF2B5EF4-FFF2-40B4-BE49-F238E27FC236}">
                <a16:creationId xmlns:a16="http://schemas.microsoft.com/office/drawing/2014/main" id="{A9224A73-4034-FB21-6FA5-B5E4DBC97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5074" y="5034618"/>
            <a:ext cx="212022" cy="212022"/>
          </a:xfrm>
          <a:prstGeom prst="rect">
            <a:avLst/>
          </a:prstGeom>
        </p:spPr>
      </p:pic>
      <p:pic>
        <p:nvPicPr>
          <p:cNvPr id="34" name="Gráfico 33" descr="Marca de verificación con relleno sólido">
            <a:extLst>
              <a:ext uri="{FF2B5EF4-FFF2-40B4-BE49-F238E27FC236}">
                <a16:creationId xmlns:a16="http://schemas.microsoft.com/office/drawing/2014/main" id="{CCEF1062-4B2E-962E-F6F9-BAE44675B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7806" y="5282721"/>
            <a:ext cx="212022" cy="212022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64D28BF2-894E-312C-1AC5-1B2EB51C0D27}"/>
              </a:ext>
            </a:extLst>
          </p:cNvPr>
          <p:cNvSpPr txBox="1"/>
          <p:nvPr/>
        </p:nvSpPr>
        <p:spPr>
          <a:xfrm>
            <a:off x="5394360" y="3729104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9A1ED8C-367C-BABD-D6A4-37D24B33ADCF}"/>
              </a:ext>
            </a:extLst>
          </p:cNvPr>
          <p:cNvSpPr txBox="1"/>
          <p:nvPr/>
        </p:nvSpPr>
        <p:spPr>
          <a:xfrm>
            <a:off x="5391820" y="4216031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2F01CAB-E86F-A148-7EB8-325910E2408E}"/>
              </a:ext>
            </a:extLst>
          </p:cNvPr>
          <p:cNvSpPr txBox="1"/>
          <p:nvPr/>
        </p:nvSpPr>
        <p:spPr>
          <a:xfrm>
            <a:off x="5407060" y="4726841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D877A55-E15F-12A3-33A9-49EF45F5C71E}"/>
              </a:ext>
            </a:extLst>
          </p:cNvPr>
          <p:cNvSpPr txBox="1"/>
          <p:nvPr/>
        </p:nvSpPr>
        <p:spPr>
          <a:xfrm>
            <a:off x="5407060" y="4971248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55B42DA-2468-3FBA-3DAC-80DF2D946722}"/>
              </a:ext>
            </a:extLst>
          </p:cNvPr>
          <p:cNvSpPr txBox="1"/>
          <p:nvPr/>
        </p:nvSpPr>
        <p:spPr>
          <a:xfrm>
            <a:off x="5412140" y="5204785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8E97984-4054-26F8-16DB-DCB7C1536D44}"/>
              </a:ext>
            </a:extLst>
          </p:cNvPr>
          <p:cNvSpPr txBox="1"/>
          <p:nvPr/>
        </p:nvSpPr>
        <p:spPr>
          <a:xfrm>
            <a:off x="6339334" y="3739905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98D8AD5-0B5A-9003-8CCE-BD75E8484284}"/>
              </a:ext>
            </a:extLst>
          </p:cNvPr>
          <p:cNvSpPr txBox="1"/>
          <p:nvPr/>
        </p:nvSpPr>
        <p:spPr>
          <a:xfrm>
            <a:off x="6345050" y="4229366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72766A5-5CDA-477F-3CF6-71A1C4E2BA4C}"/>
              </a:ext>
            </a:extLst>
          </p:cNvPr>
          <p:cNvSpPr txBox="1"/>
          <p:nvPr/>
        </p:nvSpPr>
        <p:spPr>
          <a:xfrm>
            <a:off x="6339334" y="4718827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179EB16-2D6F-C48E-9EDF-B25CA0305717}"/>
              </a:ext>
            </a:extLst>
          </p:cNvPr>
          <p:cNvSpPr txBox="1"/>
          <p:nvPr/>
        </p:nvSpPr>
        <p:spPr>
          <a:xfrm>
            <a:off x="6345050" y="4957913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78BD088-4183-DA9F-DB03-2E25C87B6AF3}"/>
              </a:ext>
            </a:extLst>
          </p:cNvPr>
          <p:cNvSpPr txBox="1"/>
          <p:nvPr/>
        </p:nvSpPr>
        <p:spPr>
          <a:xfrm>
            <a:off x="6347590" y="5229128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0EC5577-992E-7C0A-7320-D43A93DF5046}"/>
              </a:ext>
            </a:extLst>
          </p:cNvPr>
          <p:cNvSpPr txBox="1"/>
          <p:nvPr/>
        </p:nvSpPr>
        <p:spPr>
          <a:xfrm>
            <a:off x="7209653" y="3375285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4E52B18-BA41-AE72-78F4-660CB17A476A}"/>
              </a:ext>
            </a:extLst>
          </p:cNvPr>
          <p:cNvSpPr txBox="1"/>
          <p:nvPr/>
        </p:nvSpPr>
        <p:spPr>
          <a:xfrm>
            <a:off x="7216325" y="3744352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0206D5A-00DA-3121-53FD-F124A001F878}"/>
              </a:ext>
            </a:extLst>
          </p:cNvPr>
          <p:cNvSpPr txBox="1"/>
          <p:nvPr/>
        </p:nvSpPr>
        <p:spPr>
          <a:xfrm>
            <a:off x="7216325" y="4223651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8C921AE-433F-77AB-233A-A66E420716F1}"/>
              </a:ext>
            </a:extLst>
          </p:cNvPr>
          <p:cNvSpPr txBox="1"/>
          <p:nvPr/>
        </p:nvSpPr>
        <p:spPr>
          <a:xfrm>
            <a:off x="8713006" y="3986976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3E02AC2-BDB6-BD07-275A-774324262A72}"/>
              </a:ext>
            </a:extLst>
          </p:cNvPr>
          <p:cNvSpPr txBox="1"/>
          <p:nvPr/>
        </p:nvSpPr>
        <p:spPr>
          <a:xfrm>
            <a:off x="8713006" y="4459671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D096D1E-795A-8FCA-3623-C8022D2377DA}"/>
              </a:ext>
            </a:extLst>
          </p:cNvPr>
          <p:cNvSpPr txBox="1"/>
          <p:nvPr/>
        </p:nvSpPr>
        <p:spPr>
          <a:xfrm>
            <a:off x="7216325" y="4718827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2389469-1A1C-EF0E-705E-CA136DAD2389}"/>
              </a:ext>
            </a:extLst>
          </p:cNvPr>
          <p:cNvSpPr txBox="1"/>
          <p:nvPr/>
        </p:nvSpPr>
        <p:spPr>
          <a:xfrm>
            <a:off x="7216325" y="4957913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14F5652-E3BA-7552-0BE9-D13F1299CA00}"/>
              </a:ext>
            </a:extLst>
          </p:cNvPr>
          <p:cNvSpPr txBox="1"/>
          <p:nvPr/>
        </p:nvSpPr>
        <p:spPr>
          <a:xfrm>
            <a:off x="7221405" y="5251305"/>
            <a:ext cx="38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endParaRPr lang="es-ES" sz="14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DFB607F-D16B-9914-833D-A31AD5F79C3C}"/>
              </a:ext>
            </a:extLst>
          </p:cNvPr>
          <p:cNvSpPr txBox="1"/>
          <p:nvPr/>
        </p:nvSpPr>
        <p:spPr>
          <a:xfrm>
            <a:off x="5427380" y="3221964"/>
            <a:ext cx="349885" cy="40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tabLst>
                <a:tab pos="2700020" algn="ctr"/>
                <a:tab pos="5400040" algn="r"/>
                <a:tab pos="449580" algn="l"/>
              </a:tabLst>
            </a:pPr>
            <a:r>
              <a:rPr lang="es-ES" sz="18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⚠️</a:t>
            </a:r>
            <a:endParaRPr lang="es-ES" sz="32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9BB680A-5A38-A525-3500-6F2DB788D0DE}"/>
              </a:ext>
            </a:extLst>
          </p:cNvPr>
          <p:cNvSpPr txBox="1"/>
          <p:nvPr/>
        </p:nvSpPr>
        <p:spPr>
          <a:xfrm>
            <a:off x="6377100" y="3221964"/>
            <a:ext cx="349885" cy="40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tabLst>
                <a:tab pos="2700020" algn="ctr"/>
                <a:tab pos="5400040" algn="r"/>
                <a:tab pos="449580" algn="l"/>
              </a:tabLst>
            </a:pPr>
            <a:r>
              <a:rPr lang="es-ES" sz="18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⚠️</a:t>
            </a:r>
            <a:endParaRPr lang="es-ES" sz="32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8" name="Vista general de diapositiva 57">
                <a:extLst>
                  <a:ext uri="{FF2B5EF4-FFF2-40B4-BE49-F238E27FC236}">
                    <a16:creationId xmlns:a16="http://schemas.microsoft.com/office/drawing/2014/main" id="{F79064D7-F431-0E12-FA6E-3B272D3836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7931281"/>
                  </p:ext>
                </p:extLst>
              </p:nvPr>
            </p:nvGraphicFramePr>
            <p:xfrm>
              <a:off x="5394360" y="3180628"/>
              <a:ext cx="36000" cy="25461"/>
            </p:xfrm>
            <a:graphic>
              <a:graphicData uri="http://schemas.microsoft.com/office/powerpoint/2016/slidezoom">
                <pslz:sldZm>
                  <pslz:sldZmObj sldId="270" cId="0">
                    <pslz:zmPr id="{490BAC3D-7B55-4266-A518-019E33E647A1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000" cy="2546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8" name="Vista general de diapositiva 5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F79064D7-F431-0E12-FA6E-3B272D3836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94360" y="3180628"/>
                <a:ext cx="36000" cy="2546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Líneas</a:t>
            </a:r>
            <a:r>
              <a:rPr spc="660" dirty="0"/>
              <a:t> </a:t>
            </a:r>
            <a:r>
              <a:rPr spc="229" dirty="0">
                <a:latin typeface="Bookman Old Style" panose="02050604050505020204" pitchFamily="18" charset="0"/>
              </a:rPr>
              <a:t>de</a:t>
            </a:r>
            <a:r>
              <a:rPr spc="650" dirty="0"/>
              <a:t> </a:t>
            </a:r>
            <a:r>
              <a:rPr spc="295" dirty="0"/>
              <a:t>Mejora</a:t>
            </a:r>
            <a:r>
              <a:rPr spc="660" dirty="0"/>
              <a:t> </a:t>
            </a:r>
            <a:r>
              <a:rPr spc="415" dirty="0"/>
              <a:t>Futuras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8640" y="507492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868" y="0"/>
                </a:moveTo>
                <a:lnTo>
                  <a:pt x="0" y="0"/>
                </a:lnTo>
                <a:lnTo>
                  <a:pt x="0" y="9144"/>
                </a:lnTo>
                <a:lnTo>
                  <a:pt x="9611868" y="9144"/>
                </a:lnTo>
                <a:lnTo>
                  <a:pt x="9611868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48640" y="589829"/>
            <a:ext cx="9611995" cy="696046"/>
            <a:chOff x="548640" y="589829"/>
            <a:chExt cx="9611995" cy="696046"/>
          </a:xfrm>
        </p:grpSpPr>
        <p:sp>
          <p:nvSpPr>
            <p:cNvPr id="5" name="object 5"/>
            <p:cNvSpPr/>
            <p:nvPr/>
          </p:nvSpPr>
          <p:spPr>
            <a:xfrm>
              <a:off x="548640" y="1266698"/>
              <a:ext cx="9611995" cy="9525"/>
            </a:xfrm>
            <a:custGeom>
              <a:avLst/>
              <a:gdLst/>
              <a:ahLst/>
              <a:cxnLst/>
              <a:rect l="l" t="t" r="r" b="b"/>
              <a:pathLst>
                <a:path w="9611995" h="9525">
                  <a:moveTo>
                    <a:pt x="961186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611868" y="9144"/>
                  </a:lnTo>
                  <a:lnTo>
                    <a:pt x="9611868" y="0"/>
                  </a:lnTo>
                  <a:close/>
                </a:path>
              </a:pathLst>
            </a:custGeom>
            <a:solidFill>
              <a:srgbClr val="82B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475" y="601345"/>
              <a:ext cx="621030" cy="6845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610" y="589829"/>
              <a:ext cx="803845" cy="55173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26703" y="2966212"/>
            <a:ext cx="9839325" cy="1699260"/>
            <a:chOff x="426703" y="2966212"/>
            <a:chExt cx="9839325" cy="16992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03" y="3034217"/>
              <a:ext cx="9838977" cy="16308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2279" y="2966212"/>
              <a:ext cx="9772650" cy="1630680"/>
            </a:xfrm>
            <a:custGeom>
              <a:avLst/>
              <a:gdLst/>
              <a:ahLst/>
              <a:cxnLst/>
              <a:rect l="l" t="t" r="r" b="b"/>
              <a:pathLst>
                <a:path w="9772650" h="1630679">
                  <a:moveTo>
                    <a:pt x="8957310" y="0"/>
                  </a:moveTo>
                  <a:lnTo>
                    <a:pt x="8957310" y="407669"/>
                  </a:lnTo>
                  <a:lnTo>
                    <a:pt x="0" y="407669"/>
                  </a:lnTo>
                  <a:lnTo>
                    <a:pt x="407670" y="815339"/>
                  </a:lnTo>
                  <a:lnTo>
                    <a:pt x="0" y="1223010"/>
                  </a:lnTo>
                  <a:lnTo>
                    <a:pt x="8957310" y="1223010"/>
                  </a:lnTo>
                  <a:lnTo>
                    <a:pt x="8957310" y="1630679"/>
                  </a:lnTo>
                  <a:lnTo>
                    <a:pt x="9772650" y="815339"/>
                  </a:lnTo>
                  <a:lnTo>
                    <a:pt x="8957310" y="0"/>
                  </a:lnTo>
                  <a:close/>
                </a:path>
              </a:pathLst>
            </a:custGeom>
            <a:solidFill>
              <a:srgbClr val="D2E2D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5094" y="1986712"/>
            <a:ext cx="146574" cy="1525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76782" y="1949958"/>
            <a:ext cx="1672387" cy="13419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321945" indent="208279">
              <a:lnSpc>
                <a:spcPct val="88700"/>
              </a:lnSpc>
              <a:spcBef>
                <a:spcPts val="260"/>
              </a:spcBef>
            </a:pPr>
            <a:r>
              <a:rPr sz="1200" spc="-10" dirty="0">
                <a:latin typeface="Rockwell" panose="02060603020205020403" pitchFamily="18" charset="0"/>
                <a:cs typeface="Cambria"/>
              </a:rPr>
              <a:t>Integración </a:t>
            </a:r>
            <a:r>
              <a:rPr sz="1200" dirty="0">
                <a:latin typeface="Rockwell" panose="02060603020205020403" pitchFamily="18" charset="0"/>
                <a:cs typeface="Cambria"/>
              </a:rPr>
              <a:t>Directorio</a:t>
            </a:r>
            <a:r>
              <a:rPr sz="1200" spc="325" dirty="0">
                <a:latin typeface="Rockwell" panose="02060603020205020403" pitchFamily="18" charset="0"/>
                <a:cs typeface="Cambria"/>
              </a:rPr>
              <a:t> </a:t>
            </a:r>
            <a:r>
              <a:rPr sz="1200" spc="-20" dirty="0">
                <a:latin typeface="Rockwell" panose="02060603020205020403" pitchFamily="18" charset="0"/>
                <a:cs typeface="Cambria"/>
              </a:rPr>
              <a:t>LDAP </a:t>
            </a:r>
            <a:r>
              <a:rPr sz="1200" spc="-10" dirty="0">
                <a:latin typeface="Rockwell" panose="02060603020205020403" pitchFamily="18" charset="0"/>
                <a:cs typeface="Cambria"/>
              </a:rPr>
              <a:t>Educastur</a:t>
            </a:r>
            <a:endParaRPr sz="1200" dirty="0">
              <a:latin typeface="Rockwell" panose="02060603020205020403" pitchFamily="18" charset="0"/>
              <a:cs typeface="Cambria"/>
            </a:endParaRPr>
          </a:p>
          <a:p>
            <a:pPr marL="69215" marR="483234" indent="-66675">
              <a:lnSpc>
                <a:spcPts val="1100"/>
              </a:lnSpc>
              <a:spcBef>
                <a:spcPts val="525"/>
              </a:spcBef>
              <a:buSzPct val="90476"/>
              <a:buChar char="•"/>
              <a:tabLst>
                <a:tab pos="70485" algn="l"/>
              </a:tabLst>
            </a:pPr>
            <a:r>
              <a:rPr sz="1050" dirty="0">
                <a:latin typeface="Rockwell" panose="02060603020205020403" pitchFamily="18" charset="0"/>
                <a:cs typeface="Cambria"/>
              </a:rPr>
              <a:t>Usuario</a:t>
            </a:r>
            <a:r>
              <a:rPr sz="1050" spc="170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-10" dirty="0">
                <a:latin typeface="Rockwell" panose="02060603020205020403" pitchFamily="18" charset="0"/>
                <a:cs typeface="Cambria"/>
              </a:rPr>
              <a:t>cuenta 	@educastur</a:t>
            </a:r>
            <a:endParaRPr sz="1050" dirty="0">
              <a:latin typeface="Rockwell" panose="02060603020205020403" pitchFamily="18" charset="0"/>
              <a:cs typeface="Cambria"/>
            </a:endParaRPr>
          </a:p>
          <a:p>
            <a:pPr marL="69850" indent="-66675">
              <a:lnSpc>
                <a:spcPct val="100000"/>
              </a:lnSpc>
              <a:spcBef>
                <a:spcPts val="30"/>
              </a:spcBef>
              <a:buSzPct val="90476"/>
              <a:buChar char="•"/>
              <a:tabLst>
                <a:tab pos="69850" algn="l"/>
              </a:tabLst>
            </a:pPr>
            <a:r>
              <a:rPr sz="1050" spc="20" dirty="0">
                <a:latin typeface="Rockwell" panose="02060603020205020403" pitchFamily="18" charset="0"/>
                <a:cs typeface="Cambria"/>
              </a:rPr>
              <a:t>Autenticación</a:t>
            </a:r>
            <a:r>
              <a:rPr sz="1050" spc="135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45" dirty="0">
                <a:latin typeface="Rockwell" panose="02060603020205020403" pitchFamily="18" charset="0"/>
                <a:cs typeface="Cambria"/>
              </a:rPr>
              <a:t>SSO</a:t>
            </a:r>
            <a:endParaRPr sz="1050" dirty="0">
              <a:latin typeface="Rockwell" panose="02060603020205020403" pitchFamily="18" charset="0"/>
              <a:cs typeface="Cambria"/>
            </a:endParaRPr>
          </a:p>
          <a:p>
            <a:pPr marL="69215" marR="5080" indent="-66675">
              <a:lnSpc>
                <a:spcPts val="1100"/>
              </a:lnSpc>
              <a:spcBef>
                <a:spcPts val="209"/>
              </a:spcBef>
              <a:buSzPct val="90476"/>
              <a:buChar char="•"/>
              <a:tabLst>
                <a:tab pos="70485" algn="l"/>
              </a:tabLst>
            </a:pPr>
            <a:r>
              <a:rPr sz="1050" spc="30" dirty="0">
                <a:latin typeface="Rockwell" panose="02060603020205020403" pitchFamily="18" charset="0"/>
                <a:cs typeface="Cambria"/>
              </a:rPr>
              <a:t>Asignación</a:t>
            </a:r>
            <a:r>
              <a:rPr sz="1050" spc="145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-10" dirty="0">
                <a:latin typeface="Rockwell" panose="02060603020205020403" pitchFamily="18" charset="0"/>
                <a:cs typeface="Cambria"/>
              </a:rPr>
              <a:t>automática 	</a:t>
            </a:r>
            <a:r>
              <a:rPr sz="1050" spc="80" dirty="0">
                <a:latin typeface="Rockwell" panose="02060603020205020403" pitchFamily="18" charset="0"/>
                <a:cs typeface="Cambria"/>
              </a:rPr>
              <a:t>de</a:t>
            </a:r>
            <a:r>
              <a:rPr sz="1050" spc="15" dirty="0">
                <a:latin typeface="Rockwell" panose="02060603020205020403" pitchFamily="18" charset="0"/>
                <a:cs typeface="Cambria"/>
              </a:rPr>
              <a:t> </a:t>
            </a:r>
            <a:r>
              <a:rPr sz="1050" spc="-10" dirty="0">
                <a:latin typeface="Rockwell" panose="02060603020205020403" pitchFamily="18" charset="0"/>
                <a:cs typeface="Cambria"/>
              </a:rPr>
              <a:t>roles</a:t>
            </a:r>
            <a:endParaRPr sz="1050" dirty="0">
              <a:latin typeface="Rockwell" panose="02060603020205020403" pitchFamily="18" charset="0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54608" y="3577717"/>
            <a:ext cx="1691005" cy="1040765"/>
            <a:chOff x="1054608" y="3577717"/>
            <a:chExt cx="1691005" cy="104076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4608" y="3578314"/>
              <a:ext cx="509003" cy="4938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274" y="3577717"/>
              <a:ext cx="407708" cy="4076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63140" y="4204716"/>
              <a:ext cx="482345" cy="41376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369947" y="4266438"/>
            <a:ext cx="1433830" cy="130356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45720" indent="245110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latin typeface="Rockwell" panose="02060603020205020403" pitchFamily="18" charset="0"/>
                <a:cs typeface="Cambria"/>
              </a:rPr>
              <a:t>Matriculación Automática 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Cohortes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70485" marR="5080" indent="-69215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spc="20" dirty="0">
                <a:latin typeface="Rockwell" panose="02060603020205020403" pitchFamily="18" charset="0"/>
                <a:cs typeface="Cambria"/>
              </a:rPr>
              <a:t>Implementar</a:t>
            </a:r>
            <a:r>
              <a:rPr sz="1100" spc="114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sistema </a:t>
            </a:r>
            <a:r>
              <a:rPr sz="1100" spc="80" dirty="0">
                <a:latin typeface="Rockwell" panose="02060603020205020403" pitchFamily="18" charset="0"/>
                <a:cs typeface="Cambria"/>
              </a:rPr>
              <a:t>de</a:t>
            </a:r>
            <a:r>
              <a:rPr sz="1100" spc="11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b="1" spc="20" dirty="0">
                <a:latin typeface="Rockwell" panose="02060603020205020403" pitchFamily="18" charset="0"/>
                <a:cs typeface="Cambria"/>
              </a:rPr>
              <a:t>Cohortes</a:t>
            </a:r>
            <a:r>
              <a:rPr sz="1100" b="1" spc="6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b="1" spc="-35" dirty="0">
                <a:latin typeface="Rockwell" panose="02060603020205020403" pitchFamily="18" charset="0"/>
                <a:cs typeface="Cambria"/>
              </a:rPr>
              <a:t>de </a:t>
            </a:r>
            <a:r>
              <a:rPr sz="1100" b="1" spc="45" dirty="0">
                <a:latin typeface="Rockwell" panose="02060603020205020403" pitchFamily="18" charset="0"/>
                <a:cs typeface="Cambria"/>
              </a:rPr>
              <a:t>Moodel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73430" y="1866307"/>
            <a:ext cx="174563" cy="179958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2828544" y="3577717"/>
            <a:ext cx="3470910" cy="1040765"/>
            <a:chOff x="2828544" y="3577717"/>
            <a:chExt cx="3470910" cy="104076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8544" y="3578314"/>
              <a:ext cx="509003" cy="4938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81757" y="3577717"/>
              <a:ext cx="407669" cy="4076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2479" y="3578314"/>
              <a:ext cx="510514" cy="4938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56073" y="3577717"/>
              <a:ext cx="407670" cy="40767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7108" y="4204716"/>
              <a:ext cx="482346" cy="41376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128008" y="1826514"/>
            <a:ext cx="1469390" cy="148309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245110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latin typeface="Rockwell" panose="02060603020205020403" pitchFamily="18" charset="0"/>
                <a:cs typeface="Cambria"/>
              </a:rPr>
              <a:t>Dominio</a:t>
            </a:r>
            <a:r>
              <a:rPr sz="1400" spc="50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dirty="0">
                <a:latin typeface="Rockwell" panose="02060603020205020403" pitchFamily="18" charset="0"/>
                <a:cs typeface="Cambria"/>
              </a:rPr>
              <a:t>propio</a:t>
            </a:r>
            <a:r>
              <a:rPr sz="14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155" dirty="0">
                <a:latin typeface="Rockwell" panose="02060603020205020403" pitchFamily="18" charset="0"/>
                <a:cs typeface="Cambria"/>
              </a:rPr>
              <a:t>+ </a:t>
            </a:r>
            <a:r>
              <a:rPr sz="1400" dirty="0">
                <a:latin typeface="Rockwell" panose="02060603020205020403" pitchFamily="18" charset="0"/>
                <a:cs typeface="Cambria"/>
              </a:rPr>
              <a:t>SSL</a:t>
            </a:r>
            <a:r>
              <a:rPr sz="1400" spc="15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-20" dirty="0">
                <a:latin typeface="Rockwell" panose="02060603020205020403" pitchFamily="18" charset="0"/>
                <a:cs typeface="Cambria"/>
              </a:rPr>
              <a:t>Let's </a:t>
            </a:r>
            <a:r>
              <a:rPr sz="1400" spc="40" dirty="0">
                <a:latin typeface="Rockwell" panose="02060603020205020403" pitchFamily="18" charset="0"/>
                <a:cs typeface="Cambria"/>
              </a:rPr>
              <a:t>Encrypt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70485" marR="348615" indent="-69215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spc="30" dirty="0">
                <a:latin typeface="Rockwell" panose="02060603020205020403" pitchFamily="18" charset="0"/>
                <a:cs typeface="Cambria"/>
              </a:rPr>
              <a:t>Certificado</a:t>
            </a:r>
            <a:r>
              <a:rPr sz="1100" spc="18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20" dirty="0">
                <a:latin typeface="Rockwell" panose="02060603020205020403" pitchFamily="18" charset="0"/>
                <a:cs typeface="Cambria"/>
              </a:rPr>
              <a:t>Let's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Encrypt</a:t>
            </a:r>
            <a:endParaRPr sz="1100" dirty="0">
              <a:latin typeface="Rockwell" panose="02060603020205020403" pitchFamily="18" charset="0"/>
              <a:cs typeface="Cambria"/>
            </a:endParaRPr>
          </a:p>
          <a:p>
            <a:pPr marL="70485" marR="168275" indent="-69215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spc="35" dirty="0">
                <a:latin typeface="Rockwell" panose="02060603020205020403" pitchFamily="18" charset="0"/>
                <a:cs typeface="Cambria"/>
              </a:rPr>
              <a:t>Configuración </a:t>
            </a:r>
            <a:r>
              <a:rPr sz="1100" spc="20" dirty="0">
                <a:latin typeface="Rockwell" panose="02060603020205020403" pitchFamily="18" charset="0"/>
                <a:cs typeface="Cambria"/>
              </a:rPr>
              <a:t>Servidor</a:t>
            </a:r>
            <a:r>
              <a:rPr sz="1100" spc="9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80" dirty="0">
                <a:latin typeface="Rockwell" panose="02060603020205020403" pitchFamily="18" charset="0"/>
                <a:cs typeface="Cambria"/>
              </a:rPr>
              <a:t>de</a:t>
            </a:r>
            <a:r>
              <a:rPr sz="1100" spc="110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correo </a:t>
            </a:r>
            <a:r>
              <a:rPr sz="1100" spc="-20" dirty="0">
                <a:latin typeface="Rockwell" panose="02060603020205020403" pitchFamily="18" charset="0"/>
                <a:cs typeface="Cambria"/>
              </a:rPr>
              <a:t>SMTP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3915" y="4266438"/>
            <a:ext cx="1426845" cy="13093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281305" indent="287655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latin typeface="Cambria"/>
                <a:cs typeface="Cambria"/>
              </a:rPr>
              <a:t>Sistema </a:t>
            </a:r>
            <a:r>
              <a:rPr sz="1400" spc="10" dirty="0">
                <a:latin typeface="Cambria"/>
                <a:cs typeface="Cambria"/>
              </a:rPr>
              <a:t>Valoración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de </a:t>
            </a:r>
            <a:r>
              <a:rPr sz="1400" spc="-10" dirty="0">
                <a:latin typeface="Cambria"/>
                <a:cs typeface="Cambria"/>
              </a:rPr>
              <a:t>Recursos</a:t>
            </a:r>
            <a:endParaRPr sz="1400" dirty="0">
              <a:latin typeface="Cambria"/>
              <a:cs typeface="Cambria"/>
            </a:endParaRPr>
          </a:p>
          <a:p>
            <a:pPr marL="70485" marR="5080" indent="-69215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spc="20" dirty="0">
                <a:latin typeface="Cambria"/>
                <a:cs typeface="Cambria"/>
              </a:rPr>
              <a:t>Valoración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mediante estrellas</a:t>
            </a:r>
            <a:endParaRPr sz="1100" dirty="0">
              <a:latin typeface="Cambria"/>
              <a:cs typeface="Cambria"/>
            </a:endParaRPr>
          </a:p>
          <a:p>
            <a:pPr marL="70485" marR="98425" indent="-69215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spc="20" dirty="0">
                <a:latin typeface="Cambria"/>
                <a:cs typeface="Cambria"/>
              </a:rPr>
              <a:t>Destacar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contenido </a:t>
            </a:r>
            <a:r>
              <a:rPr sz="1100" spc="80" dirty="0">
                <a:latin typeface="Cambria"/>
                <a:cs typeface="Cambria"/>
              </a:rPr>
              <a:t>de</a:t>
            </a:r>
            <a:r>
              <a:rPr sz="1100" spc="1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mayor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calidad</a:t>
            </a:r>
            <a:endParaRPr sz="1100" dirty="0"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92952" y="2186347"/>
            <a:ext cx="174563" cy="179958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6377940" y="3577717"/>
            <a:ext cx="2283460" cy="494665"/>
            <a:chOff x="6377940" y="3577717"/>
            <a:chExt cx="2283460" cy="494665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77940" y="3578314"/>
              <a:ext cx="509003" cy="4938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30518" y="3577717"/>
              <a:ext cx="407670" cy="40767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1876" y="3578314"/>
              <a:ext cx="509003" cy="49381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04962" y="3577717"/>
              <a:ext cx="407670" cy="40767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44459" y="2146554"/>
            <a:ext cx="1469390" cy="114967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71120" indent="245110" algn="just">
              <a:lnSpc>
                <a:spcPct val="89300"/>
              </a:lnSpc>
              <a:spcBef>
                <a:spcPts val="280"/>
              </a:spcBef>
            </a:pPr>
            <a:r>
              <a:rPr sz="1400" spc="50" dirty="0">
                <a:latin typeface="Rockwell" panose="02060603020205020403" pitchFamily="18" charset="0"/>
                <a:cs typeface="Cambria"/>
              </a:rPr>
              <a:t>Denuncias</a:t>
            </a:r>
            <a:r>
              <a:rPr sz="1400" spc="20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30" dirty="0">
                <a:latin typeface="Rockwell" panose="02060603020205020403" pitchFamily="18" charset="0"/>
                <a:cs typeface="Cambria"/>
              </a:rPr>
              <a:t>y </a:t>
            </a:r>
            <a:r>
              <a:rPr sz="1400" spc="50" dirty="0">
                <a:latin typeface="Rockwell" panose="02060603020205020403" pitchFamily="18" charset="0"/>
                <a:cs typeface="Cambria"/>
              </a:rPr>
              <a:t>moderación</a:t>
            </a:r>
            <a:r>
              <a:rPr sz="1400" spc="55" dirty="0">
                <a:latin typeface="Rockwell" panose="02060603020205020403" pitchFamily="18" charset="0"/>
                <a:cs typeface="Cambria"/>
              </a:rPr>
              <a:t> </a:t>
            </a:r>
            <a:r>
              <a:rPr sz="1400" spc="75" dirty="0">
                <a:latin typeface="Rockwell" panose="02060603020205020403" pitchFamily="18" charset="0"/>
                <a:cs typeface="Cambria"/>
              </a:rPr>
              <a:t>de </a:t>
            </a:r>
            <a:r>
              <a:rPr sz="1400" spc="35" dirty="0">
                <a:latin typeface="Rockwell" panose="02060603020205020403" pitchFamily="18" charset="0"/>
                <a:cs typeface="Cambria"/>
              </a:rPr>
              <a:t>contenido</a:t>
            </a:r>
            <a:endParaRPr sz="1400" dirty="0">
              <a:latin typeface="Rockwell" panose="02060603020205020403" pitchFamily="18" charset="0"/>
              <a:cs typeface="Cambria"/>
            </a:endParaRPr>
          </a:p>
          <a:p>
            <a:pPr marL="70485" marR="5080" indent="-58419">
              <a:lnSpc>
                <a:spcPts val="1160"/>
              </a:lnSpc>
              <a:spcBef>
                <a:spcPts val="595"/>
              </a:spcBef>
            </a:pPr>
            <a:r>
              <a:rPr sz="1100" dirty="0">
                <a:latin typeface="Rockwell" panose="02060603020205020403" pitchFamily="18" charset="0"/>
                <a:cs typeface="Cambria"/>
              </a:rPr>
              <a:t>Los</a:t>
            </a:r>
            <a:r>
              <a:rPr sz="1100" spc="114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dirty="0" err="1">
                <a:latin typeface="Rockwell" panose="02060603020205020403" pitchFamily="18" charset="0"/>
                <a:cs typeface="Cambria"/>
              </a:rPr>
              <a:t>usuario</a:t>
            </a:r>
            <a:r>
              <a:rPr lang="es-ES" sz="1100" dirty="0">
                <a:latin typeface="Rockwell" panose="02060603020205020403" pitchFamily="18" charset="0"/>
                <a:cs typeface="Cambria"/>
              </a:rPr>
              <a:t>s</a:t>
            </a:r>
            <a:r>
              <a:rPr sz="1100" spc="12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podrán </a:t>
            </a:r>
            <a:r>
              <a:rPr sz="1100" dirty="0">
                <a:latin typeface="Rockwell" panose="02060603020205020403" pitchFamily="18" charset="0"/>
                <a:cs typeface="Cambria"/>
              </a:rPr>
              <a:t>reportar</a:t>
            </a:r>
            <a:r>
              <a:rPr sz="1100" spc="225" dirty="0">
                <a:latin typeface="Rockwell" panose="02060603020205020403" pitchFamily="18" charset="0"/>
                <a:cs typeface="Cambria"/>
              </a:rPr>
              <a:t> </a:t>
            </a:r>
            <a:r>
              <a:rPr sz="1100" spc="-10" dirty="0">
                <a:latin typeface="Rockwell" panose="02060603020205020403" pitchFamily="18" charset="0"/>
                <a:cs typeface="Cambria"/>
              </a:rPr>
              <a:t>materiales inapropiados</a:t>
            </a:r>
            <a:endParaRPr sz="1100" dirty="0">
              <a:latin typeface="Rockwell" panose="02060603020205020403" pitchFamily="18" charset="0"/>
              <a:cs typeface="Cambria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Vista general de diapositiva 35">
                <a:extLst>
                  <a:ext uri="{FF2B5EF4-FFF2-40B4-BE49-F238E27FC236}">
                    <a16:creationId xmlns:a16="http://schemas.microsoft.com/office/drawing/2014/main" id="{966FCBCC-C23E-BAC7-2526-2B7FE34196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3821295"/>
                  </p:ext>
                </p:extLst>
              </p:nvPr>
            </p:nvGraphicFramePr>
            <p:xfrm>
              <a:off x="8612632" y="596346"/>
              <a:ext cx="642510" cy="604151"/>
            </p:xfrm>
            <a:graphic>
              <a:graphicData uri="http://schemas.microsoft.com/office/powerpoint/2016/slidezoom">
                <pslz:sldZm>
                  <pslz:sldZmObj sldId="271" cId="0">
                    <pslz:zmPr id="{18609529-0836-4623-AADC-0947A60E0687}" returnToParent="0" imageType="cover" transitionDur="1000" showBg="0">
                      <p166:blipFill xmlns:p166="http://schemas.microsoft.com/office/powerpoint/2016/6/main">
                        <a:blip r:embed="rId19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2510" cy="6041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Vista general de diapositiva 35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966FCBCC-C23E-BAC7-2526-2B7FE34196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12632" y="596346"/>
                <a:ext cx="642510" cy="60415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7659" y="851662"/>
            <a:ext cx="162344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45" dirty="0">
                <a:latin typeface="Bookman Old Style" panose="02050604050505020204" pitchFamily="18" charset="0"/>
              </a:rPr>
              <a:t>BiViR@</a:t>
            </a:r>
            <a:endParaRPr sz="2800" dirty="0"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8827" y="774446"/>
            <a:ext cx="9631680" cy="9525"/>
          </a:xfrm>
          <a:custGeom>
            <a:avLst/>
            <a:gdLst/>
            <a:ahLst/>
            <a:cxnLst/>
            <a:rect l="l" t="t" r="r" b="b"/>
            <a:pathLst>
              <a:path w="9631680" h="9525">
                <a:moveTo>
                  <a:pt x="9631680" y="0"/>
                </a:moveTo>
                <a:lnTo>
                  <a:pt x="0" y="0"/>
                </a:lnTo>
                <a:lnTo>
                  <a:pt x="0" y="9144"/>
                </a:lnTo>
                <a:lnTo>
                  <a:pt x="9631680" y="9144"/>
                </a:lnTo>
                <a:lnTo>
                  <a:pt x="9631680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8827" y="2260346"/>
            <a:ext cx="9631680" cy="9525"/>
          </a:xfrm>
          <a:custGeom>
            <a:avLst/>
            <a:gdLst/>
            <a:ahLst/>
            <a:cxnLst/>
            <a:rect l="l" t="t" r="r" b="b"/>
            <a:pathLst>
              <a:path w="9631680" h="9525">
                <a:moveTo>
                  <a:pt x="9631680" y="0"/>
                </a:moveTo>
                <a:lnTo>
                  <a:pt x="0" y="0"/>
                </a:lnTo>
                <a:lnTo>
                  <a:pt x="0" y="9143"/>
                </a:lnTo>
                <a:lnTo>
                  <a:pt x="9631680" y="9143"/>
                </a:lnTo>
                <a:lnTo>
                  <a:pt x="9631680" y="0"/>
                </a:lnTo>
                <a:close/>
              </a:path>
            </a:pathLst>
          </a:custGeom>
          <a:solidFill>
            <a:srgbClr val="82B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49069" y="1269237"/>
            <a:ext cx="7757159" cy="13862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ctr">
              <a:lnSpc>
                <a:spcPts val="3290"/>
              </a:lnSpc>
              <a:spcBef>
                <a:spcPts val="260"/>
              </a:spcBef>
            </a:pPr>
            <a:r>
              <a:rPr sz="2800" spc="39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Un</a:t>
            </a:r>
            <a:r>
              <a:rPr sz="2800" spc="58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spc="28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espacio</a:t>
            </a:r>
            <a:r>
              <a:rPr sz="2800" spc="57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spc="26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creado</a:t>
            </a:r>
            <a:r>
              <a:rPr sz="2800" spc="59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spc="19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por</a:t>
            </a:r>
            <a:r>
              <a:rPr sz="2800" spc="58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spc="32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estudiantes,</a:t>
            </a:r>
            <a:r>
              <a:rPr sz="2800" spc="57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spc="270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para </a:t>
            </a:r>
            <a:r>
              <a:rPr sz="2800" spc="305" dirty="0">
                <a:solidFill>
                  <a:srgbClr val="01495E"/>
                </a:solidFill>
                <a:latin typeface="Bookman Old Style" panose="02050604050505020204" pitchFamily="18" charset="0"/>
                <a:cs typeface="Cambria"/>
              </a:rPr>
              <a:t>estudiantes</a:t>
            </a:r>
            <a:endParaRPr sz="2800" dirty="0">
              <a:latin typeface="Bookman Old Style" panose="02050604050505020204" pitchFamily="18" charset="0"/>
              <a:cs typeface="Cambria"/>
            </a:endParaRPr>
          </a:p>
          <a:p>
            <a:pPr marL="33655" algn="ctr">
              <a:lnSpc>
                <a:spcPct val="100000"/>
              </a:lnSpc>
              <a:spcBef>
                <a:spcPts val="1570"/>
              </a:spcBef>
            </a:pPr>
            <a:r>
              <a:rPr sz="2000" i="1" spc="9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Repositorio</a:t>
            </a:r>
            <a:r>
              <a:rPr sz="2000" i="1" spc="17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2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disponible</a:t>
            </a:r>
            <a:r>
              <a:rPr sz="2000" i="1" spc="17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spc="15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en</a:t>
            </a:r>
            <a:r>
              <a:rPr sz="2000" i="1" spc="1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000" i="1" u="sng" spc="135" dirty="0">
                <a:solidFill>
                  <a:srgbClr val="C57039"/>
                </a:solidFill>
                <a:uFill>
                  <a:solidFill>
                    <a:srgbClr val="C57039"/>
                  </a:solidFill>
                </a:uFill>
                <a:latin typeface="Bookman Old Style" panose="02050604050505020204" pitchFamily="18" charset="0"/>
                <a:cs typeface="Cambria"/>
                <a:hlinkClick r:id="rId2"/>
              </a:rPr>
              <a:t>GitHub</a:t>
            </a:r>
            <a:endParaRPr sz="2000" dirty="0">
              <a:latin typeface="Bookman Old Style" panose="02050604050505020204" pitchFamily="18" charset="0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2700" y="2398133"/>
            <a:ext cx="309205" cy="2739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2020" y="2712730"/>
            <a:ext cx="3492528" cy="38858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46301" y="6741971"/>
            <a:ext cx="7074044" cy="4661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33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MUCHAS</a:t>
            </a:r>
            <a:r>
              <a:rPr sz="2800" i="1" spc="18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800" i="1" spc="320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GRACIAS</a:t>
            </a:r>
            <a:r>
              <a:rPr sz="2800" i="1" spc="18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 </a:t>
            </a:r>
            <a:r>
              <a:rPr sz="2950" dirty="0">
                <a:solidFill>
                  <a:srgbClr val="00385A"/>
                </a:solidFill>
                <a:latin typeface="Bookman Old Style" panose="02050604050505020204" pitchFamily="18" charset="0"/>
                <a:cs typeface="Segoe UI Symbol"/>
              </a:rPr>
              <a:t>✦</a:t>
            </a:r>
            <a:r>
              <a:rPr sz="2950" spc="-10" dirty="0">
                <a:solidFill>
                  <a:srgbClr val="00385A"/>
                </a:solidFill>
                <a:latin typeface="Bookman Old Style" panose="02050604050505020204" pitchFamily="18" charset="0"/>
                <a:cs typeface="Segoe UI Symbol"/>
              </a:rPr>
              <a:t> </a:t>
            </a:r>
            <a:r>
              <a:rPr sz="2800" i="1" spc="245" dirty="0">
                <a:solidFill>
                  <a:srgbClr val="00385A"/>
                </a:solidFill>
                <a:latin typeface="Bookman Old Style" panose="02050604050505020204" pitchFamily="18" charset="0"/>
                <a:cs typeface="Cambria"/>
              </a:rPr>
              <a:t>PREGUNTAS</a:t>
            </a:r>
            <a:endParaRPr sz="2800" dirty="0">
              <a:latin typeface="Bookman Old Style" panose="02050604050505020204" pitchFamily="18" charset="0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8699" y="1150469"/>
            <a:ext cx="635357" cy="6790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0344" y="1609074"/>
            <a:ext cx="871662" cy="598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ViR@">
      <a:dk1>
        <a:sysClr val="windowText" lastClr="000000"/>
      </a:dk1>
      <a:lt1>
        <a:sysClr val="window" lastClr="FFFFFF"/>
      </a:lt1>
      <a:dk2>
        <a:srgbClr val="0495BC"/>
      </a:dk2>
      <a:lt2>
        <a:srgbClr val="2E6E90"/>
      </a:lt2>
      <a:accent1>
        <a:srgbClr val="014C79"/>
      </a:accent1>
      <a:accent2>
        <a:srgbClr val="2AA4AC"/>
      </a:accent2>
      <a:accent3>
        <a:srgbClr val="82B32D"/>
      </a:accent3>
      <a:accent4>
        <a:srgbClr val="5DAF80"/>
      </a:accent4>
      <a:accent5>
        <a:srgbClr val="DD8102"/>
      </a:accent5>
      <a:accent6>
        <a:srgbClr val="DC6411"/>
      </a:accent6>
      <a:hlink>
        <a:srgbClr val="C67139"/>
      </a:hlink>
      <a:folHlink>
        <a:srgbClr val="835E4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</TotalTime>
  <Words>1063</Words>
  <Application>Microsoft Office PowerPoint</Application>
  <PresentationFormat>Personalizado</PresentationFormat>
  <Paragraphs>257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6" baseType="lpstr">
      <vt:lpstr>Bookman Old Style</vt:lpstr>
      <vt:lpstr>Calibri</vt:lpstr>
      <vt:lpstr>Cambria</vt:lpstr>
      <vt:lpstr>Consolas</vt:lpstr>
      <vt:lpstr>Courier New</vt:lpstr>
      <vt:lpstr>Rockwell</vt:lpstr>
      <vt:lpstr>Segoe UI Emoji</vt:lpstr>
      <vt:lpstr>Symbol</vt:lpstr>
      <vt:lpstr>Times New Roman</vt:lpstr>
      <vt:lpstr>Wingdings</vt:lpstr>
      <vt:lpstr>Office Theme</vt:lpstr>
      <vt:lpstr>Presentación de PowerPoint</vt:lpstr>
      <vt:lpstr>¿Por qué BiViR@?</vt:lpstr>
      <vt:lpstr>BiViR@ · La propuesta</vt:lpstr>
      <vt:lpstr>Arquitectura del Sistema</vt:lpstr>
      <vt:lpstr>Tecnologías Utilizadas</vt:lpstr>
      <vt:lpstr>Planificación · 6 Fases</vt:lpstr>
      <vt:lpstr>block_bivira_modulos · Desarrollo propio en PHP</vt:lpstr>
      <vt:lpstr>Sistema de Roles Propio</vt:lpstr>
      <vt:lpstr>Seguridad y Operaciones</vt:lpstr>
      <vt:lpstr>12 Pruebas 12 Resultados Correctos</vt:lpstr>
      <vt:lpstr>Dificultades y Soluciones</vt:lpstr>
      <vt:lpstr>Viabilidad Coste prácticamente nulo</vt:lpstr>
      <vt:lpstr>BiViR@ vs Alternativas</vt:lpstr>
      <vt:lpstr>Líneas de Mejora Futuras</vt:lpstr>
      <vt:lpstr>BiViR@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Azucena</dc:creator>
  <cp:lastModifiedBy>Azucena Beltrán Arrebola</cp:lastModifiedBy>
  <cp:revision>4</cp:revision>
  <dcterms:created xsi:type="dcterms:W3CDTF">2026-05-10T14:23:04Z</dcterms:created>
  <dcterms:modified xsi:type="dcterms:W3CDTF">2026-05-14T08:52:49Z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2026-05-10T00:00:00Z</vt:filetime>
  </property>
  <property fmtid="{D5CDD505-2E9C-101B-9397-08002B2CF9AE}" pid="4" name="Creator">
    <vt:lpwstr>Microsoft® Word para Microsoft 365</vt:lpwstr>
  </property>
  <property fmtid="{D5CDD505-2E9C-101B-9397-08002B2CF9AE}" pid="5" name="LastSaved">
    <vt:filetime>2026-05-10T00:00:00Z</vt:filetime>
  </property>
  <property fmtid="{D5CDD505-2E9C-101B-9397-08002B2CF9AE}" pid="6" name="Producer">
    <vt:lpwstr>Microsoft® Word para Microsoft 365</vt:lpwstr>
  </property>
</Properties>
</file>